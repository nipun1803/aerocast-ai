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Poppins" pitchFamily="2" charset="77"/>
      <p:regular r:id="rId15"/>
      <p:bold r:id="rId16"/>
      <p:italic r:id="rId17"/>
      <p:boldItalic r:id="rId18"/>
    </p:embeddedFont>
    <p:embeddedFont>
      <p:font typeface="Poppins Italics" pitchFamily="2" charset="77"/>
      <p:regular r:id="rId19"/>
      <p:italic r:id="rId20"/>
    </p:embeddedFont>
    <p:embeddedFont>
      <p:font typeface="Telegraf" pitchFamily="2" charset="77"/>
      <p:regular r:id="rId21"/>
    </p:embeddedFont>
    <p:embeddedFont>
      <p:font typeface="Telegraf Bold" pitchFamily="2" charset="77"/>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30" autoAdjust="0"/>
  </p:normalViewPr>
  <p:slideViewPr>
    <p:cSldViewPr>
      <p:cViewPr varScale="1">
        <p:scale>
          <a:sx n="75" d="100"/>
          <a:sy n="75" d="100"/>
        </p:scale>
        <p:origin x="71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5</a:t>
            </a:fld>
            <a:endParaRPr lang="cs-CZ"/>
          </a:p>
        </p:txBody>
      </p:sp>
    </p:spTree>
    <p:extLst>
      <p:ext uri="{BB962C8B-B14F-4D97-AF65-F5344CB8AC3E}">
        <p14:creationId xmlns:p14="http://schemas.microsoft.com/office/powerpoint/2010/main" val="2977054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sv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19.svg"/><Relationship Id="rId4" Type="http://schemas.openxmlformats.org/officeDocument/2006/relationships/image" Target="../media/image18.sv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hyperlink" Target="https://github.com/nipun1803/AeroCast-AI"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ww.kaggle.com/datasets/mahoora00135/flights" TargetMode="External"/><Relationship Id="rId5" Type="http://schemas.openxmlformats.org/officeDocument/2006/relationships/hyperlink" Target="https://proceedings.mlr.press/v70/guo17a.html" TargetMode="External"/><Relationship Id="rId4" Type="http://schemas.openxmlformats.org/officeDocument/2006/relationships/hyperlink" Target="https://doi.org/10.1145/2382577.238257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32353"/>
            <a:ext cx="16230600" cy="4779901"/>
            <a:chOff x="0" y="0"/>
            <a:chExt cx="4274726" cy="1258904"/>
          </a:xfrm>
        </p:grpSpPr>
        <p:sp>
          <p:nvSpPr>
            <p:cNvPr id="3" name="Freeform 3"/>
            <p:cNvSpPr/>
            <p:nvPr/>
          </p:nvSpPr>
          <p:spPr>
            <a:xfrm>
              <a:off x="0" y="0"/>
              <a:ext cx="4274726" cy="1258904"/>
            </a:xfrm>
            <a:custGeom>
              <a:avLst/>
              <a:gdLst/>
              <a:ahLst/>
              <a:cxnLst/>
              <a:rect l="l" t="t" r="r" b="b"/>
              <a:pathLst>
                <a:path w="4274726" h="1258904">
                  <a:moveTo>
                    <a:pt x="16695" y="0"/>
                  </a:moveTo>
                  <a:lnTo>
                    <a:pt x="4258031" y="0"/>
                  </a:lnTo>
                  <a:cubicBezTo>
                    <a:pt x="4267252" y="0"/>
                    <a:pt x="4274726" y="7475"/>
                    <a:pt x="4274726" y="16695"/>
                  </a:cubicBezTo>
                  <a:lnTo>
                    <a:pt x="4274726" y="1242209"/>
                  </a:lnTo>
                  <a:cubicBezTo>
                    <a:pt x="4274726" y="1246637"/>
                    <a:pt x="4272967" y="1250883"/>
                    <a:pt x="4269836" y="1254014"/>
                  </a:cubicBezTo>
                  <a:cubicBezTo>
                    <a:pt x="4266705" y="1257145"/>
                    <a:pt x="4262459" y="1258904"/>
                    <a:pt x="4258031" y="1258904"/>
                  </a:cubicBezTo>
                  <a:lnTo>
                    <a:pt x="16695" y="1258904"/>
                  </a:lnTo>
                  <a:cubicBezTo>
                    <a:pt x="7475" y="1258904"/>
                    <a:pt x="0" y="1251429"/>
                    <a:pt x="0" y="1242209"/>
                  </a:cubicBezTo>
                  <a:lnTo>
                    <a:pt x="0" y="16695"/>
                  </a:lnTo>
                  <a:cubicBezTo>
                    <a:pt x="0" y="12267"/>
                    <a:pt x="1759" y="8021"/>
                    <a:pt x="4890" y="4890"/>
                  </a:cubicBezTo>
                  <a:cubicBezTo>
                    <a:pt x="8021" y="1759"/>
                    <a:pt x="12267" y="0"/>
                    <a:pt x="16695" y="0"/>
                  </a:cubicBezTo>
                  <a:close/>
                </a:path>
              </a:pathLst>
            </a:custGeom>
            <a:solidFill>
              <a:srgbClr val="355688"/>
            </a:solidFill>
          </p:spPr>
          <p:txBody>
            <a:bodyPr/>
            <a:lstStyle/>
            <a:p>
              <a:endParaRPr lang="en-US"/>
            </a:p>
          </p:txBody>
        </p:sp>
        <p:sp>
          <p:nvSpPr>
            <p:cNvPr id="4" name="TextBox 4"/>
            <p:cNvSpPr txBox="1"/>
            <p:nvPr/>
          </p:nvSpPr>
          <p:spPr>
            <a:xfrm>
              <a:off x="0" y="66675"/>
              <a:ext cx="4274726" cy="1192229"/>
            </a:xfrm>
            <a:prstGeom prst="rect">
              <a:avLst/>
            </a:prstGeom>
          </p:spPr>
          <p:txBody>
            <a:bodyPr lIns="50800" tIns="50800" rIns="50800" bIns="50800" rtlCol="0" anchor="ctr"/>
            <a:lstStyle/>
            <a:p>
              <a:pPr algn="ctr">
                <a:lnSpc>
                  <a:spcPts val="2249"/>
                </a:lnSpc>
              </a:pPr>
              <a:endParaRPr/>
            </a:p>
          </p:txBody>
        </p:sp>
      </p:grpSp>
      <p:grpSp>
        <p:nvGrpSpPr>
          <p:cNvPr id="5" name="Group 5"/>
          <p:cNvGrpSpPr/>
          <p:nvPr/>
        </p:nvGrpSpPr>
        <p:grpSpPr>
          <a:xfrm>
            <a:off x="1028700" y="6096492"/>
            <a:ext cx="9714995" cy="3161808"/>
            <a:chOff x="0" y="0"/>
            <a:chExt cx="2558682" cy="832740"/>
          </a:xfrm>
        </p:grpSpPr>
        <p:sp>
          <p:nvSpPr>
            <p:cNvPr id="6" name="Freeform 6"/>
            <p:cNvSpPr/>
            <p:nvPr/>
          </p:nvSpPr>
          <p:spPr>
            <a:xfrm>
              <a:off x="0" y="0"/>
              <a:ext cx="2558682" cy="832739"/>
            </a:xfrm>
            <a:custGeom>
              <a:avLst/>
              <a:gdLst/>
              <a:ahLst/>
              <a:cxnLst/>
              <a:rect l="l" t="t" r="r" b="b"/>
              <a:pathLst>
                <a:path w="2558682" h="832739">
                  <a:moveTo>
                    <a:pt x="27892" y="0"/>
                  </a:moveTo>
                  <a:lnTo>
                    <a:pt x="2530790" y="0"/>
                  </a:lnTo>
                  <a:cubicBezTo>
                    <a:pt x="2546195" y="0"/>
                    <a:pt x="2558682" y="12488"/>
                    <a:pt x="2558682" y="27892"/>
                  </a:cubicBezTo>
                  <a:lnTo>
                    <a:pt x="2558682" y="804848"/>
                  </a:lnTo>
                  <a:cubicBezTo>
                    <a:pt x="2558682" y="820252"/>
                    <a:pt x="2546195" y="832739"/>
                    <a:pt x="2530790" y="832739"/>
                  </a:cubicBezTo>
                  <a:lnTo>
                    <a:pt x="27892" y="832739"/>
                  </a:lnTo>
                  <a:cubicBezTo>
                    <a:pt x="12488" y="832739"/>
                    <a:pt x="0" y="820252"/>
                    <a:pt x="0" y="804848"/>
                  </a:cubicBezTo>
                  <a:lnTo>
                    <a:pt x="0" y="27892"/>
                  </a:lnTo>
                  <a:cubicBezTo>
                    <a:pt x="0" y="12488"/>
                    <a:pt x="12488" y="0"/>
                    <a:pt x="27892" y="0"/>
                  </a:cubicBezTo>
                  <a:close/>
                </a:path>
              </a:pathLst>
            </a:custGeom>
            <a:solidFill>
              <a:srgbClr val="F3F4F7"/>
            </a:solidFill>
          </p:spPr>
          <p:txBody>
            <a:bodyPr/>
            <a:lstStyle/>
            <a:p>
              <a:endParaRPr lang="en-US"/>
            </a:p>
          </p:txBody>
        </p:sp>
        <p:sp>
          <p:nvSpPr>
            <p:cNvPr id="7" name="TextBox 7"/>
            <p:cNvSpPr txBox="1"/>
            <p:nvPr/>
          </p:nvSpPr>
          <p:spPr>
            <a:xfrm>
              <a:off x="0" y="66675"/>
              <a:ext cx="2558682" cy="766065"/>
            </a:xfrm>
            <a:prstGeom prst="rect">
              <a:avLst/>
            </a:prstGeom>
          </p:spPr>
          <p:txBody>
            <a:bodyPr lIns="50800" tIns="50800" rIns="50800" bIns="50800" rtlCol="0" anchor="ctr"/>
            <a:lstStyle/>
            <a:p>
              <a:pPr algn="ctr">
                <a:lnSpc>
                  <a:spcPts val="2249"/>
                </a:lnSpc>
              </a:pPr>
              <a:endParaRPr/>
            </a:p>
          </p:txBody>
        </p:sp>
      </p:grpSp>
      <p:grpSp>
        <p:nvGrpSpPr>
          <p:cNvPr id="8" name="Group 8"/>
          <p:cNvGrpSpPr/>
          <p:nvPr/>
        </p:nvGrpSpPr>
        <p:grpSpPr>
          <a:xfrm>
            <a:off x="11331022" y="1368963"/>
            <a:ext cx="5605164" cy="5457053"/>
            <a:chOff x="31626" y="-13687"/>
            <a:chExt cx="868387" cy="845440"/>
          </a:xfrm>
        </p:grpSpPr>
        <p:sp>
          <p:nvSpPr>
            <p:cNvPr id="9" name="Freeform 9"/>
            <p:cNvSpPr/>
            <p:nvPr/>
          </p:nvSpPr>
          <p:spPr>
            <a:xfrm>
              <a:off x="31626" y="-13687"/>
              <a:ext cx="868387" cy="845440"/>
            </a:xfrm>
            <a:custGeom>
              <a:avLst/>
              <a:gdLst/>
              <a:ahLst/>
              <a:cxnLst/>
              <a:rect l="l" t="t" r="r" b="b"/>
              <a:pathLst>
                <a:path w="868387" h="845440">
                  <a:moveTo>
                    <a:pt x="31768" y="0"/>
                  </a:moveTo>
                  <a:lnTo>
                    <a:pt x="836619" y="0"/>
                  </a:lnTo>
                  <a:cubicBezTo>
                    <a:pt x="854164" y="0"/>
                    <a:pt x="868387" y="14223"/>
                    <a:pt x="868387" y="31768"/>
                  </a:cubicBezTo>
                  <a:lnTo>
                    <a:pt x="868387" y="813673"/>
                  </a:lnTo>
                  <a:cubicBezTo>
                    <a:pt x="868387" y="822098"/>
                    <a:pt x="865040" y="830178"/>
                    <a:pt x="859082" y="836136"/>
                  </a:cubicBezTo>
                  <a:cubicBezTo>
                    <a:pt x="853124" y="842093"/>
                    <a:pt x="845044" y="845440"/>
                    <a:pt x="836619" y="845440"/>
                  </a:cubicBezTo>
                  <a:lnTo>
                    <a:pt x="31768" y="845440"/>
                  </a:lnTo>
                  <a:cubicBezTo>
                    <a:pt x="14223" y="845440"/>
                    <a:pt x="0" y="831217"/>
                    <a:pt x="0" y="813673"/>
                  </a:cubicBezTo>
                  <a:lnTo>
                    <a:pt x="0" y="31768"/>
                  </a:lnTo>
                  <a:cubicBezTo>
                    <a:pt x="0" y="14223"/>
                    <a:pt x="14223" y="0"/>
                    <a:pt x="31768" y="0"/>
                  </a:cubicBezTo>
                  <a:close/>
                </a:path>
              </a:pathLst>
            </a:custGeom>
            <a:blipFill>
              <a:blip r:embed="rId2"/>
              <a:stretch>
                <a:fillRect t="-44737" b="-9720"/>
              </a:stretch>
            </a:blipFill>
          </p:spPr>
          <p:txBody>
            <a:bodyPr/>
            <a:lstStyle/>
            <a:p>
              <a:endParaRPr lang="en-US" dirty="0"/>
            </a:p>
          </p:txBody>
        </p:sp>
      </p:grpSp>
      <p:sp>
        <p:nvSpPr>
          <p:cNvPr id="10" name="TextBox 10"/>
          <p:cNvSpPr txBox="1"/>
          <p:nvPr/>
        </p:nvSpPr>
        <p:spPr>
          <a:xfrm>
            <a:off x="1514480" y="1682078"/>
            <a:ext cx="9450734" cy="1483996"/>
          </a:xfrm>
          <a:prstGeom prst="rect">
            <a:avLst/>
          </a:prstGeom>
        </p:spPr>
        <p:txBody>
          <a:bodyPr wrap="square" lIns="0" tIns="0" rIns="0" bIns="0" rtlCol="0" anchor="t">
            <a:spAutoFit/>
          </a:bodyPr>
          <a:lstStyle/>
          <a:p>
            <a:pPr algn="l">
              <a:lnSpc>
                <a:spcPts val="11070"/>
              </a:lnSpc>
            </a:pPr>
            <a:r>
              <a:rPr lang="en-US" sz="12300" b="1" spc="-615" dirty="0" err="1">
                <a:solidFill>
                  <a:srgbClr val="FFFFFF"/>
                </a:solidFill>
                <a:latin typeface="Telegraf Bold"/>
                <a:ea typeface="Telegraf Bold"/>
                <a:cs typeface="Telegraf Bold"/>
                <a:sym typeface="Telegraf Bold"/>
              </a:rPr>
              <a:t>AeroCast</a:t>
            </a:r>
            <a:r>
              <a:rPr lang="en-US" sz="12300" b="1" spc="-615" dirty="0">
                <a:solidFill>
                  <a:srgbClr val="FFFFFF"/>
                </a:solidFill>
                <a:latin typeface="Telegraf Bold"/>
                <a:ea typeface="Telegraf Bold"/>
                <a:cs typeface="Telegraf Bold"/>
                <a:sym typeface="Telegraf Bold"/>
              </a:rPr>
              <a:t>-AI</a:t>
            </a:r>
          </a:p>
        </p:txBody>
      </p:sp>
      <p:sp>
        <p:nvSpPr>
          <p:cNvPr id="11" name="TextBox 11"/>
          <p:cNvSpPr txBox="1"/>
          <p:nvPr/>
        </p:nvSpPr>
        <p:spPr>
          <a:xfrm>
            <a:off x="1514480" y="3643048"/>
            <a:ext cx="8874646" cy="382905"/>
          </a:xfrm>
          <a:prstGeom prst="rect">
            <a:avLst/>
          </a:prstGeom>
        </p:spPr>
        <p:txBody>
          <a:bodyPr lIns="0" tIns="0" rIns="0" bIns="0" rtlCol="0" anchor="t">
            <a:spAutoFit/>
          </a:bodyPr>
          <a:lstStyle/>
          <a:p>
            <a:pPr algn="l">
              <a:lnSpc>
                <a:spcPts val="2519"/>
              </a:lnSpc>
            </a:pPr>
            <a:r>
              <a:rPr lang="en-US" sz="2799" b="1">
                <a:solidFill>
                  <a:srgbClr val="FFFFFF"/>
                </a:solidFill>
                <a:latin typeface="Telegraf Bold"/>
                <a:ea typeface="Telegraf Bold"/>
                <a:cs typeface="Telegraf Bold"/>
                <a:sym typeface="Telegraf Bold"/>
              </a:rPr>
              <a:t>Day-Ahead Flight Delay Prediction</a:t>
            </a:r>
          </a:p>
        </p:txBody>
      </p:sp>
      <p:sp>
        <p:nvSpPr>
          <p:cNvPr id="12" name="TextBox 12"/>
          <p:cNvSpPr txBox="1"/>
          <p:nvPr/>
        </p:nvSpPr>
        <p:spPr>
          <a:xfrm>
            <a:off x="1514480" y="4754368"/>
            <a:ext cx="9049135" cy="369570"/>
          </a:xfrm>
          <a:prstGeom prst="rect">
            <a:avLst/>
          </a:prstGeom>
        </p:spPr>
        <p:txBody>
          <a:bodyPr lIns="0" tIns="0" rIns="0" bIns="0" rtlCol="0" anchor="t">
            <a:spAutoFit/>
          </a:bodyPr>
          <a:lstStyle/>
          <a:p>
            <a:pPr algn="l">
              <a:lnSpc>
                <a:spcPts val="2429"/>
              </a:lnSpc>
            </a:pPr>
            <a:r>
              <a:rPr lang="en-US" sz="2699">
                <a:solidFill>
                  <a:srgbClr val="FFFFFF"/>
                </a:solidFill>
                <a:latin typeface="Telegraf"/>
                <a:ea typeface="Telegraf"/>
                <a:cs typeface="Telegraf"/>
                <a:sym typeface="Telegraf"/>
              </a:rPr>
              <a:t>Predicting delay risk before the next day's flights take off.</a:t>
            </a:r>
          </a:p>
        </p:txBody>
      </p:sp>
      <p:sp>
        <p:nvSpPr>
          <p:cNvPr id="13" name="TextBox 13"/>
          <p:cNvSpPr txBox="1"/>
          <p:nvPr/>
        </p:nvSpPr>
        <p:spPr>
          <a:xfrm>
            <a:off x="1514480" y="6747121"/>
            <a:ext cx="8743436" cy="1774825"/>
          </a:xfrm>
          <a:prstGeom prst="rect">
            <a:avLst/>
          </a:prstGeom>
        </p:spPr>
        <p:txBody>
          <a:bodyPr lIns="0" tIns="0" rIns="0" bIns="0" rtlCol="0" anchor="t">
            <a:spAutoFit/>
          </a:bodyPr>
          <a:lstStyle/>
          <a:p>
            <a:pPr algn="ctr">
              <a:lnSpc>
                <a:spcPts val="3499"/>
              </a:lnSpc>
              <a:spcBef>
                <a:spcPct val="0"/>
              </a:spcBef>
            </a:pPr>
            <a:r>
              <a:rPr lang="en-US" sz="2499">
                <a:solidFill>
                  <a:srgbClr val="071125"/>
                </a:solidFill>
                <a:latin typeface="Telegraf"/>
                <a:ea typeface="Telegraf"/>
                <a:cs typeface="Telegraf"/>
                <a:sym typeface="Telegraf"/>
              </a:rPr>
              <a:t>Our project focuses on predicting which flights are likely to arrive late, using information available the evening before departure. In Phase 1, we built and compared machine learning models for this task.</a:t>
            </a:r>
          </a:p>
        </p:txBody>
      </p:sp>
      <p:sp>
        <p:nvSpPr>
          <p:cNvPr id="14" name="TextBox 14"/>
          <p:cNvSpPr txBox="1"/>
          <p:nvPr/>
        </p:nvSpPr>
        <p:spPr>
          <a:xfrm>
            <a:off x="11507571" y="7198329"/>
            <a:ext cx="4503164" cy="451484"/>
          </a:xfrm>
          <a:prstGeom prst="rect">
            <a:avLst/>
          </a:prstGeom>
        </p:spPr>
        <p:txBody>
          <a:bodyPr lIns="0" tIns="0" rIns="0" bIns="0" rtlCol="0" anchor="t">
            <a:spAutoFit/>
          </a:bodyPr>
          <a:lstStyle/>
          <a:p>
            <a:pPr algn="ctr">
              <a:lnSpc>
                <a:spcPts val="3465"/>
              </a:lnSpc>
            </a:pPr>
            <a:r>
              <a:rPr lang="en-US" sz="2475" spc="618">
                <a:solidFill>
                  <a:srgbClr val="000000"/>
                </a:solidFill>
                <a:latin typeface="Poppins"/>
                <a:ea typeface="Poppins"/>
                <a:cs typeface="Poppins"/>
                <a:sym typeface="Poppins"/>
              </a:rPr>
              <a:t>TEAM MEMBERS</a:t>
            </a:r>
          </a:p>
        </p:txBody>
      </p:sp>
      <p:sp>
        <p:nvSpPr>
          <p:cNvPr id="15" name="TextBox 15"/>
          <p:cNvSpPr txBox="1"/>
          <p:nvPr/>
        </p:nvSpPr>
        <p:spPr>
          <a:xfrm>
            <a:off x="10965214" y="7952830"/>
            <a:ext cx="3656591" cy="1814751"/>
          </a:xfrm>
          <a:prstGeom prst="rect">
            <a:avLst/>
          </a:prstGeom>
        </p:spPr>
        <p:txBody>
          <a:bodyPr lIns="0" tIns="0" rIns="0" bIns="0" rtlCol="0" anchor="t">
            <a:spAutoFit/>
          </a:bodyPr>
          <a:lstStyle/>
          <a:p>
            <a:pPr algn="ctr">
              <a:lnSpc>
                <a:spcPts val="2891"/>
              </a:lnSpc>
            </a:pPr>
            <a:r>
              <a:rPr lang="en-US" sz="2065">
                <a:solidFill>
                  <a:srgbClr val="000000"/>
                </a:solidFill>
                <a:latin typeface="Poppins"/>
                <a:ea typeface="Poppins"/>
                <a:cs typeface="Poppins"/>
                <a:sym typeface="Poppins"/>
              </a:rPr>
              <a:t>Nipun Patlori</a:t>
            </a:r>
          </a:p>
          <a:p>
            <a:pPr algn="ctr">
              <a:lnSpc>
                <a:spcPts val="2891"/>
              </a:lnSpc>
            </a:pPr>
            <a:r>
              <a:rPr lang="en-US" sz="2065">
                <a:solidFill>
                  <a:srgbClr val="000000"/>
                </a:solidFill>
                <a:latin typeface="Poppins"/>
                <a:ea typeface="Poppins"/>
                <a:cs typeface="Poppins"/>
                <a:sym typeface="Poppins"/>
              </a:rPr>
              <a:t>Mohan Kumar C R</a:t>
            </a:r>
          </a:p>
          <a:p>
            <a:pPr algn="ctr">
              <a:lnSpc>
                <a:spcPts val="2891"/>
              </a:lnSpc>
            </a:pPr>
            <a:r>
              <a:rPr lang="en-US" sz="2065">
                <a:solidFill>
                  <a:srgbClr val="000000"/>
                </a:solidFill>
                <a:latin typeface="Poppins"/>
                <a:ea typeface="Poppins"/>
                <a:cs typeface="Poppins"/>
                <a:sym typeface="Poppins"/>
              </a:rPr>
              <a:t>Anushka Tyagi</a:t>
            </a:r>
          </a:p>
          <a:p>
            <a:pPr algn="ctr">
              <a:lnSpc>
                <a:spcPts val="2891"/>
              </a:lnSpc>
            </a:pPr>
            <a:r>
              <a:rPr lang="en-US" sz="2065">
                <a:solidFill>
                  <a:srgbClr val="000000"/>
                </a:solidFill>
                <a:latin typeface="Poppins"/>
                <a:ea typeface="Poppins"/>
                <a:cs typeface="Poppins"/>
                <a:sym typeface="Poppins"/>
              </a:rPr>
              <a:t>Omkar Hadole</a:t>
            </a:r>
          </a:p>
          <a:p>
            <a:pPr algn="ctr">
              <a:lnSpc>
                <a:spcPts val="2891"/>
              </a:lnSpc>
              <a:spcBef>
                <a:spcPct val="0"/>
              </a:spcBef>
            </a:pPr>
            <a:r>
              <a:rPr lang="en-US" sz="2065">
                <a:solidFill>
                  <a:srgbClr val="000000"/>
                </a:solidFill>
                <a:latin typeface="Poppins"/>
                <a:ea typeface="Poppins"/>
                <a:cs typeface="Poppins"/>
                <a:sym typeface="Poppins"/>
              </a:rPr>
              <a:t>Krish Dabas</a:t>
            </a:r>
          </a:p>
        </p:txBody>
      </p:sp>
      <p:sp>
        <p:nvSpPr>
          <p:cNvPr id="16" name="TextBox 16"/>
          <p:cNvSpPr txBox="1"/>
          <p:nvPr/>
        </p:nvSpPr>
        <p:spPr>
          <a:xfrm>
            <a:off x="13929468" y="7952830"/>
            <a:ext cx="3039094" cy="1814751"/>
          </a:xfrm>
          <a:prstGeom prst="rect">
            <a:avLst/>
          </a:prstGeom>
        </p:spPr>
        <p:txBody>
          <a:bodyPr lIns="0" tIns="0" rIns="0" bIns="0" rtlCol="0" anchor="t">
            <a:spAutoFit/>
          </a:bodyPr>
          <a:lstStyle/>
          <a:p>
            <a:pPr algn="ctr">
              <a:lnSpc>
                <a:spcPts val="2891"/>
              </a:lnSpc>
            </a:pPr>
            <a:r>
              <a:rPr lang="en-US" sz="2065">
                <a:solidFill>
                  <a:srgbClr val="000000"/>
                </a:solidFill>
                <a:latin typeface="Poppins"/>
                <a:ea typeface="Poppins"/>
                <a:cs typeface="Poppins"/>
                <a:sym typeface="Poppins"/>
              </a:rPr>
              <a:t>2401010323</a:t>
            </a:r>
          </a:p>
          <a:p>
            <a:pPr algn="ctr">
              <a:lnSpc>
                <a:spcPts val="2891"/>
              </a:lnSpc>
            </a:pPr>
            <a:r>
              <a:rPr lang="en-US" sz="2065">
                <a:solidFill>
                  <a:srgbClr val="000000"/>
                </a:solidFill>
                <a:latin typeface="Poppins"/>
                <a:ea typeface="Poppins"/>
                <a:cs typeface="Poppins"/>
                <a:sym typeface="Poppins"/>
              </a:rPr>
              <a:t>2401010282</a:t>
            </a:r>
          </a:p>
          <a:p>
            <a:pPr algn="ctr">
              <a:lnSpc>
                <a:spcPts val="2891"/>
              </a:lnSpc>
            </a:pPr>
            <a:r>
              <a:rPr lang="en-US" sz="2065">
                <a:solidFill>
                  <a:srgbClr val="000000"/>
                </a:solidFill>
                <a:latin typeface="Poppins"/>
                <a:ea typeface="Poppins"/>
                <a:cs typeface="Poppins"/>
                <a:sym typeface="Poppins"/>
              </a:rPr>
              <a:t>2401010090</a:t>
            </a:r>
          </a:p>
          <a:p>
            <a:pPr algn="ctr">
              <a:lnSpc>
                <a:spcPts val="2891"/>
              </a:lnSpc>
            </a:pPr>
            <a:r>
              <a:rPr lang="en-US" sz="2065">
                <a:solidFill>
                  <a:srgbClr val="000000"/>
                </a:solidFill>
                <a:latin typeface="Poppins"/>
                <a:ea typeface="Poppins"/>
                <a:cs typeface="Poppins"/>
                <a:sym typeface="Poppins"/>
              </a:rPr>
              <a:t>2401010175</a:t>
            </a:r>
          </a:p>
          <a:p>
            <a:pPr algn="ctr">
              <a:lnSpc>
                <a:spcPts val="2891"/>
              </a:lnSpc>
              <a:spcBef>
                <a:spcPct val="0"/>
              </a:spcBef>
            </a:pPr>
            <a:r>
              <a:rPr lang="en-US" sz="2065">
                <a:solidFill>
                  <a:srgbClr val="000000"/>
                </a:solidFill>
                <a:latin typeface="Poppins"/>
                <a:ea typeface="Poppins"/>
                <a:cs typeface="Poppins"/>
                <a:sym typeface="Poppins"/>
              </a:rPr>
              <a:t>2401010233</a:t>
            </a:r>
          </a:p>
        </p:txBody>
      </p:sp>
      <p:sp>
        <p:nvSpPr>
          <p:cNvPr id="17" name="TextBox 17"/>
          <p:cNvSpPr txBox="1"/>
          <p:nvPr/>
        </p:nvSpPr>
        <p:spPr>
          <a:xfrm>
            <a:off x="15736687" y="7207853"/>
            <a:ext cx="1231875" cy="372666"/>
          </a:xfrm>
          <a:prstGeom prst="rect">
            <a:avLst/>
          </a:prstGeom>
        </p:spPr>
        <p:txBody>
          <a:bodyPr wrap="square" lIns="0" tIns="0" rIns="0" bIns="0" rtlCol="0" anchor="t">
            <a:spAutoFit/>
          </a:bodyPr>
          <a:lstStyle/>
          <a:p>
            <a:pPr algn="ctr">
              <a:lnSpc>
                <a:spcPts val="3079"/>
              </a:lnSpc>
              <a:spcBef>
                <a:spcPct val="0"/>
              </a:spcBef>
            </a:pPr>
            <a:r>
              <a:rPr lang="en-US" sz="2199" b="1" dirty="0">
                <a:solidFill>
                  <a:srgbClr val="000000"/>
                </a:solidFill>
                <a:latin typeface="Telegraf Bold"/>
                <a:ea typeface="Telegraf Bold"/>
                <a:cs typeface="Telegraf Bold"/>
                <a:sym typeface="Telegraf Bold"/>
              </a:rPr>
              <a:t>T-049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11597" y="3544352"/>
            <a:ext cx="8250454" cy="2774305"/>
            <a:chOff x="0" y="0"/>
            <a:chExt cx="2172959" cy="730681"/>
          </a:xfrm>
        </p:grpSpPr>
        <p:sp>
          <p:nvSpPr>
            <p:cNvPr id="3" name="Freeform 3"/>
            <p:cNvSpPr/>
            <p:nvPr/>
          </p:nvSpPr>
          <p:spPr>
            <a:xfrm>
              <a:off x="0" y="0"/>
              <a:ext cx="2172959" cy="730681"/>
            </a:xfrm>
            <a:custGeom>
              <a:avLst/>
              <a:gdLst/>
              <a:ahLst/>
              <a:cxnLst/>
              <a:rect l="l" t="t" r="r" b="b"/>
              <a:pathLst>
                <a:path w="2172959" h="730681">
                  <a:moveTo>
                    <a:pt x="32843" y="0"/>
                  </a:moveTo>
                  <a:lnTo>
                    <a:pt x="2140116" y="0"/>
                  </a:lnTo>
                  <a:cubicBezTo>
                    <a:pt x="2148827" y="0"/>
                    <a:pt x="2157180" y="3460"/>
                    <a:pt x="2163340" y="9619"/>
                  </a:cubicBezTo>
                  <a:cubicBezTo>
                    <a:pt x="2169499" y="15779"/>
                    <a:pt x="2172959" y="24132"/>
                    <a:pt x="2172959" y="32843"/>
                  </a:cubicBezTo>
                  <a:lnTo>
                    <a:pt x="2172959" y="697838"/>
                  </a:lnTo>
                  <a:cubicBezTo>
                    <a:pt x="2172959" y="706549"/>
                    <a:pt x="2169499" y="714902"/>
                    <a:pt x="2163340" y="721062"/>
                  </a:cubicBezTo>
                  <a:cubicBezTo>
                    <a:pt x="2157180" y="727221"/>
                    <a:pt x="2148827" y="730681"/>
                    <a:pt x="2140116" y="730681"/>
                  </a:cubicBezTo>
                  <a:lnTo>
                    <a:pt x="32843" y="730681"/>
                  </a:lnTo>
                  <a:cubicBezTo>
                    <a:pt x="24132" y="730681"/>
                    <a:pt x="15779" y="727221"/>
                    <a:pt x="9619" y="721062"/>
                  </a:cubicBezTo>
                  <a:cubicBezTo>
                    <a:pt x="3460" y="714902"/>
                    <a:pt x="0" y="706549"/>
                    <a:pt x="0" y="697838"/>
                  </a:cubicBezTo>
                  <a:lnTo>
                    <a:pt x="0" y="32843"/>
                  </a:lnTo>
                  <a:cubicBezTo>
                    <a:pt x="0" y="24132"/>
                    <a:pt x="3460" y="15779"/>
                    <a:pt x="9619" y="9619"/>
                  </a:cubicBezTo>
                  <a:cubicBezTo>
                    <a:pt x="15779" y="3460"/>
                    <a:pt x="24132" y="0"/>
                    <a:pt x="32843" y="0"/>
                  </a:cubicBezTo>
                  <a:close/>
                </a:path>
              </a:pathLst>
            </a:custGeom>
            <a:solidFill>
              <a:srgbClr val="F3F4F7"/>
            </a:solidFill>
          </p:spPr>
          <p:txBody>
            <a:bodyPr/>
            <a:lstStyle/>
            <a:p>
              <a:endParaRPr lang="en-US"/>
            </a:p>
          </p:txBody>
        </p:sp>
        <p:sp>
          <p:nvSpPr>
            <p:cNvPr id="4" name="TextBox 4"/>
            <p:cNvSpPr txBox="1"/>
            <p:nvPr/>
          </p:nvSpPr>
          <p:spPr>
            <a:xfrm>
              <a:off x="0" y="66675"/>
              <a:ext cx="2172959" cy="664006"/>
            </a:xfrm>
            <a:prstGeom prst="rect">
              <a:avLst/>
            </a:prstGeom>
          </p:spPr>
          <p:txBody>
            <a:bodyPr lIns="50800" tIns="50800" rIns="50800" bIns="50800" rtlCol="0" anchor="ctr"/>
            <a:lstStyle/>
            <a:p>
              <a:pPr algn="ctr">
                <a:lnSpc>
                  <a:spcPts val="2249"/>
                </a:lnSpc>
              </a:pPr>
              <a:endParaRPr/>
            </a:p>
          </p:txBody>
        </p:sp>
      </p:grpSp>
      <p:sp>
        <p:nvSpPr>
          <p:cNvPr id="5" name="Freeform 5"/>
          <p:cNvSpPr/>
          <p:nvPr/>
        </p:nvSpPr>
        <p:spPr>
          <a:xfrm>
            <a:off x="1210650" y="3841922"/>
            <a:ext cx="646436" cy="581792"/>
          </a:xfrm>
          <a:custGeom>
            <a:avLst/>
            <a:gdLst/>
            <a:ahLst/>
            <a:cxnLst/>
            <a:rect l="l" t="t" r="r" b="b"/>
            <a:pathLst>
              <a:path w="646436" h="581792">
                <a:moveTo>
                  <a:pt x="0" y="0"/>
                </a:moveTo>
                <a:lnTo>
                  <a:pt x="646435" y="0"/>
                </a:lnTo>
                <a:lnTo>
                  <a:pt x="646435" y="581793"/>
                </a:lnTo>
                <a:lnTo>
                  <a:pt x="0" y="58179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6" name="Group 6"/>
          <p:cNvGrpSpPr/>
          <p:nvPr/>
        </p:nvGrpSpPr>
        <p:grpSpPr>
          <a:xfrm>
            <a:off x="9325950" y="3544352"/>
            <a:ext cx="8250454" cy="2774305"/>
            <a:chOff x="0" y="0"/>
            <a:chExt cx="2172959" cy="730681"/>
          </a:xfrm>
        </p:grpSpPr>
        <p:sp>
          <p:nvSpPr>
            <p:cNvPr id="7" name="Freeform 7"/>
            <p:cNvSpPr/>
            <p:nvPr/>
          </p:nvSpPr>
          <p:spPr>
            <a:xfrm>
              <a:off x="0" y="0"/>
              <a:ext cx="2172959" cy="730681"/>
            </a:xfrm>
            <a:custGeom>
              <a:avLst/>
              <a:gdLst/>
              <a:ahLst/>
              <a:cxnLst/>
              <a:rect l="l" t="t" r="r" b="b"/>
              <a:pathLst>
                <a:path w="2172959" h="730681">
                  <a:moveTo>
                    <a:pt x="32843" y="0"/>
                  </a:moveTo>
                  <a:lnTo>
                    <a:pt x="2140116" y="0"/>
                  </a:lnTo>
                  <a:cubicBezTo>
                    <a:pt x="2148827" y="0"/>
                    <a:pt x="2157180" y="3460"/>
                    <a:pt x="2163340" y="9619"/>
                  </a:cubicBezTo>
                  <a:cubicBezTo>
                    <a:pt x="2169499" y="15779"/>
                    <a:pt x="2172959" y="24132"/>
                    <a:pt x="2172959" y="32843"/>
                  </a:cubicBezTo>
                  <a:lnTo>
                    <a:pt x="2172959" y="697838"/>
                  </a:lnTo>
                  <a:cubicBezTo>
                    <a:pt x="2172959" y="706549"/>
                    <a:pt x="2169499" y="714902"/>
                    <a:pt x="2163340" y="721062"/>
                  </a:cubicBezTo>
                  <a:cubicBezTo>
                    <a:pt x="2157180" y="727221"/>
                    <a:pt x="2148827" y="730681"/>
                    <a:pt x="2140116" y="730681"/>
                  </a:cubicBezTo>
                  <a:lnTo>
                    <a:pt x="32843" y="730681"/>
                  </a:lnTo>
                  <a:cubicBezTo>
                    <a:pt x="24132" y="730681"/>
                    <a:pt x="15779" y="727221"/>
                    <a:pt x="9619" y="721062"/>
                  </a:cubicBezTo>
                  <a:cubicBezTo>
                    <a:pt x="3460" y="714902"/>
                    <a:pt x="0" y="706549"/>
                    <a:pt x="0" y="697838"/>
                  </a:cubicBezTo>
                  <a:lnTo>
                    <a:pt x="0" y="32843"/>
                  </a:lnTo>
                  <a:cubicBezTo>
                    <a:pt x="0" y="24132"/>
                    <a:pt x="3460" y="15779"/>
                    <a:pt x="9619" y="9619"/>
                  </a:cubicBezTo>
                  <a:cubicBezTo>
                    <a:pt x="15779" y="3460"/>
                    <a:pt x="24132" y="0"/>
                    <a:pt x="32843" y="0"/>
                  </a:cubicBezTo>
                  <a:close/>
                </a:path>
              </a:pathLst>
            </a:custGeom>
            <a:solidFill>
              <a:srgbClr val="F3F4F7"/>
            </a:solidFill>
          </p:spPr>
          <p:txBody>
            <a:bodyPr/>
            <a:lstStyle/>
            <a:p>
              <a:endParaRPr lang="en-US"/>
            </a:p>
          </p:txBody>
        </p:sp>
        <p:sp>
          <p:nvSpPr>
            <p:cNvPr id="8" name="TextBox 8"/>
            <p:cNvSpPr txBox="1"/>
            <p:nvPr/>
          </p:nvSpPr>
          <p:spPr>
            <a:xfrm>
              <a:off x="0" y="66675"/>
              <a:ext cx="2172959" cy="664006"/>
            </a:xfrm>
            <a:prstGeom prst="rect">
              <a:avLst/>
            </a:prstGeom>
          </p:spPr>
          <p:txBody>
            <a:bodyPr lIns="50800" tIns="50800" rIns="50800" bIns="50800" rtlCol="0" anchor="ctr"/>
            <a:lstStyle/>
            <a:p>
              <a:pPr algn="ctr">
                <a:lnSpc>
                  <a:spcPts val="2249"/>
                </a:lnSpc>
              </a:pPr>
              <a:endParaRPr/>
            </a:p>
          </p:txBody>
        </p:sp>
      </p:grpSp>
      <p:sp>
        <p:nvSpPr>
          <p:cNvPr id="9" name="Freeform 9"/>
          <p:cNvSpPr/>
          <p:nvPr/>
        </p:nvSpPr>
        <p:spPr>
          <a:xfrm>
            <a:off x="9716943" y="3798544"/>
            <a:ext cx="665205" cy="668548"/>
          </a:xfrm>
          <a:custGeom>
            <a:avLst/>
            <a:gdLst/>
            <a:ahLst/>
            <a:cxnLst/>
            <a:rect l="l" t="t" r="r" b="b"/>
            <a:pathLst>
              <a:path w="665205" h="668548">
                <a:moveTo>
                  <a:pt x="0" y="0"/>
                </a:moveTo>
                <a:lnTo>
                  <a:pt x="665206" y="0"/>
                </a:lnTo>
                <a:lnTo>
                  <a:pt x="665206" y="668549"/>
                </a:lnTo>
                <a:lnTo>
                  <a:pt x="0" y="66854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p:cNvGrpSpPr/>
          <p:nvPr/>
        </p:nvGrpSpPr>
        <p:grpSpPr>
          <a:xfrm>
            <a:off x="0" y="-20784"/>
            <a:ext cx="18288000" cy="2207626"/>
            <a:chOff x="0" y="0"/>
            <a:chExt cx="4816593" cy="581432"/>
          </a:xfrm>
        </p:grpSpPr>
        <p:sp>
          <p:nvSpPr>
            <p:cNvPr id="11" name="Freeform 11"/>
            <p:cNvSpPr/>
            <p:nvPr/>
          </p:nvSpPr>
          <p:spPr>
            <a:xfrm>
              <a:off x="0" y="0"/>
              <a:ext cx="4816592" cy="581432"/>
            </a:xfrm>
            <a:custGeom>
              <a:avLst/>
              <a:gdLst/>
              <a:ahLst/>
              <a:cxnLst/>
              <a:rect l="l" t="t" r="r" b="b"/>
              <a:pathLst>
                <a:path w="4816592" h="581432">
                  <a:moveTo>
                    <a:pt x="0" y="0"/>
                  </a:moveTo>
                  <a:lnTo>
                    <a:pt x="4816592" y="0"/>
                  </a:lnTo>
                  <a:lnTo>
                    <a:pt x="4816592" y="581432"/>
                  </a:lnTo>
                  <a:lnTo>
                    <a:pt x="0" y="581432"/>
                  </a:lnTo>
                  <a:close/>
                </a:path>
              </a:pathLst>
            </a:custGeom>
            <a:solidFill>
              <a:srgbClr val="355688"/>
            </a:solidFill>
          </p:spPr>
          <p:txBody>
            <a:bodyPr/>
            <a:lstStyle/>
            <a:p>
              <a:endParaRPr lang="en-US"/>
            </a:p>
          </p:txBody>
        </p:sp>
        <p:sp>
          <p:nvSpPr>
            <p:cNvPr id="12" name="TextBox 12"/>
            <p:cNvSpPr txBox="1"/>
            <p:nvPr/>
          </p:nvSpPr>
          <p:spPr>
            <a:xfrm>
              <a:off x="0" y="66675"/>
              <a:ext cx="4816593" cy="514757"/>
            </a:xfrm>
            <a:prstGeom prst="rect">
              <a:avLst/>
            </a:prstGeom>
          </p:spPr>
          <p:txBody>
            <a:bodyPr lIns="50800" tIns="50800" rIns="50800" bIns="50800" rtlCol="0" anchor="ctr"/>
            <a:lstStyle/>
            <a:p>
              <a:pPr algn="ctr">
                <a:lnSpc>
                  <a:spcPts val="2249"/>
                </a:lnSpc>
              </a:pPr>
              <a:endParaRPr/>
            </a:p>
          </p:txBody>
        </p:sp>
      </p:grpSp>
      <p:sp>
        <p:nvSpPr>
          <p:cNvPr id="13" name="Freeform 13"/>
          <p:cNvSpPr/>
          <p:nvPr/>
        </p:nvSpPr>
        <p:spPr>
          <a:xfrm>
            <a:off x="1028700" y="7241095"/>
            <a:ext cx="542926" cy="542926"/>
          </a:xfrm>
          <a:custGeom>
            <a:avLst/>
            <a:gdLst/>
            <a:ahLst/>
            <a:cxnLst/>
            <a:rect l="l" t="t" r="r" b="b"/>
            <a:pathLst>
              <a:path w="542926" h="542926">
                <a:moveTo>
                  <a:pt x="0" y="0"/>
                </a:moveTo>
                <a:lnTo>
                  <a:pt x="542926" y="0"/>
                </a:lnTo>
                <a:lnTo>
                  <a:pt x="542926" y="542926"/>
                </a:lnTo>
                <a:lnTo>
                  <a:pt x="0" y="5429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1196766" y="654399"/>
            <a:ext cx="15894468" cy="1000136"/>
          </a:xfrm>
          <a:prstGeom prst="rect">
            <a:avLst/>
          </a:prstGeom>
        </p:spPr>
        <p:txBody>
          <a:bodyPr lIns="0" tIns="0" rIns="0" bIns="0" rtlCol="0" anchor="t">
            <a:spAutoFit/>
          </a:bodyPr>
          <a:lstStyle/>
          <a:p>
            <a:pPr algn="l">
              <a:lnSpc>
                <a:spcPts val="6750"/>
              </a:lnSpc>
            </a:pPr>
            <a:r>
              <a:rPr lang="en-US" sz="7500" b="1" spc="-375">
                <a:solidFill>
                  <a:srgbClr val="F3F4F7"/>
                </a:solidFill>
                <a:latin typeface="Telegraf Bold"/>
                <a:ea typeface="Telegraf Bold"/>
                <a:cs typeface="Telegraf Bold"/>
                <a:sym typeface="Telegraf Bold"/>
              </a:rPr>
              <a:t>Problem Statement &amp; Our Approach</a:t>
            </a:r>
          </a:p>
        </p:txBody>
      </p:sp>
      <p:sp>
        <p:nvSpPr>
          <p:cNvPr id="15" name="TextBox 15"/>
          <p:cNvSpPr txBox="1"/>
          <p:nvPr/>
        </p:nvSpPr>
        <p:spPr>
          <a:xfrm>
            <a:off x="1028700" y="2629954"/>
            <a:ext cx="16230600" cy="533398"/>
          </a:xfrm>
          <a:prstGeom prst="rect">
            <a:avLst/>
          </a:prstGeom>
        </p:spPr>
        <p:txBody>
          <a:bodyPr lIns="0" tIns="0" rIns="0" bIns="0" rtlCol="0" anchor="t">
            <a:spAutoFit/>
          </a:bodyPr>
          <a:lstStyle/>
          <a:p>
            <a:pPr algn="ctr">
              <a:lnSpc>
                <a:spcPts val="3599"/>
              </a:lnSpc>
            </a:pPr>
            <a:r>
              <a:rPr lang="en-US" sz="3999" b="1">
                <a:solidFill>
                  <a:srgbClr val="B63338"/>
                </a:solidFill>
                <a:latin typeface="Telegraf Bold"/>
                <a:ea typeface="Telegraf Bold"/>
                <a:cs typeface="Telegraf Bold"/>
                <a:sym typeface="Telegraf Bold"/>
              </a:rPr>
              <a:t>“Can we predict tomorrow's flight delays today?”</a:t>
            </a:r>
          </a:p>
        </p:txBody>
      </p:sp>
      <p:sp>
        <p:nvSpPr>
          <p:cNvPr id="16" name="TextBox 16"/>
          <p:cNvSpPr txBox="1"/>
          <p:nvPr/>
        </p:nvSpPr>
        <p:spPr>
          <a:xfrm>
            <a:off x="2148872" y="4040810"/>
            <a:ext cx="3626174" cy="382905"/>
          </a:xfrm>
          <a:prstGeom prst="rect">
            <a:avLst/>
          </a:prstGeom>
        </p:spPr>
        <p:txBody>
          <a:bodyPr lIns="0" tIns="0" rIns="0" bIns="0" rtlCol="0" anchor="t">
            <a:spAutoFit/>
          </a:bodyPr>
          <a:lstStyle/>
          <a:p>
            <a:pPr algn="l">
              <a:lnSpc>
                <a:spcPts val="2519"/>
              </a:lnSpc>
            </a:pPr>
            <a:r>
              <a:rPr lang="en-US" sz="2799" b="1">
                <a:solidFill>
                  <a:srgbClr val="2F2A24"/>
                </a:solidFill>
                <a:latin typeface="Telegraf Bold"/>
                <a:ea typeface="Telegraf Bold"/>
                <a:cs typeface="Telegraf Bold"/>
                <a:sym typeface="Telegraf Bold"/>
              </a:rPr>
              <a:t>The Problem</a:t>
            </a:r>
          </a:p>
        </p:txBody>
      </p:sp>
      <p:sp>
        <p:nvSpPr>
          <p:cNvPr id="17" name="TextBox 17"/>
          <p:cNvSpPr txBox="1"/>
          <p:nvPr/>
        </p:nvSpPr>
        <p:spPr>
          <a:xfrm>
            <a:off x="1210650" y="4766615"/>
            <a:ext cx="7252348" cy="1133475"/>
          </a:xfrm>
          <a:prstGeom prst="rect">
            <a:avLst/>
          </a:prstGeom>
        </p:spPr>
        <p:txBody>
          <a:bodyPr lIns="0" tIns="0" rIns="0" bIns="0" rtlCol="0" anchor="t">
            <a:spAutoFit/>
          </a:bodyPr>
          <a:lstStyle/>
          <a:p>
            <a:pPr algn="just">
              <a:lnSpc>
                <a:spcPts val="2924"/>
              </a:lnSpc>
            </a:pPr>
            <a:r>
              <a:rPr lang="en-US" sz="2499" spc="24">
                <a:solidFill>
                  <a:srgbClr val="2F2A24"/>
                </a:solidFill>
                <a:latin typeface="Telegraf"/>
                <a:ea typeface="Telegraf"/>
                <a:cs typeface="Telegraf"/>
                <a:sym typeface="Telegraf"/>
              </a:rPr>
              <a:t>Flight delays disrupt schedules and can affect many later flights. Airlines need an early warning to plan ahead.</a:t>
            </a:r>
          </a:p>
        </p:txBody>
      </p:sp>
      <p:sp>
        <p:nvSpPr>
          <p:cNvPr id="18" name="TextBox 18"/>
          <p:cNvSpPr txBox="1"/>
          <p:nvPr/>
        </p:nvSpPr>
        <p:spPr>
          <a:xfrm>
            <a:off x="10677424" y="4040810"/>
            <a:ext cx="4194344" cy="382905"/>
          </a:xfrm>
          <a:prstGeom prst="rect">
            <a:avLst/>
          </a:prstGeom>
        </p:spPr>
        <p:txBody>
          <a:bodyPr lIns="0" tIns="0" rIns="0" bIns="0" rtlCol="0" anchor="t">
            <a:spAutoFit/>
          </a:bodyPr>
          <a:lstStyle/>
          <a:p>
            <a:pPr algn="l">
              <a:lnSpc>
                <a:spcPts val="2519"/>
              </a:lnSpc>
            </a:pPr>
            <a:r>
              <a:rPr lang="en-US" sz="2799" b="1">
                <a:solidFill>
                  <a:srgbClr val="2F2A24"/>
                </a:solidFill>
                <a:latin typeface="Telegraf Bold"/>
                <a:ea typeface="Telegraf Bold"/>
                <a:cs typeface="Telegraf Bold"/>
                <a:sym typeface="Telegraf Bold"/>
              </a:rPr>
              <a:t>Our Approach</a:t>
            </a:r>
          </a:p>
        </p:txBody>
      </p:sp>
      <p:sp>
        <p:nvSpPr>
          <p:cNvPr id="19" name="TextBox 19"/>
          <p:cNvSpPr txBox="1"/>
          <p:nvPr/>
        </p:nvSpPr>
        <p:spPr>
          <a:xfrm>
            <a:off x="9825003" y="4766615"/>
            <a:ext cx="7252348" cy="1133475"/>
          </a:xfrm>
          <a:prstGeom prst="rect">
            <a:avLst/>
          </a:prstGeom>
        </p:spPr>
        <p:txBody>
          <a:bodyPr lIns="0" tIns="0" rIns="0" bIns="0" rtlCol="0" anchor="t">
            <a:spAutoFit/>
          </a:bodyPr>
          <a:lstStyle/>
          <a:p>
            <a:pPr algn="just">
              <a:lnSpc>
                <a:spcPts val="2924"/>
              </a:lnSpc>
            </a:pPr>
            <a:r>
              <a:rPr lang="en-US" sz="2499" spc="24">
                <a:solidFill>
                  <a:srgbClr val="2F2A24"/>
                </a:solidFill>
                <a:latin typeface="Telegraf"/>
                <a:ea typeface="Telegraf"/>
                <a:cs typeface="Telegraf"/>
                <a:sym typeface="Telegraf"/>
              </a:rPr>
              <a:t>Use historical flight records and machine learning to estimate the risk of a flight arriving 15 minutes or more late.</a:t>
            </a:r>
          </a:p>
        </p:txBody>
      </p:sp>
      <p:sp>
        <p:nvSpPr>
          <p:cNvPr id="20" name="TextBox 20"/>
          <p:cNvSpPr txBox="1"/>
          <p:nvPr/>
        </p:nvSpPr>
        <p:spPr>
          <a:xfrm>
            <a:off x="1857085" y="7370637"/>
            <a:ext cx="4746346" cy="413384"/>
          </a:xfrm>
          <a:prstGeom prst="rect">
            <a:avLst/>
          </a:prstGeom>
        </p:spPr>
        <p:txBody>
          <a:bodyPr lIns="0" tIns="0" rIns="0" bIns="0" rtlCol="0" anchor="t">
            <a:spAutoFit/>
          </a:bodyPr>
          <a:lstStyle/>
          <a:p>
            <a:pPr algn="l">
              <a:lnSpc>
                <a:spcPts val="2789"/>
              </a:lnSpc>
            </a:pPr>
            <a:r>
              <a:rPr lang="en-US" sz="3099" b="1">
                <a:solidFill>
                  <a:srgbClr val="355688"/>
                </a:solidFill>
                <a:latin typeface="Telegraf Bold"/>
                <a:ea typeface="Telegraf Bold"/>
                <a:cs typeface="Telegraf Bold"/>
                <a:sym typeface="Telegraf Bold"/>
              </a:rPr>
              <a:t>8:00 PM · Previous day</a:t>
            </a:r>
          </a:p>
        </p:txBody>
      </p:sp>
      <p:sp>
        <p:nvSpPr>
          <p:cNvPr id="21" name="TextBox 21"/>
          <p:cNvSpPr txBox="1"/>
          <p:nvPr/>
        </p:nvSpPr>
        <p:spPr>
          <a:xfrm>
            <a:off x="7199675" y="7377685"/>
            <a:ext cx="9174559" cy="342138"/>
          </a:xfrm>
          <a:prstGeom prst="rect">
            <a:avLst/>
          </a:prstGeom>
        </p:spPr>
        <p:txBody>
          <a:bodyPr lIns="0" tIns="0" rIns="0" bIns="0" rtlCol="0" anchor="t">
            <a:spAutoFit/>
          </a:bodyPr>
          <a:lstStyle/>
          <a:p>
            <a:pPr algn="just">
              <a:lnSpc>
                <a:spcPts val="2691"/>
              </a:lnSpc>
            </a:pPr>
            <a:r>
              <a:rPr lang="en-US" sz="2300" i="1" spc="23">
                <a:solidFill>
                  <a:srgbClr val="2F2A24"/>
                </a:solidFill>
                <a:latin typeface="Poppins Italics"/>
                <a:ea typeface="Poppins Italics"/>
                <a:cs typeface="Poppins Italics"/>
                <a:sym typeface="Poppins Italics"/>
              </a:rPr>
              <a:t>(Only information available by this time can be used)</a:t>
            </a:r>
          </a:p>
        </p:txBody>
      </p:sp>
      <p:grpSp>
        <p:nvGrpSpPr>
          <p:cNvPr id="22" name="Group 22"/>
          <p:cNvGrpSpPr/>
          <p:nvPr/>
        </p:nvGrpSpPr>
        <p:grpSpPr>
          <a:xfrm>
            <a:off x="9325950" y="8101280"/>
            <a:ext cx="8250454" cy="1322890"/>
            <a:chOff x="0" y="0"/>
            <a:chExt cx="2172959" cy="348415"/>
          </a:xfrm>
        </p:grpSpPr>
        <p:sp>
          <p:nvSpPr>
            <p:cNvPr id="23" name="Freeform 23"/>
            <p:cNvSpPr/>
            <p:nvPr/>
          </p:nvSpPr>
          <p:spPr>
            <a:xfrm>
              <a:off x="0" y="0"/>
              <a:ext cx="2172959" cy="348415"/>
            </a:xfrm>
            <a:custGeom>
              <a:avLst/>
              <a:gdLst/>
              <a:ahLst/>
              <a:cxnLst/>
              <a:rect l="l" t="t" r="r" b="b"/>
              <a:pathLst>
                <a:path w="2172959" h="348415">
                  <a:moveTo>
                    <a:pt x="32843" y="0"/>
                  </a:moveTo>
                  <a:lnTo>
                    <a:pt x="2140116" y="0"/>
                  </a:lnTo>
                  <a:cubicBezTo>
                    <a:pt x="2148827" y="0"/>
                    <a:pt x="2157180" y="3460"/>
                    <a:pt x="2163340" y="9619"/>
                  </a:cubicBezTo>
                  <a:cubicBezTo>
                    <a:pt x="2169499" y="15779"/>
                    <a:pt x="2172959" y="24132"/>
                    <a:pt x="2172959" y="32843"/>
                  </a:cubicBezTo>
                  <a:lnTo>
                    <a:pt x="2172959" y="315573"/>
                  </a:lnTo>
                  <a:cubicBezTo>
                    <a:pt x="2172959" y="324283"/>
                    <a:pt x="2169499" y="332637"/>
                    <a:pt x="2163340" y="338796"/>
                  </a:cubicBezTo>
                  <a:cubicBezTo>
                    <a:pt x="2157180" y="344955"/>
                    <a:pt x="2148827" y="348415"/>
                    <a:pt x="2140116" y="348415"/>
                  </a:cubicBezTo>
                  <a:lnTo>
                    <a:pt x="32843" y="348415"/>
                  </a:lnTo>
                  <a:cubicBezTo>
                    <a:pt x="24132" y="348415"/>
                    <a:pt x="15779" y="344955"/>
                    <a:pt x="9619" y="338796"/>
                  </a:cubicBezTo>
                  <a:cubicBezTo>
                    <a:pt x="3460" y="332637"/>
                    <a:pt x="0" y="324283"/>
                    <a:pt x="0" y="315573"/>
                  </a:cubicBezTo>
                  <a:lnTo>
                    <a:pt x="0" y="32843"/>
                  </a:lnTo>
                  <a:cubicBezTo>
                    <a:pt x="0" y="24132"/>
                    <a:pt x="3460" y="15779"/>
                    <a:pt x="9619" y="9619"/>
                  </a:cubicBezTo>
                  <a:cubicBezTo>
                    <a:pt x="15779" y="3460"/>
                    <a:pt x="24132" y="0"/>
                    <a:pt x="32843" y="0"/>
                  </a:cubicBezTo>
                  <a:close/>
                </a:path>
              </a:pathLst>
            </a:custGeom>
            <a:solidFill>
              <a:srgbClr val="F3F4F7"/>
            </a:solidFill>
          </p:spPr>
          <p:txBody>
            <a:bodyPr/>
            <a:lstStyle/>
            <a:p>
              <a:endParaRPr lang="en-US"/>
            </a:p>
          </p:txBody>
        </p:sp>
        <p:sp>
          <p:nvSpPr>
            <p:cNvPr id="24" name="TextBox 24"/>
            <p:cNvSpPr txBox="1"/>
            <p:nvPr/>
          </p:nvSpPr>
          <p:spPr>
            <a:xfrm>
              <a:off x="0" y="66675"/>
              <a:ext cx="2172959" cy="281740"/>
            </a:xfrm>
            <a:prstGeom prst="rect">
              <a:avLst/>
            </a:prstGeom>
          </p:spPr>
          <p:txBody>
            <a:bodyPr lIns="50800" tIns="50800" rIns="50800" bIns="50800" rtlCol="0" anchor="ctr"/>
            <a:lstStyle/>
            <a:p>
              <a:pPr algn="ctr">
                <a:lnSpc>
                  <a:spcPts val="2249"/>
                </a:lnSpc>
              </a:pPr>
              <a:endParaRPr/>
            </a:p>
          </p:txBody>
        </p:sp>
      </p:grpSp>
      <p:sp>
        <p:nvSpPr>
          <p:cNvPr id="25" name="TextBox 25"/>
          <p:cNvSpPr txBox="1"/>
          <p:nvPr/>
        </p:nvSpPr>
        <p:spPr>
          <a:xfrm>
            <a:off x="9716943" y="8639823"/>
            <a:ext cx="2264748" cy="320040"/>
          </a:xfrm>
          <a:prstGeom prst="rect">
            <a:avLst/>
          </a:prstGeom>
        </p:spPr>
        <p:txBody>
          <a:bodyPr lIns="0" tIns="0" rIns="0" bIns="0" rtlCol="0" anchor="t">
            <a:spAutoFit/>
          </a:bodyPr>
          <a:lstStyle/>
          <a:p>
            <a:pPr algn="l">
              <a:lnSpc>
                <a:spcPts val="2160"/>
              </a:lnSpc>
            </a:pPr>
            <a:r>
              <a:rPr lang="en-US" sz="2400" u="sng">
                <a:solidFill>
                  <a:srgbClr val="2F2A24"/>
                </a:solidFill>
                <a:latin typeface="Telegraf"/>
                <a:ea typeface="Telegraf"/>
                <a:cs typeface="Telegraf"/>
                <a:sym typeface="Telegraf"/>
              </a:rPr>
              <a:t>Phase 1 Goal</a:t>
            </a:r>
          </a:p>
        </p:txBody>
      </p:sp>
      <p:sp>
        <p:nvSpPr>
          <p:cNvPr id="26" name="TextBox 26"/>
          <p:cNvSpPr txBox="1"/>
          <p:nvPr/>
        </p:nvSpPr>
        <p:spPr>
          <a:xfrm>
            <a:off x="1857085" y="6810300"/>
            <a:ext cx="4746346" cy="382905"/>
          </a:xfrm>
          <a:prstGeom prst="rect">
            <a:avLst/>
          </a:prstGeom>
        </p:spPr>
        <p:txBody>
          <a:bodyPr lIns="0" tIns="0" rIns="0" bIns="0" rtlCol="0" anchor="t">
            <a:spAutoFit/>
          </a:bodyPr>
          <a:lstStyle/>
          <a:p>
            <a:pPr algn="l">
              <a:lnSpc>
                <a:spcPts val="2519"/>
              </a:lnSpc>
            </a:pPr>
            <a:r>
              <a:rPr lang="en-US" sz="2799" b="1">
                <a:solidFill>
                  <a:srgbClr val="2F2A24"/>
                </a:solidFill>
                <a:latin typeface="Telegraf Bold"/>
                <a:ea typeface="Telegraf Bold"/>
                <a:cs typeface="Telegraf Bold"/>
                <a:sym typeface="Telegraf Bold"/>
              </a:rPr>
              <a:t>Our prediction deadline</a:t>
            </a:r>
          </a:p>
        </p:txBody>
      </p:sp>
      <p:sp>
        <p:nvSpPr>
          <p:cNvPr id="27" name="TextBox 27"/>
          <p:cNvSpPr txBox="1"/>
          <p:nvPr/>
        </p:nvSpPr>
        <p:spPr>
          <a:xfrm>
            <a:off x="11682467" y="8377568"/>
            <a:ext cx="5576833" cy="765810"/>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elegraf"/>
                <a:ea typeface="Telegraf"/>
                <a:cs typeface="Telegraf"/>
                <a:sym typeface="Telegraf"/>
              </a:rPr>
              <a:t>Identify high-risk flights early and compare two machine learning approaches fairly.</a:t>
            </a:r>
          </a:p>
        </p:txBody>
      </p:sp>
      <p:grpSp>
        <p:nvGrpSpPr>
          <p:cNvPr id="28" name="Group 28"/>
          <p:cNvGrpSpPr/>
          <p:nvPr/>
        </p:nvGrpSpPr>
        <p:grpSpPr>
          <a:xfrm>
            <a:off x="711597" y="8101280"/>
            <a:ext cx="8250454" cy="1322890"/>
            <a:chOff x="0" y="0"/>
            <a:chExt cx="2172959" cy="348415"/>
          </a:xfrm>
        </p:grpSpPr>
        <p:sp>
          <p:nvSpPr>
            <p:cNvPr id="29" name="Freeform 29"/>
            <p:cNvSpPr/>
            <p:nvPr/>
          </p:nvSpPr>
          <p:spPr>
            <a:xfrm>
              <a:off x="0" y="0"/>
              <a:ext cx="2172959" cy="348415"/>
            </a:xfrm>
            <a:custGeom>
              <a:avLst/>
              <a:gdLst/>
              <a:ahLst/>
              <a:cxnLst/>
              <a:rect l="l" t="t" r="r" b="b"/>
              <a:pathLst>
                <a:path w="2172959" h="348415">
                  <a:moveTo>
                    <a:pt x="32843" y="0"/>
                  </a:moveTo>
                  <a:lnTo>
                    <a:pt x="2140116" y="0"/>
                  </a:lnTo>
                  <a:cubicBezTo>
                    <a:pt x="2148827" y="0"/>
                    <a:pt x="2157180" y="3460"/>
                    <a:pt x="2163340" y="9619"/>
                  </a:cubicBezTo>
                  <a:cubicBezTo>
                    <a:pt x="2169499" y="15779"/>
                    <a:pt x="2172959" y="24132"/>
                    <a:pt x="2172959" y="32843"/>
                  </a:cubicBezTo>
                  <a:lnTo>
                    <a:pt x="2172959" y="315573"/>
                  </a:lnTo>
                  <a:cubicBezTo>
                    <a:pt x="2172959" y="324283"/>
                    <a:pt x="2169499" y="332637"/>
                    <a:pt x="2163340" y="338796"/>
                  </a:cubicBezTo>
                  <a:cubicBezTo>
                    <a:pt x="2157180" y="344955"/>
                    <a:pt x="2148827" y="348415"/>
                    <a:pt x="2140116" y="348415"/>
                  </a:cubicBezTo>
                  <a:lnTo>
                    <a:pt x="32843" y="348415"/>
                  </a:lnTo>
                  <a:cubicBezTo>
                    <a:pt x="24132" y="348415"/>
                    <a:pt x="15779" y="344955"/>
                    <a:pt x="9619" y="338796"/>
                  </a:cubicBezTo>
                  <a:cubicBezTo>
                    <a:pt x="3460" y="332637"/>
                    <a:pt x="0" y="324283"/>
                    <a:pt x="0" y="315573"/>
                  </a:cubicBezTo>
                  <a:lnTo>
                    <a:pt x="0" y="32843"/>
                  </a:lnTo>
                  <a:cubicBezTo>
                    <a:pt x="0" y="24132"/>
                    <a:pt x="3460" y="15779"/>
                    <a:pt x="9619" y="9619"/>
                  </a:cubicBezTo>
                  <a:cubicBezTo>
                    <a:pt x="15779" y="3460"/>
                    <a:pt x="24132" y="0"/>
                    <a:pt x="32843" y="0"/>
                  </a:cubicBezTo>
                  <a:close/>
                </a:path>
              </a:pathLst>
            </a:custGeom>
            <a:solidFill>
              <a:srgbClr val="F3F4F7"/>
            </a:solidFill>
          </p:spPr>
          <p:txBody>
            <a:bodyPr/>
            <a:lstStyle/>
            <a:p>
              <a:endParaRPr lang="en-US"/>
            </a:p>
          </p:txBody>
        </p:sp>
        <p:sp>
          <p:nvSpPr>
            <p:cNvPr id="30" name="TextBox 30"/>
            <p:cNvSpPr txBox="1"/>
            <p:nvPr/>
          </p:nvSpPr>
          <p:spPr>
            <a:xfrm>
              <a:off x="0" y="66675"/>
              <a:ext cx="2172959" cy="281740"/>
            </a:xfrm>
            <a:prstGeom prst="rect">
              <a:avLst/>
            </a:prstGeom>
          </p:spPr>
          <p:txBody>
            <a:bodyPr lIns="50800" tIns="50800" rIns="50800" bIns="50800" rtlCol="0" anchor="ctr"/>
            <a:lstStyle/>
            <a:p>
              <a:pPr algn="ctr">
                <a:lnSpc>
                  <a:spcPts val="2249"/>
                </a:lnSpc>
              </a:pPr>
              <a:endParaRPr/>
            </a:p>
          </p:txBody>
        </p:sp>
      </p:grpSp>
      <p:sp>
        <p:nvSpPr>
          <p:cNvPr id="31" name="TextBox 31"/>
          <p:cNvSpPr txBox="1"/>
          <p:nvPr/>
        </p:nvSpPr>
        <p:spPr>
          <a:xfrm>
            <a:off x="1028700" y="8374325"/>
            <a:ext cx="2039995" cy="805191"/>
          </a:xfrm>
          <a:prstGeom prst="rect">
            <a:avLst/>
          </a:prstGeom>
        </p:spPr>
        <p:txBody>
          <a:bodyPr lIns="0" tIns="0" rIns="0" bIns="0" rtlCol="0" anchor="t">
            <a:spAutoFit/>
          </a:bodyPr>
          <a:lstStyle/>
          <a:p>
            <a:pPr algn="l">
              <a:lnSpc>
                <a:spcPts val="3068"/>
              </a:lnSpc>
            </a:pPr>
            <a:r>
              <a:rPr lang="en-US" sz="2715" u="sng">
                <a:solidFill>
                  <a:srgbClr val="2F2A24"/>
                </a:solidFill>
                <a:latin typeface="Telegraf"/>
                <a:ea typeface="Telegraf"/>
                <a:cs typeface="Telegraf"/>
                <a:sym typeface="Telegraf"/>
              </a:rPr>
              <a:t>Delayed Flight</a:t>
            </a:r>
          </a:p>
        </p:txBody>
      </p:sp>
      <p:sp>
        <p:nvSpPr>
          <p:cNvPr id="32" name="TextBox 32"/>
          <p:cNvSpPr txBox="1"/>
          <p:nvPr/>
        </p:nvSpPr>
        <p:spPr>
          <a:xfrm>
            <a:off x="2695176" y="8315685"/>
            <a:ext cx="5908188" cy="817880"/>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Telegraf"/>
                <a:ea typeface="Telegraf"/>
                <a:cs typeface="Telegraf"/>
                <a:sym typeface="Telegraf"/>
              </a:rPr>
              <a:t>the one arriving </a:t>
            </a:r>
            <a:r>
              <a:rPr lang="en-US" sz="2300" b="1">
                <a:solidFill>
                  <a:srgbClr val="000000"/>
                </a:solidFill>
                <a:latin typeface="Telegraf Bold"/>
                <a:ea typeface="Telegraf Bold"/>
                <a:cs typeface="Telegraf Bold"/>
                <a:sym typeface="Telegraf Bold"/>
              </a:rPr>
              <a:t>15 minutes*</a:t>
            </a:r>
            <a:r>
              <a:rPr lang="en-US" sz="2300">
                <a:solidFill>
                  <a:srgbClr val="000000"/>
                </a:solidFill>
                <a:latin typeface="Telegraf"/>
                <a:ea typeface="Telegraf"/>
                <a:cs typeface="Telegraf"/>
                <a:sym typeface="Telegraf"/>
              </a:rPr>
              <a:t> or more after its scheduled arrival time</a:t>
            </a:r>
          </a:p>
        </p:txBody>
      </p:sp>
      <p:sp>
        <p:nvSpPr>
          <p:cNvPr id="33" name="TextBox 33"/>
          <p:cNvSpPr txBox="1"/>
          <p:nvPr/>
        </p:nvSpPr>
        <p:spPr>
          <a:xfrm>
            <a:off x="711597" y="9649062"/>
            <a:ext cx="14360161" cy="302514"/>
          </a:xfrm>
          <a:prstGeom prst="rect">
            <a:avLst/>
          </a:prstGeom>
        </p:spPr>
        <p:txBody>
          <a:bodyPr lIns="0" tIns="0" rIns="0" bIns="0" rtlCol="0" anchor="t">
            <a:spAutoFit/>
          </a:bodyPr>
          <a:lstStyle/>
          <a:p>
            <a:pPr algn="just">
              <a:lnSpc>
                <a:spcPts val="2223"/>
              </a:lnSpc>
            </a:pPr>
            <a:r>
              <a:rPr lang="en-US" sz="1900" i="1" spc="19">
                <a:solidFill>
                  <a:srgbClr val="2F2A24"/>
                </a:solidFill>
                <a:latin typeface="Poppins Italics"/>
                <a:ea typeface="Poppins Italics"/>
                <a:cs typeface="Poppins Italics"/>
                <a:sym typeface="Poppins Italics"/>
              </a:rPr>
              <a:t>*This 15-minute cutoff follows the US Bureau of Transportation Statistics' on-time arrival rule.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5269" y="1447353"/>
            <a:ext cx="3656241" cy="2164806"/>
            <a:chOff x="0" y="0"/>
            <a:chExt cx="962961" cy="570155"/>
          </a:xfrm>
        </p:grpSpPr>
        <p:sp>
          <p:nvSpPr>
            <p:cNvPr id="3" name="Freeform 3"/>
            <p:cNvSpPr/>
            <p:nvPr/>
          </p:nvSpPr>
          <p:spPr>
            <a:xfrm>
              <a:off x="0" y="0"/>
              <a:ext cx="962961" cy="570155"/>
            </a:xfrm>
            <a:custGeom>
              <a:avLst/>
              <a:gdLst/>
              <a:ahLst/>
              <a:cxnLst/>
              <a:rect l="l" t="t" r="r" b="b"/>
              <a:pathLst>
                <a:path w="962961" h="570155">
                  <a:moveTo>
                    <a:pt x="74111" y="0"/>
                  </a:moveTo>
                  <a:lnTo>
                    <a:pt x="888850" y="0"/>
                  </a:lnTo>
                  <a:cubicBezTo>
                    <a:pt x="908505" y="0"/>
                    <a:pt x="927356" y="7808"/>
                    <a:pt x="941254" y="21707"/>
                  </a:cubicBezTo>
                  <a:cubicBezTo>
                    <a:pt x="955153" y="35605"/>
                    <a:pt x="962961" y="54455"/>
                    <a:pt x="962961" y="74111"/>
                  </a:cubicBezTo>
                  <a:lnTo>
                    <a:pt x="962961" y="496044"/>
                  </a:lnTo>
                  <a:cubicBezTo>
                    <a:pt x="962961" y="515699"/>
                    <a:pt x="955153" y="534550"/>
                    <a:pt x="941254" y="548448"/>
                  </a:cubicBezTo>
                  <a:cubicBezTo>
                    <a:pt x="927356" y="562346"/>
                    <a:pt x="908505" y="570155"/>
                    <a:pt x="888850" y="570155"/>
                  </a:cubicBezTo>
                  <a:lnTo>
                    <a:pt x="74111" y="570155"/>
                  </a:lnTo>
                  <a:cubicBezTo>
                    <a:pt x="54455" y="570155"/>
                    <a:pt x="35605" y="562346"/>
                    <a:pt x="21707" y="548448"/>
                  </a:cubicBezTo>
                  <a:cubicBezTo>
                    <a:pt x="7808" y="534550"/>
                    <a:pt x="0" y="515699"/>
                    <a:pt x="0" y="496044"/>
                  </a:cubicBezTo>
                  <a:lnTo>
                    <a:pt x="0" y="74111"/>
                  </a:lnTo>
                  <a:cubicBezTo>
                    <a:pt x="0" y="54455"/>
                    <a:pt x="7808" y="35605"/>
                    <a:pt x="21707" y="21707"/>
                  </a:cubicBezTo>
                  <a:cubicBezTo>
                    <a:pt x="35605" y="7808"/>
                    <a:pt x="54455" y="0"/>
                    <a:pt x="74111" y="0"/>
                  </a:cubicBezTo>
                  <a:close/>
                </a:path>
              </a:pathLst>
            </a:custGeom>
            <a:solidFill>
              <a:srgbClr val="355688"/>
            </a:solidFill>
          </p:spPr>
          <p:txBody>
            <a:bodyPr/>
            <a:lstStyle/>
            <a:p>
              <a:endParaRPr lang="en-US"/>
            </a:p>
          </p:txBody>
        </p:sp>
        <p:sp>
          <p:nvSpPr>
            <p:cNvPr id="4" name="TextBox 4"/>
            <p:cNvSpPr txBox="1"/>
            <p:nvPr/>
          </p:nvSpPr>
          <p:spPr>
            <a:xfrm>
              <a:off x="0" y="66675"/>
              <a:ext cx="962961" cy="503480"/>
            </a:xfrm>
            <a:prstGeom prst="rect">
              <a:avLst/>
            </a:prstGeom>
          </p:spPr>
          <p:txBody>
            <a:bodyPr lIns="50800" tIns="50800" rIns="50800" bIns="50800" rtlCol="0" anchor="ctr"/>
            <a:lstStyle/>
            <a:p>
              <a:pPr algn="ctr">
                <a:lnSpc>
                  <a:spcPts val="2249"/>
                </a:lnSpc>
              </a:pPr>
              <a:endParaRPr/>
            </a:p>
          </p:txBody>
        </p:sp>
      </p:grpSp>
      <p:grpSp>
        <p:nvGrpSpPr>
          <p:cNvPr id="5" name="Group 5"/>
          <p:cNvGrpSpPr/>
          <p:nvPr/>
        </p:nvGrpSpPr>
        <p:grpSpPr>
          <a:xfrm>
            <a:off x="13506489" y="1447353"/>
            <a:ext cx="3656241" cy="2164806"/>
            <a:chOff x="0" y="0"/>
            <a:chExt cx="962961" cy="570155"/>
          </a:xfrm>
        </p:grpSpPr>
        <p:sp>
          <p:nvSpPr>
            <p:cNvPr id="6" name="Freeform 6"/>
            <p:cNvSpPr/>
            <p:nvPr/>
          </p:nvSpPr>
          <p:spPr>
            <a:xfrm>
              <a:off x="0" y="0"/>
              <a:ext cx="962961" cy="570155"/>
            </a:xfrm>
            <a:custGeom>
              <a:avLst/>
              <a:gdLst/>
              <a:ahLst/>
              <a:cxnLst/>
              <a:rect l="l" t="t" r="r" b="b"/>
              <a:pathLst>
                <a:path w="962961" h="570155">
                  <a:moveTo>
                    <a:pt x="74111" y="0"/>
                  </a:moveTo>
                  <a:lnTo>
                    <a:pt x="888850" y="0"/>
                  </a:lnTo>
                  <a:cubicBezTo>
                    <a:pt x="908505" y="0"/>
                    <a:pt x="927356" y="7808"/>
                    <a:pt x="941254" y="21707"/>
                  </a:cubicBezTo>
                  <a:cubicBezTo>
                    <a:pt x="955153" y="35605"/>
                    <a:pt x="962961" y="54455"/>
                    <a:pt x="962961" y="74111"/>
                  </a:cubicBezTo>
                  <a:lnTo>
                    <a:pt x="962961" y="496044"/>
                  </a:lnTo>
                  <a:cubicBezTo>
                    <a:pt x="962961" y="515699"/>
                    <a:pt x="955153" y="534550"/>
                    <a:pt x="941254" y="548448"/>
                  </a:cubicBezTo>
                  <a:cubicBezTo>
                    <a:pt x="927356" y="562346"/>
                    <a:pt x="908505" y="570155"/>
                    <a:pt x="888850" y="570155"/>
                  </a:cubicBezTo>
                  <a:lnTo>
                    <a:pt x="74111" y="570155"/>
                  </a:lnTo>
                  <a:cubicBezTo>
                    <a:pt x="54455" y="570155"/>
                    <a:pt x="35605" y="562346"/>
                    <a:pt x="21707" y="548448"/>
                  </a:cubicBezTo>
                  <a:cubicBezTo>
                    <a:pt x="7808" y="534550"/>
                    <a:pt x="0" y="515699"/>
                    <a:pt x="0" y="496044"/>
                  </a:cubicBezTo>
                  <a:lnTo>
                    <a:pt x="0" y="74111"/>
                  </a:lnTo>
                  <a:cubicBezTo>
                    <a:pt x="0" y="54455"/>
                    <a:pt x="7808" y="35605"/>
                    <a:pt x="21707" y="21707"/>
                  </a:cubicBezTo>
                  <a:cubicBezTo>
                    <a:pt x="35605" y="7808"/>
                    <a:pt x="54455" y="0"/>
                    <a:pt x="74111" y="0"/>
                  </a:cubicBezTo>
                  <a:close/>
                </a:path>
              </a:pathLst>
            </a:custGeom>
            <a:solidFill>
              <a:srgbClr val="2F2A24"/>
            </a:solidFill>
          </p:spPr>
          <p:txBody>
            <a:bodyPr/>
            <a:lstStyle/>
            <a:p>
              <a:endParaRPr lang="en-US"/>
            </a:p>
          </p:txBody>
        </p:sp>
        <p:sp>
          <p:nvSpPr>
            <p:cNvPr id="7" name="TextBox 7"/>
            <p:cNvSpPr txBox="1"/>
            <p:nvPr/>
          </p:nvSpPr>
          <p:spPr>
            <a:xfrm>
              <a:off x="0" y="66675"/>
              <a:ext cx="962961" cy="503480"/>
            </a:xfrm>
            <a:prstGeom prst="rect">
              <a:avLst/>
            </a:prstGeom>
          </p:spPr>
          <p:txBody>
            <a:bodyPr lIns="50800" tIns="50800" rIns="50800" bIns="50800" rtlCol="0" anchor="ctr"/>
            <a:lstStyle/>
            <a:p>
              <a:pPr algn="ctr">
                <a:lnSpc>
                  <a:spcPts val="2249"/>
                </a:lnSpc>
              </a:pPr>
              <a:endParaRPr/>
            </a:p>
          </p:txBody>
        </p:sp>
      </p:grpSp>
      <p:grpSp>
        <p:nvGrpSpPr>
          <p:cNvPr id="8" name="Group 8"/>
          <p:cNvGrpSpPr/>
          <p:nvPr/>
        </p:nvGrpSpPr>
        <p:grpSpPr>
          <a:xfrm>
            <a:off x="5266330" y="1447353"/>
            <a:ext cx="3656241" cy="2164806"/>
            <a:chOff x="0" y="0"/>
            <a:chExt cx="962961" cy="570155"/>
          </a:xfrm>
        </p:grpSpPr>
        <p:sp>
          <p:nvSpPr>
            <p:cNvPr id="9" name="Freeform 9"/>
            <p:cNvSpPr/>
            <p:nvPr/>
          </p:nvSpPr>
          <p:spPr>
            <a:xfrm>
              <a:off x="0" y="0"/>
              <a:ext cx="962961" cy="570155"/>
            </a:xfrm>
            <a:custGeom>
              <a:avLst/>
              <a:gdLst/>
              <a:ahLst/>
              <a:cxnLst/>
              <a:rect l="l" t="t" r="r" b="b"/>
              <a:pathLst>
                <a:path w="962961" h="570155">
                  <a:moveTo>
                    <a:pt x="74111" y="0"/>
                  </a:moveTo>
                  <a:lnTo>
                    <a:pt x="888850" y="0"/>
                  </a:lnTo>
                  <a:cubicBezTo>
                    <a:pt x="908505" y="0"/>
                    <a:pt x="927356" y="7808"/>
                    <a:pt x="941254" y="21707"/>
                  </a:cubicBezTo>
                  <a:cubicBezTo>
                    <a:pt x="955153" y="35605"/>
                    <a:pt x="962961" y="54455"/>
                    <a:pt x="962961" y="74111"/>
                  </a:cubicBezTo>
                  <a:lnTo>
                    <a:pt x="962961" y="496044"/>
                  </a:lnTo>
                  <a:cubicBezTo>
                    <a:pt x="962961" y="515699"/>
                    <a:pt x="955153" y="534550"/>
                    <a:pt x="941254" y="548448"/>
                  </a:cubicBezTo>
                  <a:cubicBezTo>
                    <a:pt x="927356" y="562346"/>
                    <a:pt x="908505" y="570155"/>
                    <a:pt x="888850" y="570155"/>
                  </a:cubicBezTo>
                  <a:lnTo>
                    <a:pt x="74111" y="570155"/>
                  </a:lnTo>
                  <a:cubicBezTo>
                    <a:pt x="54455" y="570155"/>
                    <a:pt x="35605" y="562346"/>
                    <a:pt x="21707" y="548448"/>
                  </a:cubicBezTo>
                  <a:cubicBezTo>
                    <a:pt x="7808" y="534550"/>
                    <a:pt x="0" y="515699"/>
                    <a:pt x="0" y="496044"/>
                  </a:cubicBezTo>
                  <a:lnTo>
                    <a:pt x="0" y="74111"/>
                  </a:lnTo>
                  <a:cubicBezTo>
                    <a:pt x="0" y="54455"/>
                    <a:pt x="7808" y="35605"/>
                    <a:pt x="21707" y="21707"/>
                  </a:cubicBezTo>
                  <a:cubicBezTo>
                    <a:pt x="35605" y="7808"/>
                    <a:pt x="54455" y="0"/>
                    <a:pt x="74111" y="0"/>
                  </a:cubicBezTo>
                  <a:close/>
                </a:path>
              </a:pathLst>
            </a:custGeom>
            <a:solidFill>
              <a:srgbClr val="2F2A24"/>
            </a:solidFill>
          </p:spPr>
          <p:txBody>
            <a:bodyPr/>
            <a:lstStyle/>
            <a:p>
              <a:endParaRPr lang="en-US"/>
            </a:p>
          </p:txBody>
        </p:sp>
        <p:sp>
          <p:nvSpPr>
            <p:cNvPr id="10" name="TextBox 10"/>
            <p:cNvSpPr txBox="1"/>
            <p:nvPr/>
          </p:nvSpPr>
          <p:spPr>
            <a:xfrm>
              <a:off x="0" y="66675"/>
              <a:ext cx="962961" cy="503480"/>
            </a:xfrm>
            <a:prstGeom prst="rect">
              <a:avLst/>
            </a:prstGeom>
          </p:spPr>
          <p:txBody>
            <a:bodyPr lIns="50800" tIns="50800" rIns="50800" bIns="50800" rtlCol="0" anchor="ctr"/>
            <a:lstStyle/>
            <a:p>
              <a:pPr algn="ctr">
                <a:lnSpc>
                  <a:spcPts val="2249"/>
                </a:lnSpc>
              </a:pPr>
              <a:endParaRPr/>
            </a:p>
          </p:txBody>
        </p:sp>
      </p:grpSp>
      <p:grpSp>
        <p:nvGrpSpPr>
          <p:cNvPr id="11" name="Group 11"/>
          <p:cNvGrpSpPr/>
          <p:nvPr/>
        </p:nvGrpSpPr>
        <p:grpSpPr>
          <a:xfrm>
            <a:off x="9408346" y="1447353"/>
            <a:ext cx="3656241" cy="2164806"/>
            <a:chOff x="0" y="0"/>
            <a:chExt cx="962961" cy="570155"/>
          </a:xfrm>
        </p:grpSpPr>
        <p:sp>
          <p:nvSpPr>
            <p:cNvPr id="12" name="Freeform 12"/>
            <p:cNvSpPr/>
            <p:nvPr/>
          </p:nvSpPr>
          <p:spPr>
            <a:xfrm>
              <a:off x="0" y="0"/>
              <a:ext cx="962961" cy="570155"/>
            </a:xfrm>
            <a:custGeom>
              <a:avLst/>
              <a:gdLst/>
              <a:ahLst/>
              <a:cxnLst/>
              <a:rect l="l" t="t" r="r" b="b"/>
              <a:pathLst>
                <a:path w="962961" h="570155">
                  <a:moveTo>
                    <a:pt x="74111" y="0"/>
                  </a:moveTo>
                  <a:lnTo>
                    <a:pt x="888850" y="0"/>
                  </a:lnTo>
                  <a:cubicBezTo>
                    <a:pt x="908505" y="0"/>
                    <a:pt x="927356" y="7808"/>
                    <a:pt x="941254" y="21707"/>
                  </a:cubicBezTo>
                  <a:cubicBezTo>
                    <a:pt x="955153" y="35605"/>
                    <a:pt x="962961" y="54455"/>
                    <a:pt x="962961" y="74111"/>
                  </a:cubicBezTo>
                  <a:lnTo>
                    <a:pt x="962961" y="496044"/>
                  </a:lnTo>
                  <a:cubicBezTo>
                    <a:pt x="962961" y="515699"/>
                    <a:pt x="955153" y="534550"/>
                    <a:pt x="941254" y="548448"/>
                  </a:cubicBezTo>
                  <a:cubicBezTo>
                    <a:pt x="927356" y="562346"/>
                    <a:pt x="908505" y="570155"/>
                    <a:pt x="888850" y="570155"/>
                  </a:cubicBezTo>
                  <a:lnTo>
                    <a:pt x="74111" y="570155"/>
                  </a:lnTo>
                  <a:cubicBezTo>
                    <a:pt x="54455" y="570155"/>
                    <a:pt x="35605" y="562346"/>
                    <a:pt x="21707" y="548448"/>
                  </a:cubicBezTo>
                  <a:cubicBezTo>
                    <a:pt x="7808" y="534550"/>
                    <a:pt x="0" y="515699"/>
                    <a:pt x="0" y="496044"/>
                  </a:cubicBezTo>
                  <a:lnTo>
                    <a:pt x="0" y="74111"/>
                  </a:lnTo>
                  <a:cubicBezTo>
                    <a:pt x="0" y="54455"/>
                    <a:pt x="7808" y="35605"/>
                    <a:pt x="21707" y="21707"/>
                  </a:cubicBezTo>
                  <a:cubicBezTo>
                    <a:pt x="35605" y="7808"/>
                    <a:pt x="54455" y="0"/>
                    <a:pt x="74111" y="0"/>
                  </a:cubicBezTo>
                  <a:close/>
                </a:path>
              </a:pathLst>
            </a:custGeom>
            <a:solidFill>
              <a:srgbClr val="355688"/>
            </a:solidFill>
          </p:spPr>
          <p:txBody>
            <a:bodyPr/>
            <a:lstStyle/>
            <a:p>
              <a:endParaRPr lang="en-US"/>
            </a:p>
          </p:txBody>
        </p:sp>
        <p:sp>
          <p:nvSpPr>
            <p:cNvPr id="13" name="TextBox 13"/>
            <p:cNvSpPr txBox="1"/>
            <p:nvPr/>
          </p:nvSpPr>
          <p:spPr>
            <a:xfrm>
              <a:off x="0" y="66675"/>
              <a:ext cx="962961" cy="503480"/>
            </a:xfrm>
            <a:prstGeom prst="rect">
              <a:avLst/>
            </a:prstGeom>
          </p:spPr>
          <p:txBody>
            <a:bodyPr lIns="50800" tIns="50800" rIns="50800" bIns="50800" rtlCol="0" anchor="ctr"/>
            <a:lstStyle/>
            <a:p>
              <a:pPr algn="ctr">
                <a:lnSpc>
                  <a:spcPts val="2249"/>
                </a:lnSpc>
              </a:pPr>
              <a:endParaRPr/>
            </a:p>
          </p:txBody>
        </p:sp>
      </p:grpSp>
      <p:sp>
        <p:nvSpPr>
          <p:cNvPr id="14" name="Freeform 14"/>
          <p:cNvSpPr/>
          <p:nvPr/>
        </p:nvSpPr>
        <p:spPr>
          <a:xfrm>
            <a:off x="1901336" y="4975024"/>
            <a:ext cx="488871" cy="509240"/>
          </a:xfrm>
          <a:custGeom>
            <a:avLst/>
            <a:gdLst/>
            <a:ahLst/>
            <a:cxnLst/>
            <a:rect l="l" t="t" r="r" b="b"/>
            <a:pathLst>
              <a:path w="488871" h="509240">
                <a:moveTo>
                  <a:pt x="0" y="0"/>
                </a:moveTo>
                <a:lnTo>
                  <a:pt x="488871" y="0"/>
                </a:lnTo>
                <a:lnTo>
                  <a:pt x="488871" y="509240"/>
                </a:lnTo>
                <a:lnTo>
                  <a:pt x="0" y="5092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5" name="Freeform 15"/>
          <p:cNvSpPr/>
          <p:nvPr/>
        </p:nvSpPr>
        <p:spPr>
          <a:xfrm>
            <a:off x="10207290" y="4975024"/>
            <a:ext cx="203749" cy="626920"/>
          </a:xfrm>
          <a:custGeom>
            <a:avLst/>
            <a:gdLst/>
            <a:ahLst/>
            <a:cxnLst/>
            <a:rect l="l" t="t" r="r" b="b"/>
            <a:pathLst>
              <a:path w="203749" h="626920">
                <a:moveTo>
                  <a:pt x="0" y="0"/>
                </a:moveTo>
                <a:lnTo>
                  <a:pt x="203749" y="0"/>
                </a:lnTo>
                <a:lnTo>
                  <a:pt x="203749" y="626920"/>
                </a:lnTo>
                <a:lnTo>
                  <a:pt x="0" y="6269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6" name="Group 16"/>
          <p:cNvGrpSpPr/>
          <p:nvPr/>
        </p:nvGrpSpPr>
        <p:grpSpPr>
          <a:xfrm>
            <a:off x="0" y="-20784"/>
            <a:ext cx="18288000" cy="1204066"/>
            <a:chOff x="0" y="0"/>
            <a:chExt cx="4816593" cy="317120"/>
          </a:xfrm>
        </p:grpSpPr>
        <p:sp>
          <p:nvSpPr>
            <p:cNvPr id="17" name="Freeform 17"/>
            <p:cNvSpPr/>
            <p:nvPr/>
          </p:nvSpPr>
          <p:spPr>
            <a:xfrm>
              <a:off x="0" y="0"/>
              <a:ext cx="4816592" cy="317120"/>
            </a:xfrm>
            <a:custGeom>
              <a:avLst/>
              <a:gdLst/>
              <a:ahLst/>
              <a:cxnLst/>
              <a:rect l="l" t="t" r="r" b="b"/>
              <a:pathLst>
                <a:path w="4816592" h="317120">
                  <a:moveTo>
                    <a:pt x="0" y="0"/>
                  </a:moveTo>
                  <a:lnTo>
                    <a:pt x="4816592" y="0"/>
                  </a:lnTo>
                  <a:lnTo>
                    <a:pt x="4816592" y="317120"/>
                  </a:lnTo>
                  <a:lnTo>
                    <a:pt x="0" y="317120"/>
                  </a:lnTo>
                  <a:close/>
                </a:path>
              </a:pathLst>
            </a:custGeom>
            <a:solidFill>
              <a:srgbClr val="355688"/>
            </a:solidFill>
          </p:spPr>
          <p:txBody>
            <a:bodyPr/>
            <a:lstStyle/>
            <a:p>
              <a:endParaRPr lang="en-US"/>
            </a:p>
          </p:txBody>
        </p:sp>
        <p:sp>
          <p:nvSpPr>
            <p:cNvPr id="18" name="TextBox 18"/>
            <p:cNvSpPr txBox="1"/>
            <p:nvPr/>
          </p:nvSpPr>
          <p:spPr>
            <a:xfrm>
              <a:off x="0" y="66675"/>
              <a:ext cx="4816593" cy="250445"/>
            </a:xfrm>
            <a:prstGeom prst="rect">
              <a:avLst/>
            </a:prstGeom>
          </p:spPr>
          <p:txBody>
            <a:bodyPr lIns="50800" tIns="50800" rIns="50800" bIns="50800" rtlCol="0" anchor="ctr"/>
            <a:lstStyle/>
            <a:p>
              <a:pPr algn="ctr">
                <a:lnSpc>
                  <a:spcPts val="2249"/>
                </a:lnSpc>
              </a:pPr>
              <a:endParaRPr/>
            </a:p>
          </p:txBody>
        </p:sp>
      </p:grpSp>
      <p:sp>
        <p:nvSpPr>
          <p:cNvPr id="19" name="TextBox 19"/>
          <p:cNvSpPr txBox="1"/>
          <p:nvPr/>
        </p:nvSpPr>
        <p:spPr>
          <a:xfrm>
            <a:off x="1028700" y="316507"/>
            <a:ext cx="16037461" cy="866776"/>
          </a:xfrm>
          <a:prstGeom prst="rect">
            <a:avLst/>
          </a:prstGeom>
        </p:spPr>
        <p:txBody>
          <a:bodyPr lIns="0" tIns="0" rIns="0" bIns="0" rtlCol="0" anchor="t">
            <a:spAutoFit/>
          </a:bodyPr>
          <a:lstStyle/>
          <a:p>
            <a:pPr algn="ctr">
              <a:lnSpc>
                <a:spcPts val="5850"/>
              </a:lnSpc>
            </a:pPr>
            <a:r>
              <a:rPr lang="en-US" sz="6500" b="1" spc="-325">
                <a:solidFill>
                  <a:srgbClr val="F3F4F7"/>
                </a:solidFill>
                <a:latin typeface="Telegraf Bold"/>
                <a:ea typeface="Telegraf Bold"/>
                <a:cs typeface="Telegraf Bold"/>
                <a:sym typeface="Telegraf Bold"/>
              </a:rPr>
              <a:t>Understanding Dataset</a:t>
            </a:r>
          </a:p>
        </p:txBody>
      </p:sp>
      <p:sp>
        <p:nvSpPr>
          <p:cNvPr id="20" name="TextBox 20"/>
          <p:cNvSpPr txBox="1"/>
          <p:nvPr/>
        </p:nvSpPr>
        <p:spPr>
          <a:xfrm>
            <a:off x="1126225" y="1996357"/>
            <a:ext cx="3655286" cy="533398"/>
          </a:xfrm>
          <a:prstGeom prst="rect">
            <a:avLst/>
          </a:prstGeom>
        </p:spPr>
        <p:txBody>
          <a:bodyPr lIns="0" tIns="0" rIns="0" bIns="0" rtlCol="0" anchor="t">
            <a:spAutoFit/>
          </a:bodyPr>
          <a:lstStyle/>
          <a:p>
            <a:pPr algn="ctr">
              <a:lnSpc>
                <a:spcPts val="3599"/>
              </a:lnSpc>
            </a:pPr>
            <a:r>
              <a:rPr lang="en-US" sz="3999" b="1">
                <a:solidFill>
                  <a:srgbClr val="FFFFFF"/>
                </a:solidFill>
                <a:latin typeface="Telegraf Bold"/>
                <a:ea typeface="Telegraf Bold"/>
                <a:cs typeface="Telegraf Bold"/>
                <a:sym typeface="Telegraf Bold"/>
              </a:rPr>
              <a:t>336,776</a:t>
            </a:r>
          </a:p>
        </p:txBody>
      </p:sp>
      <p:sp>
        <p:nvSpPr>
          <p:cNvPr id="21" name="TextBox 21"/>
          <p:cNvSpPr txBox="1"/>
          <p:nvPr/>
        </p:nvSpPr>
        <p:spPr>
          <a:xfrm>
            <a:off x="1125269" y="2845586"/>
            <a:ext cx="3655286" cy="293370"/>
          </a:xfrm>
          <a:prstGeom prst="rect">
            <a:avLst/>
          </a:prstGeom>
        </p:spPr>
        <p:txBody>
          <a:bodyPr lIns="0" tIns="0" rIns="0" bIns="0" rtlCol="0" anchor="t">
            <a:spAutoFit/>
          </a:bodyPr>
          <a:lstStyle/>
          <a:p>
            <a:pPr algn="ctr">
              <a:lnSpc>
                <a:spcPts val="1980"/>
              </a:lnSpc>
            </a:pPr>
            <a:r>
              <a:rPr lang="en-US" sz="2200" b="1">
                <a:solidFill>
                  <a:srgbClr val="F3F4F7"/>
                </a:solidFill>
                <a:latin typeface="Telegraf Bold"/>
                <a:ea typeface="Telegraf Bold"/>
                <a:cs typeface="Telegraf Bold"/>
                <a:sym typeface="Telegraf Bold"/>
              </a:rPr>
              <a:t>Original Flight Records</a:t>
            </a:r>
          </a:p>
        </p:txBody>
      </p:sp>
      <p:sp>
        <p:nvSpPr>
          <p:cNvPr id="22" name="TextBox 22"/>
          <p:cNvSpPr txBox="1"/>
          <p:nvPr/>
        </p:nvSpPr>
        <p:spPr>
          <a:xfrm>
            <a:off x="5249220" y="1996357"/>
            <a:ext cx="3655286" cy="533398"/>
          </a:xfrm>
          <a:prstGeom prst="rect">
            <a:avLst/>
          </a:prstGeom>
        </p:spPr>
        <p:txBody>
          <a:bodyPr lIns="0" tIns="0" rIns="0" bIns="0" rtlCol="0" anchor="t">
            <a:spAutoFit/>
          </a:bodyPr>
          <a:lstStyle/>
          <a:p>
            <a:pPr algn="ctr">
              <a:lnSpc>
                <a:spcPts val="3599"/>
              </a:lnSpc>
            </a:pPr>
            <a:r>
              <a:rPr lang="en-US" sz="3999" b="1">
                <a:solidFill>
                  <a:srgbClr val="F3F4F7"/>
                </a:solidFill>
                <a:latin typeface="Telegraf Bold"/>
                <a:ea typeface="Telegraf Bold"/>
                <a:cs typeface="Telegraf Bold"/>
                <a:sym typeface="Telegraf Bold"/>
              </a:rPr>
              <a:t>2013</a:t>
            </a:r>
          </a:p>
        </p:txBody>
      </p:sp>
      <p:sp>
        <p:nvSpPr>
          <p:cNvPr id="23" name="TextBox 23"/>
          <p:cNvSpPr txBox="1"/>
          <p:nvPr/>
        </p:nvSpPr>
        <p:spPr>
          <a:xfrm>
            <a:off x="5314911" y="2845586"/>
            <a:ext cx="3589595" cy="293370"/>
          </a:xfrm>
          <a:prstGeom prst="rect">
            <a:avLst/>
          </a:prstGeom>
        </p:spPr>
        <p:txBody>
          <a:bodyPr lIns="0" tIns="0" rIns="0" bIns="0" rtlCol="0" anchor="t">
            <a:spAutoFit/>
          </a:bodyPr>
          <a:lstStyle/>
          <a:p>
            <a:pPr algn="ctr">
              <a:lnSpc>
                <a:spcPts val="1980"/>
              </a:lnSpc>
            </a:pPr>
            <a:r>
              <a:rPr lang="en-US" sz="2200" b="1">
                <a:solidFill>
                  <a:srgbClr val="F3F4F7"/>
                </a:solidFill>
                <a:latin typeface="Telegraf Bold"/>
                <a:ea typeface="Telegraf Bold"/>
                <a:cs typeface="Telegraf Bold"/>
                <a:sym typeface="Telegraf Bold"/>
              </a:rPr>
              <a:t>Year</a:t>
            </a:r>
          </a:p>
        </p:txBody>
      </p:sp>
      <p:sp>
        <p:nvSpPr>
          <p:cNvPr id="24" name="TextBox 24"/>
          <p:cNvSpPr txBox="1"/>
          <p:nvPr/>
        </p:nvSpPr>
        <p:spPr>
          <a:xfrm>
            <a:off x="9409302" y="1996357"/>
            <a:ext cx="3655286" cy="533398"/>
          </a:xfrm>
          <a:prstGeom prst="rect">
            <a:avLst/>
          </a:prstGeom>
        </p:spPr>
        <p:txBody>
          <a:bodyPr lIns="0" tIns="0" rIns="0" bIns="0" rtlCol="0" anchor="t">
            <a:spAutoFit/>
          </a:bodyPr>
          <a:lstStyle/>
          <a:p>
            <a:pPr algn="ctr">
              <a:lnSpc>
                <a:spcPts val="3599"/>
              </a:lnSpc>
            </a:pPr>
            <a:r>
              <a:rPr lang="en-US" sz="3999" b="1">
                <a:solidFill>
                  <a:srgbClr val="F3F4F7"/>
                </a:solidFill>
                <a:latin typeface="Telegraf Bold"/>
                <a:ea typeface="Telegraf Bold"/>
                <a:cs typeface="Telegraf Bold"/>
                <a:sym typeface="Telegraf Bold"/>
              </a:rPr>
              <a:t>3</a:t>
            </a:r>
          </a:p>
        </p:txBody>
      </p:sp>
      <p:sp>
        <p:nvSpPr>
          <p:cNvPr id="25" name="TextBox 25"/>
          <p:cNvSpPr txBox="1"/>
          <p:nvPr/>
        </p:nvSpPr>
        <p:spPr>
          <a:xfrm>
            <a:off x="13507445" y="1996357"/>
            <a:ext cx="3655286" cy="533398"/>
          </a:xfrm>
          <a:prstGeom prst="rect">
            <a:avLst/>
          </a:prstGeom>
        </p:spPr>
        <p:txBody>
          <a:bodyPr lIns="0" tIns="0" rIns="0" bIns="0" rtlCol="0" anchor="t">
            <a:spAutoFit/>
          </a:bodyPr>
          <a:lstStyle/>
          <a:p>
            <a:pPr algn="ctr">
              <a:lnSpc>
                <a:spcPts val="3599"/>
              </a:lnSpc>
            </a:pPr>
            <a:r>
              <a:rPr lang="en-US" sz="3999" b="1">
                <a:solidFill>
                  <a:srgbClr val="F3F4F7"/>
                </a:solidFill>
                <a:latin typeface="Telegraf Bold"/>
                <a:ea typeface="Telegraf Bold"/>
                <a:cs typeface="Telegraf Bold"/>
                <a:sym typeface="Telegraf Bold"/>
              </a:rPr>
              <a:t>≥ 15 min</a:t>
            </a:r>
          </a:p>
        </p:txBody>
      </p:sp>
      <p:sp>
        <p:nvSpPr>
          <p:cNvPr id="26" name="TextBox 26"/>
          <p:cNvSpPr txBox="1"/>
          <p:nvPr/>
        </p:nvSpPr>
        <p:spPr>
          <a:xfrm>
            <a:off x="9438861" y="2666516"/>
            <a:ext cx="3589595" cy="613410"/>
          </a:xfrm>
          <a:prstGeom prst="rect">
            <a:avLst/>
          </a:prstGeom>
        </p:spPr>
        <p:txBody>
          <a:bodyPr lIns="0" tIns="0" rIns="0" bIns="0" rtlCol="0" anchor="t">
            <a:spAutoFit/>
          </a:bodyPr>
          <a:lstStyle/>
          <a:p>
            <a:pPr algn="ctr">
              <a:lnSpc>
                <a:spcPts val="2310"/>
              </a:lnSpc>
            </a:pPr>
            <a:r>
              <a:rPr lang="en-US" sz="2200" b="1">
                <a:solidFill>
                  <a:srgbClr val="F3F4F7"/>
                </a:solidFill>
                <a:latin typeface="Telegraf Bold"/>
                <a:ea typeface="Telegraf Bold"/>
                <a:cs typeface="Telegraf Bold"/>
                <a:sym typeface="Telegraf Bold"/>
              </a:rPr>
              <a:t>Origin Airports</a:t>
            </a:r>
          </a:p>
          <a:p>
            <a:pPr algn="ctr">
              <a:lnSpc>
                <a:spcPts val="2310"/>
              </a:lnSpc>
            </a:pPr>
            <a:r>
              <a:rPr lang="en-US" sz="2200" b="1">
                <a:solidFill>
                  <a:srgbClr val="F3F4F7"/>
                </a:solidFill>
                <a:latin typeface="Telegraf Bold"/>
                <a:ea typeface="Telegraf Bold"/>
                <a:cs typeface="Telegraf Bold"/>
                <a:sym typeface="Telegraf Bold"/>
              </a:rPr>
              <a:t>(EWR, JFK, LGA)</a:t>
            </a:r>
          </a:p>
        </p:txBody>
      </p:sp>
      <p:sp>
        <p:nvSpPr>
          <p:cNvPr id="27" name="TextBox 27"/>
          <p:cNvSpPr txBox="1"/>
          <p:nvPr/>
        </p:nvSpPr>
        <p:spPr>
          <a:xfrm>
            <a:off x="13539813" y="2845586"/>
            <a:ext cx="3589595" cy="293370"/>
          </a:xfrm>
          <a:prstGeom prst="rect">
            <a:avLst/>
          </a:prstGeom>
        </p:spPr>
        <p:txBody>
          <a:bodyPr lIns="0" tIns="0" rIns="0" bIns="0" rtlCol="0" anchor="t">
            <a:spAutoFit/>
          </a:bodyPr>
          <a:lstStyle/>
          <a:p>
            <a:pPr algn="ctr">
              <a:lnSpc>
                <a:spcPts val="1980"/>
              </a:lnSpc>
            </a:pPr>
            <a:r>
              <a:rPr lang="en-US" sz="2200" b="1">
                <a:solidFill>
                  <a:srgbClr val="F3F4F7"/>
                </a:solidFill>
                <a:latin typeface="Telegraf Bold"/>
                <a:ea typeface="Telegraf Bold"/>
                <a:cs typeface="Telegraf Bold"/>
                <a:sym typeface="Telegraf Bold"/>
              </a:rPr>
              <a:t>Delay Threshold</a:t>
            </a:r>
          </a:p>
        </p:txBody>
      </p:sp>
      <p:sp>
        <p:nvSpPr>
          <p:cNvPr id="28" name="TextBox 28"/>
          <p:cNvSpPr txBox="1"/>
          <p:nvPr/>
        </p:nvSpPr>
        <p:spPr>
          <a:xfrm>
            <a:off x="1125269" y="3955059"/>
            <a:ext cx="16133075" cy="480059"/>
          </a:xfrm>
          <a:prstGeom prst="rect">
            <a:avLst/>
          </a:prstGeom>
        </p:spPr>
        <p:txBody>
          <a:bodyPr lIns="0" tIns="0" rIns="0" bIns="0" rtlCol="0" anchor="t">
            <a:spAutoFit/>
          </a:bodyPr>
          <a:lstStyle/>
          <a:p>
            <a:pPr algn="ctr">
              <a:lnSpc>
                <a:spcPts val="3239"/>
              </a:lnSpc>
            </a:pPr>
            <a:r>
              <a:rPr lang="en-US" sz="3599" b="1">
                <a:solidFill>
                  <a:srgbClr val="545454"/>
                </a:solidFill>
                <a:latin typeface="Telegraf Bold"/>
                <a:ea typeface="Telegraf Bold"/>
                <a:cs typeface="Telegraf Bold"/>
                <a:sym typeface="Telegraf Bold"/>
              </a:rPr>
              <a:t>Binary Target Class Definition: Target variable → (is_delayed)</a:t>
            </a:r>
          </a:p>
        </p:txBody>
      </p:sp>
      <p:sp>
        <p:nvSpPr>
          <p:cNvPr id="29" name="TextBox 29"/>
          <p:cNvSpPr txBox="1"/>
          <p:nvPr/>
        </p:nvSpPr>
        <p:spPr>
          <a:xfrm>
            <a:off x="2733107" y="5041699"/>
            <a:ext cx="5396287" cy="533398"/>
          </a:xfrm>
          <a:prstGeom prst="rect">
            <a:avLst/>
          </a:prstGeom>
        </p:spPr>
        <p:txBody>
          <a:bodyPr lIns="0" tIns="0" rIns="0" bIns="0" rtlCol="0" anchor="t">
            <a:spAutoFit/>
          </a:bodyPr>
          <a:lstStyle/>
          <a:p>
            <a:pPr algn="l">
              <a:lnSpc>
                <a:spcPts val="3599"/>
              </a:lnSpc>
            </a:pPr>
            <a:r>
              <a:rPr lang="en-US" sz="3999" b="1" spc="175">
                <a:solidFill>
                  <a:srgbClr val="355688"/>
                </a:solidFill>
                <a:latin typeface="Telegraf Bold"/>
                <a:ea typeface="Telegraf Bold"/>
                <a:cs typeface="Telegraf Bold"/>
                <a:sym typeface="Telegraf Bold"/>
              </a:rPr>
              <a:t>Class 0: NOT LATE</a:t>
            </a:r>
          </a:p>
        </p:txBody>
      </p:sp>
      <p:sp>
        <p:nvSpPr>
          <p:cNvPr id="30" name="TextBox 30"/>
          <p:cNvSpPr txBox="1"/>
          <p:nvPr/>
        </p:nvSpPr>
        <p:spPr>
          <a:xfrm>
            <a:off x="2733107" y="5889422"/>
            <a:ext cx="4160199" cy="320040"/>
          </a:xfrm>
          <a:prstGeom prst="rect">
            <a:avLst/>
          </a:prstGeom>
        </p:spPr>
        <p:txBody>
          <a:bodyPr lIns="0" tIns="0" rIns="0" bIns="0" rtlCol="0" anchor="t">
            <a:spAutoFit/>
          </a:bodyPr>
          <a:lstStyle/>
          <a:p>
            <a:pPr algn="l">
              <a:lnSpc>
                <a:spcPts val="2160"/>
              </a:lnSpc>
            </a:pPr>
            <a:r>
              <a:rPr lang="en-US" sz="2400" b="1">
                <a:solidFill>
                  <a:srgbClr val="545454"/>
                </a:solidFill>
                <a:latin typeface="Telegraf Bold"/>
                <a:ea typeface="Telegraf Bold"/>
                <a:cs typeface="Telegraf Bold"/>
                <a:sym typeface="Telegraf Bold"/>
              </a:rPr>
              <a:t>Arrival delay &lt; 15 minutes</a:t>
            </a:r>
          </a:p>
        </p:txBody>
      </p:sp>
      <p:sp>
        <p:nvSpPr>
          <p:cNvPr id="31" name="TextBox 31"/>
          <p:cNvSpPr txBox="1"/>
          <p:nvPr/>
        </p:nvSpPr>
        <p:spPr>
          <a:xfrm>
            <a:off x="10930498" y="5068545"/>
            <a:ext cx="4681367" cy="533398"/>
          </a:xfrm>
          <a:prstGeom prst="rect">
            <a:avLst/>
          </a:prstGeom>
        </p:spPr>
        <p:txBody>
          <a:bodyPr lIns="0" tIns="0" rIns="0" bIns="0" rtlCol="0" anchor="t">
            <a:spAutoFit/>
          </a:bodyPr>
          <a:lstStyle/>
          <a:p>
            <a:pPr algn="l">
              <a:lnSpc>
                <a:spcPts val="3599"/>
              </a:lnSpc>
            </a:pPr>
            <a:r>
              <a:rPr lang="en-US" sz="3999" b="1" spc="175">
                <a:solidFill>
                  <a:srgbClr val="355688"/>
                </a:solidFill>
                <a:latin typeface="Telegraf Bold"/>
                <a:ea typeface="Telegraf Bold"/>
                <a:cs typeface="Telegraf Bold"/>
                <a:sym typeface="Telegraf Bold"/>
              </a:rPr>
              <a:t>Class 1: LATE</a:t>
            </a:r>
          </a:p>
        </p:txBody>
      </p:sp>
      <p:sp>
        <p:nvSpPr>
          <p:cNvPr id="32" name="TextBox 32"/>
          <p:cNvSpPr txBox="1"/>
          <p:nvPr/>
        </p:nvSpPr>
        <p:spPr>
          <a:xfrm>
            <a:off x="10930498" y="5918701"/>
            <a:ext cx="4160199" cy="320040"/>
          </a:xfrm>
          <a:prstGeom prst="rect">
            <a:avLst/>
          </a:prstGeom>
        </p:spPr>
        <p:txBody>
          <a:bodyPr lIns="0" tIns="0" rIns="0" bIns="0" rtlCol="0" anchor="t">
            <a:spAutoFit/>
          </a:bodyPr>
          <a:lstStyle/>
          <a:p>
            <a:pPr algn="l">
              <a:lnSpc>
                <a:spcPts val="2160"/>
              </a:lnSpc>
            </a:pPr>
            <a:r>
              <a:rPr lang="en-US" sz="2400" b="1">
                <a:solidFill>
                  <a:srgbClr val="545454"/>
                </a:solidFill>
                <a:latin typeface="Telegraf Bold"/>
                <a:ea typeface="Telegraf Bold"/>
                <a:cs typeface="Telegraf Bold"/>
                <a:sym typeface="Telegraf Bold"/>
              </a:rPr>
              <a:t>Arrival delay ≥ 15 minutes</a:t>
            </a:r>
          </a:p>
        </p:txBody>
      </p:sp>
      <p:sp>
        <p:nvSpPr>
          <p:cNvPr id="33" name="TextBox 33"/>
          <p:cNvSpPr txBox="1"/>
          <p:nvPr/>
        </p:nvSpPr>
        <p:spPr>
          <a:xfrm>
            <a:off x="1221839" y="6856309"/>
            <a:ext cx="16037461" cy="369570"/>
          </a:xfrm>
          <a:prstGeom prst="rect">
            <a:avLst/>
          </a:prstGeom>
        </p:spPr>
        <p:txBody>
          <a:bodyPr lIns="0" tIns="0" rIns="0" bIns="0" rtlCol="0" anchor="t">
            <a:spAutoFit/>
          </a:bodyPr>
          <a:lstStyle/>
          <a:p>
            <a:pPr algn="ctr">
              <a:lnSpc>
                <a:spcPts val="2429"/>
              </a:lnSpc>
            </a:pPr>
            <a:r>
              <a:rPr lang="en-US" sz="2699" b="1">
                <a:solidFill>
                  <a:srgbClr val="355688"/>
                </a:solidFill>
                <a:latin typeface="Telegraf Bold"/>
                <a:ea typeface="Telegraf Bold"/>
                <a:cs typeface="Telegraf Bold"/>
                <a:sym typeface="Telegraf Bold"/>
              </a:rPr>
              <a:t>Previous day, 8 PM → Model predicts → Next day's arrival</a:t>
            </a:r>
          </a:p>
        </p:txBody>
      </p:sp>
      <p:sp>
        <p:nvSpPr>
          <p:cNvPr id="34" name="TextBox 34"/>
          <p:cNvSpPr txBox="1"/>
          <p:nvPr/>
        </p:nvSpPr>
        <p:spPr>
          <a:xfrm>
            <a:off x="999853" y="7387804"/>
            <a:ext cx="16038576" cy="412623"/>
          </a:xfrm>
          <a:prstGeom prst="rect">
            <a:avLst/>
          </a:prstGeom>
        </p:spPr>
        <p:txBody>
          <a:bodyPr lIns="0" tIns="0" rIns="0" bIns="0" rtlCol="0" anchor="t">
            <a:spAutoFit/>
          </a:bodyPr>
          <a:lstStyle/>
          <a:p>
            <a:pPr algn="l">
              <a:lnSpc>
                <a:spcPts val="2639"/>
              </a:lnSpc>
            </a:pPr>
            <a:r>
              <a:rPr lang="en-US" sz="2199" b="1">
                <a:solidFill>
                  <a:srgbClr val="355688"/>
                </a:solidFill>
                <a:latin typeface="Telegraf Bold"/>
                <a:ea typeface="Telegraf Bold"/>
                <a:cs typeface="Telegraf Bold"/>
                <a:sym typeface="Telegraf Bold"/>
              </a:rPr>
              <a:t>Chronological split</a:t>
            </a:r>
            <a:r>
              <a:rPr lang="en-US" sz="2199">
                <a:solidFill>
                  <a:srgbClr val="545454"/>
                </a:solidFill>
                <a:latin typeface="Telegraf"/>
                <a:ea typeface="Telegraf"/>
                <a:cs typeface="Telegraf"/>
                <a:sym typeface="Telegraf"/>
              </a:rPr>
              <a:t>  (train on the past, test on the future; no shuffling)</a:t>
            </a:r>
          </a:p>
        </p:txBody>
      </p:sp>
      <p:grpSp>
        <p:nvGrpSpPr>
          <p:cNvPr id="35" name="Group 35"/>
          <p:cNvGrpSpPr/>
          <p:nvPr/>
        </p:nvGrpSpPr>
        <p:grpSpPr>
          <a:xfrm>
            <a:off x="981787" y="7836789"/>
            <a:ext cx="10661904" cy="1234440"/>
            <a:chOff x="0" y="0"/>
            <a:chExt cx="14215872" cy="1645920"/>
          </a:xfrm>
        </p:grpSpPr>
        <p:sp>
          <p:nvSpPr>
            <p:cNvPr id="36" name="Freeform 36"/>
            <p:cNvSpPr/>
            <p:nvPr/>
          </p:nvSpPr>
          <p:spPr>
            <a:xfrm>
              <a:off x="0" y="0"/>
              <a:ext cx="14215872" cy="1645920"/>
            </a:xfrm>
            <a:custGeom>
              <a:avLst/>
              <a:gdLst/>
              <a:ahLst/>
              <a:cxnLst/>
              <a:rect l="l" t="t" r="r" b="b"/>
              <a:pathLst>
                <a:path w="14215872" h="1645920">
                  <a:moveTo>
                    <a:pt x="0" y="131699"/>
                  </a:moveTo>
                  <a:cubicBezTo>
                    <a:pt x="0" y="58928"/>
                    <a:pt x="58928" y="0"/>
                    <a:pt x="131699" y="0"/>
                  </a:cubicBezTo>
                  <a:lnTo>
                    <a:pt x="14084173" y="0"/>
                  </a:lnTo>
                  <a:cubicBezTo>
                    <a:pt x="14156944" y="0"/>
                    <a:pt x="14215872" y="58928"/>
                    <a:pt x="14215872" y="131699"/>
                  </a:cubicBezTo>
                  <a:lnTo>
                    <a:pt x="14215872" y="1514221"/>
                  </a:lnTo>
                  <a:cubicBezTo>
                    <a:pt x="14215872" y="1586992"/>
                    <a:pt x="14156944" y="1645920"/>
                    <a:pt x="14084173" y="1645920"/>
                  </a:cubicBezTo>
                  <a:lnTo>
                    <a:pt x="131699" y="1645920"/>
                  </a:lnTo>
                  <a:cubicBezTo>
                    <a:pt x="58928" y="1645920"/>
                    <a:pt x="0" y="1586992"/>
                    <a:pt x="0" y="1514221"/>
                  </a:cubicBezTo>
                  <a:close/>
                </a:path>
              </a:pathLst>
            </a:custGeom>
            <a:solidFill>
              <a:srgbClr val="355688"/>
            </a:solidFill>
          </p:spPr>
          <p:txBody>
            <a:bodyPr/>
            <a:lstStyle/>
            <a:p>
              <a:endParaRPr lang="en-US"/>
            </a:p>
          </p:txBody>
        </p:sp>
      </p:grpSp>
      <p:grpSp>
        <p:nvGrpSpPr>
          <p:cNvPr id="37" name="Group 37"/>
          <p:cNvGrpSpPr/>
          <p:nvPr/>
        </p:nvGrpSpPr>
        <p:grpSpPr>
          <a:xfrm>
            <a:off x="1164667" y="7928229"/>
            <a:ext cx="10296144" cy="1051560"/>
            <a:chOff x="0" y="0"/>
            <a:chExt cx="13728192" cy="1402080"/>
          </a:xfrm>
        </p:grpSpPr>
        <p:sp>
          <p:nvSpPr>
            <p:cNvPr id="38" name="Freeform 38"/>
            <p:cNvSpPr/>
            <p:nvPr/>
          </p:nvSpPr>
          <p:spPr>
            <a:xfrm>
              <a:off x="0" y="0"/>
              <a:ext cx="13728192" cy="1402080"/>
            </a:xfrm>
            <a:custGeom>
              <a:avLst/>
              <a:gdLst/>
              <a:ahLst/>
              <a:cxnLst/>
              <a:rect l="l" t="t" r="r" b="b"/>
              <a:pathLst>
                <a:path w="13728192" h="1402080">
                  <a:moveTo>
                    <a:pt x="0" y="0"/>
                  </a:moveTo>
                  <a:lnTo>
                    <a:pt x="13728192" y="0"/>
                  </a:lnTo>
                  <a:lnTo>
                    <a:pt x="13728192" y="1402080"/>
                  </a:lnTo>
                  <a:lnTo>
                    <a:pt x="0" y="1402080"/>
                  </a:lnTo>
                  <a:close/>
                </a:path>
              </a:pathLst>
            </a:custGeom>
            <a:blipFill>
              <a:blip r:embed="rId4">
                <a:alphaModFix amt="0"/>
              </a:blip>
              <a:stretch>
                <a:fillRect t="-140783" b="-140783"/>
              </a:stretch>
            </a:blipFill>
          </p:spPr>
          <p:txBody>
            <a:bodyPr/>
            <a:lstStyle/>
            <a:p>
              <a:endParaRPr lang="en-US"/>
            </a:p>
          </p:txBody>
        </p:sp>
        <p:sp>
          <p:nvSpPr>
            <p:cNvPr id="39" name="TextBox 39"/>
            <p:cNvSpPr txBox="1"/>
            <p:nvPr/>
          </p:nvSpPr>
          <p:spPr>
            <a:xfrm>
              <a:off x="0" y="-28575"/>
              <a:ext cx="13728192" cy="1430655"/>
            </a:xfrm>
            <a:prstGeom prst="rect">
              <a:avLst/>
            </a:prstGeom>
          </p:spPr>
          <p:txBody>
            <a:bodyPr lIns="0" tIns="0" rIns="0" bIns="0" rtlCol="0" anchor="ctr"/>
            <a:lstStyle/>
            <a:p>
              <a:pPr algn="l">
                <a:lnSpc>
                  <a:spcPts val="2639"/>
                </a:lnSpc>
              </a:pPr>
              <a:r>
                <a:rPr lang="en-US" sz="2199" b="1">
                  <a:solidFill>
                    <a:srgbClr val="FFFFFF"/>
                  </a:solidFill>
                  <a:latin typeface="Telegraf Bold"/>
                  <a:ea typeface="Telegraf Bold"/>
                  <a:cs typeface="Telegraf Bold"/>
                  <a:sym typeface="Telegraf Bold"/>
                </a:rPr>
                <a:t>TRAIN</a:t>
              </a:r>
            </a:p>
            <a:p>
              <a:pPr algn="l">
                <a:lnSpc>
                  <a:spcPts val="2279"/>
                </a:lnSpc>
              </a:pPr>
              <a:r>
                <a:rPr lang="en-US" sz="1899">
                  <a:solidFill>
                    <a:srgbClr val="FFFFFF"/>
                  </a:solidFill>
                  <a:latin typeface="Telegraf"/>
                  <a:ea typeface="Telegraf"/>
                  <a:cs typeface="Telegraf"/>
                  <a:sym typeface="Telegraf"/>
                </a:rPr>
                <a:t>8 Jan – 31 Aug 2013</a:t>
              </a:r>
            </a:p>
            <a:p>
              <a:pPr algn="l">
                <a:lnSpc>
                  <a:spcPts val="2279"/>
                </a:lnSpc>
              </a:pPr>
              <a:r>
                <a:rPr lang="en-US" sz="1899" b="1">
                  <a:solidFill>
                    <a:srgbClr val="FFFFFF"/>
                  </a:solidFill>
                  <a:latin typeface="Telegraf Bold"/>
                  <a:ea typeface="Telegraf Bold"/>
                  <a:cs typeface="Telegraf Bold"/>
                  <a:sym typeface="Telegraf Bold"/>
                </a:rPr>
                <a:t>211,684 flights · 26.5% late</a:t>
              </a:r>
            </a:p>
          </p:txBody>
        </p:sp>
      </p:grpSp>
      <p:grpSp>
        <p:nvGrpSpPr>
          <p:cNvPr id="40" name="Group 40"/>
          <p:cNvGrpSpPr/>
          <p:nvPr/>
        </p:nvGrpSpPr>
        <p:grpSpPr>
          <a:xfrm>
            <a:off x="11689411" y="7836789"/>
            <a:ext cx="2633472" cy="1234440"/>
            <a:chOff x="0" y="0"/>
            <a:chExt cx="3511296" cy="1645920"/>
          </a:xfrm>
        </p:grpSpPr>
        <p:sp>
          <p:nvSpPr>
            <p:cNvPr id="41" name="Freeform 41"/>
            <p:cNvSpPr/>
            <p:nvPr/>
          </p:nvSpPr>
          <p:spPr>
            <a:xfrm>
              <a:off x="0" y="0"/>
              <a:ext cx="3511296" cy="1645920"/>
            </a:xfrm>
            <a:custGeom>
              <a:avLst/>
              <a:gdLst/>
              <a:ahLst/>
              <a:cxnLst/>
              <a:rect l="l" t="t" r="r" b="b"/>
              <a:pathLst>
                <a:path w="3511296" h="1645920">
                  <a:moveTo>
                    <a:pt x="0" y="131699"/>
                  </a:moveTo>
                  <a:cubicBezTo>
                    <a:pt x="0" y="58928"/>
                    <a:pt x="58928" y="0"/>
                    <a:pt x="131699" y="0"/>
                  </a:cubicBezTo>
                  <a:lnTo>
                    <a:pt x="3379597" y="0"/>
                  </a:lnTo>
                  <a:cubicBezTo>
                    <a:pt x="3452368" y="0"/>
                    <a:pt x="3511296" y="58928"/>
                    <a:pt x="3511296" y="131699"/>
                  </a:cubicBezTo>
                  <a:lnTo>
                    <a:pt x="3511296" y="1514221"/>
                  </a:lnTo>
                  <a:cubicBezTo>
                    <a:pt x="3511296" y="1586992"/>
                    <a:pt x="3452368" y="1645920"/>
                    <a:pt x="3379597" y="1645920"/>
                  </a:cubicBezTo>
                  <a:lnTo>
                    <a:pt x="131699" y="1645920"/>
                  </a:lnTo>
                  <a:cubicBezTo>
                    <a:pt x="58928" y="1645920"/>
                    <a:pt x="0" y="1586992"/>
                    <a:pt x="0" y="1514221"/>
                  </a:cubicBezTo>
                  <a:close/>
                </a:path>
              </a:pathLst>
            </a:custGeom>
            <a:solidFill>
              <a:srgbClr val="545454"/>
            </a:solidFill>
          </p:spPr>
          <p:txBody>
            <a:bodyPr/>
            <a:lstStyle/>
            <a:p>
              <a:endParaRPr lang="en-US"/>
            </a:p>
          </p:txBody>
        </p:sp>
      </p:grpSp>
      <p:grpSp>
        <p:nvGrpSpPr>
          <p:cNvPr id="42" name="Group 42"/>
          <p:cNvGrpSpPr/>
          <p:nvPr/>
        </p:nvGrpSpPr>
        <p:grpSpPr>
          <a:xfrm>
            <a:off x="11872291" y="7928229"/>
            <a:ext cx="2267712" cy="1051560"/>
            <a:chOff x="0" y="0"/>
            <a:chExt cx="3023616" cy="1402080"/>
          </a:xfrm>
        </p:grpSpPr>
        <p:sp>
          <p:nvSpPr>
            <p:cNvPr id="43" name="Freeform 43"/>
            <p:cNvSpPr/>
            <p:nvPr/>
          </p:nvSpPr>
          <p:spPr>
            <a:xfrm>
              <a:off x="0" y="0"/>
              <a:ext cx="3023616" cy="1402080"/>
            </a:xfrm>
            <a:custGeom>
              <a:avLst/>
              <a:gdLst/>
              <a:ahLst/>
              <a:cxnLst/>
              <a:rect l="l" t="t" r="r" b="b"/>
              <a:pathLst>
                <a:path w="3023616" h="1402080">
                  <a:moveTo>
                    <a:pt x="0" y="0"/>
                  </a:moveTo>
                  <a:lnTo>
                    <a:pt x="3023616" y="0"/>
                  </a:lnTo>
                  <a:lnTo>
                    <a:pt x="3023616" y="1402080"/>
                  </a:lnTo>
                  <a:lnTo>
                    <a:pt x="0" y="1402080"/>
                  </a:lnTo>
                  <a:close/>
                </a:path>
              </a:pathLst>
            </a:custGeom>
            <a:blipFill>
              <a:blip r:embed="rId4">
                <a:alphaModFix amt="0"/>
              </a:blip>
              <a:stretch>
                <a:fillRect l="-9495" r="-9495"/>
              </a:stretch>
            </a:blipFill>
          </p:spPr>
          <p:txBody>
            <a:bodyPr/>
            <a:lstStyle/>
            <a:p>
              <a:endParaRPr lang="en-US"/>
            </a:p>
          </p:txBody>
        </p:sp>
        <p:sp>
          <p:nvSpPr>
            <p:cNvPr id="44" name="TextBox 44"/>
            <p:cNvSpPr txBox="1"/>
            <p:nvPr/>
          </p:nvSpPr>
          <p:spPr>
            <a:xfrm>
              <a:off x="0" y="-28575"/>
              <a:ext cx="3023616" cy="1430655"/>
            </a:xfrm>
            <a:prstGeom prst="rect">
              <a:avLst/>
            </a:prstGeom>
          </p:spPr>
          <p:txBody>
            <a:bodyPr lIns="0" tIns="0" rIns="0" bIns="0" rtlCol="0" anchor="ctr"/>
            <a:lstStyle/>
            <a:p>
              <a:pPr algn="l">
                <a:lnSpc>
                  <a:spcPts val="2639"/>
                </a:lnSpc>
              </a:pPr>
              <a:r>
                <a:rPr lang="en-US" sz="2199" b="1">
                  <a:solidFill>
                    <a:srgbClr val="FFFFFF"/>
                  </a:solidFill>
                  <a:latin typeface="Telegraf Bold"/>
                  <a:ea typeface="Telegraf Bold"/>
                  <a:cs typeface="Telegraf Bold"/>
                  <a:sym typeface="Telegraf Bold"/>
                </a:rPr>
                <a:t>CALIBRATION</a:t>
              </a:r>
            </a:p>
            <a:p>
              <a:pPr algn="l">
                <a:lnSpc>
                  <a:spcPts val="2279"/>
                </a:lnSpc>
              </a:pPr>
              <a:r>
                <a:rPr lang="en-US" sz="1899">
                  <a:solidFill>
                    <a:srgbClr val="FFFFFF"/>
                  </a:solidFill>
                  <a:latin typeface="Telegraf"/>
                  <a:ea typeface="Telegraf"/>
                  <a:cs typeface="Telegraf"/>
                  <a:sym typeface="Telegraf"/>
                </a:rPr>
                <a:t>Sep – Oct</a:t>
              </a:r>
            </a:p>
            <a:p>
              <a:pPr algn="l">
                <a:lnSpc>
                  <a:spcPts val="2279"/>
                </a:lnSpc>
              </a:pPr>
              <a:r>
                <a:rPr lang="en-US" sz="1899" b="1">
                  <a:solidFill>
                    <a:srgbClr val="FFFFFF"/>
                  </a:solidFill>
                  <a:latin typeface="Telegraf Bold"/>
                  <a:ea typeface="Telegraf Bold"/>
                  <a:cs typeface="Telegraf Bold"/>
                  <a:sym typeface="Telegraf Bold"/>
                </a:rPr>
                <a:t>55,628 · 15.7% late</a:t>
              </a:r>
            </a:p>
          </p:txBody>
        </p:sp>
      </p:grpSp>
      <p:grpSp>
        <p:nvGrpSpPr>
          <p:cNvPr id="45" name="Group 45"/>
          <p:cNvGrpSpPr/>
          <p:nvPr/>
        </p:nvGrpSpPr>
        <p:grpSpPr>
          <a:xfrm>
            <a:off x="14368603" y="7836789"/>
            <a:ext cx="2651760" cy="1234440"/>
            <a:chOff x="0" y="0"/>
            <a:chExt cx="3535680" cy="1645920"/>
          </a:xfrm>
        </p:grpSpPr>
        <p:sp>
          <p:nvSpPr>
            <p:cNvPr id="46" name="Freeform 46"/>
            <p:cNvSpPr/>
            <p:nvPr/>
          </p:nvSpPr>
          <p:spPr>
            <a:xfrm>
              <a:off x="0" y="0"/>
              <a:ext cx="3535680" cy="1645920"/>
            </a:xfrm>
            <a:custGeom>
              <a:avLst/>
              <a:gdLst/>
              <a:ahLst/>
              <a:cxnLst/>
              <a:rect l="l" t="t" r="r" b="b"/>
              <a:pathLst>
                <a:path w="3535680" h="1645920">
                  <a:moveTo>
                    <a:pt x="0" y="131699"/>
                  </a:moveTo>
                  <a:cubicBezTo>
                    <a:pt x="0" y="58928"/>
                    <a:pt x="58928" y="0"/>
                    <a:pt x="131699" y="0"/>
                  </a:cubicBezTo>
                  <a:lnTo>
                    <a:pt x="3403981" y="0"/>
                  </a:lnTo>
                  <a:cubicBezTo>
                    <a:pt x="3476752" y="0"/>
                    <a:pt x="3535680" y="58928"/>
                    <a:pt x="3535680" y="131699"/>
                  </a:cubicBezTo>
                  <a:lnTo>
                    <a:pt x="3535680" y="1514221"/>
                  </a:lnTo>
                  <a:cubicBezTo>
                    <a:pt x="3535680" y="1586992"/>
                    <a:pt x="3476752" y="1645920"/>
                    <a:pt x="3403981" y="1645920"/>
                  </a:cubicBezTo>
                  <a:lnTo>
                    <a:pt x="131699" y="1645920"/>
                  </a:lnTo>
                  <a:cubicBezTo>
                    <a:pt x="58928" y="1645920"/>
                    <a:pt x="0" y="1586992"/>
                    <a:pt x="0" y="1514221"/>
                  </a:cubicBezTo>
                  <a:close/>
                </a:path>
              </a:pathLst>
            </a:custGeom>
            <a:solidFill>
              <a:srgbClr val="071125"/>
            </a:solidFill>
          </p:spPr>
          <p:txBody>
            <a:bodyPr/>
            <a:lstStyle/>
            <a:p>
              <a:endParaRPr lang="en-US"/>
            </a:p>
          </p:txBody>
        </p:sp>
      </p:grpSp>
      <p:grpSp>
        <p:nvGrpSpPr>
          <p:cNvPr id="47" name="Group 47"/>
          <p:cNvGrpSpPr/>
          <p:nvPr/>
        </p:nvGrpSpPr>
        <p:grpSpPr>
          <a:xfrm>
            <a:off x="14468865" y="7928229"/>
            <a:ext cx="2286000" cy="1051560"/>
            <a:chOff x="0" y="0"/>
            <a:chExt cx="3048000" cy="1402080"/>
          </a:xfrm>
        </p:grpSpPr>
        <p:sp>
          <p:nvSpPr>
            <p:cNvPr id="48" name="Freeform 48"/>
            <p:cNvSpPr/>
            <p:nvPr/>
          </p:nvSpPr>
          <p:spPr>
            <a:xfrm>
              <a:off x="0" y="0"/>
              <a:ext cx="3048000" cy="1402080"/>
            </a:xfrm>
            <a:custGeom>
              <a:avLst/>
              <a:gdLst/>
              <a:ahLst/>
              <a:cxnLst/>
              <a:rect l="l" t="t" r="r" b="b"/>
              <a:pathLst>
                <a:path w="3048000" h="1402080">
                  <a:moveTo>
                    <a:pt x="0" y="0"/>
                  </a:moveTo>
                  <a:lnTo>
                    <a:pt x="3048000" y="0"/>
                  </a:lnTo>
                  <a:lnTo>
                    <a:pt x="3048000" y="1402080"/>
                  </a:lnTo>
                  <a:lnTo>
                    <a:pt x="0" y="1402080"/>
                  </a:lnTo>
                  <a:close/>
                </a:path>
              </a:pathLst>
            </a:custGeom>
            <a:blipFill>
              <a:blip r:embed="rId4">
                <a:alphaModFix amt="0"/>
              </a:blip>
              <a:stretch>
                <a:fillRect l="-9019" r="-9019"/>
              </a:stretch>
            </a:blipFill>
          </p:spPr>
          <p:txBody>
            <a:bodyPr/>
            <a:lstStyle/>
            <a:p>
              <a:endParaRPr lang="en-US"/>
            </a:p>
          </p:txBody>
        </p:sp>
        <p:sp>
          <p:nvSpPr>
            <p:cNvPr id="49" name="TextBox 49"/>
            <p:cNvSpPr txBox="1"/>
            <p:nvPr/>
          </p:nvSpPr>
          <p:spPr>
            <a:xfrm>
              <a:off x="0" y="-28575"/>
              <a:ext cx="3048000" cy="1430655"/>
            </a:xfrm>
            <a:prstGeom prst="rect">
              <a:avLst/>
            </a:prstGeom>
          </p:spPr>
          <p:txBody>
            <a:bodyPr lIns="0" tIns="0" rIns="0" bIns="0" rtlCol="0" anchor="ctr"/>
            <a:lstStyle/>
            <a:p>
              <a:pPr algn="l">
                <a:lnSpc>
                  <a:spcPts val="2639"/>
                </a:lnSpc>
              </a:pPr>
              <a:r>
                <a:rPr lang="en-US" sz="2199" b="1">
                  <a:solidFill>
                    <a:srgbClr val="FFFFFF"/>
                  </a:solidFill>
                  <a:latin typeface="Telegraf Bold"/>
                  <a:ea typeface="Telegraf Bold"/>
                  <a:cs typeface="Telegraf Bold"/>
                  <a:sym typeface="Telegraf Bold"/>
                </a:rPr>
                <a:t>TEST</a:t>
              </a:r>
            </a:p>
            <a:p>
              <a:pPr algn="l">
                <a:lnSpc>
                  <a:spcPts val="2279"/>
                </a:lnSpc>
              </a:pPr>
              <a:r>
                <a:rPr lang="en-US" sz="1899">
                  <a:solidFill>
                    <a:srgbClr val="FFFFFF"/>
                  </a:solidFill>
                  <a:latin typeface="Telegraf"/>
                  <a:ea typeface="Telegraf"/>
                  <a:cs typeface="Telegraf"/>
                  <a:sym typeface="Telegraf"/>
                </a:rPr>
                <a:t>Nov – Dec</a:t>
              </a:r>
            </a:p>
            <a:p>
              <a:pPr algn="l">
                <a:lnSpc>
                  <a:spcPts val="2279"/>
                </a:lnSpc>
              </a:pPr>
              <a:r>
                <a:rPr lang="en-US" sz="1899" b="1">
                  <a:solidFill>
                    <a:srgbClr val="FFFFFF"/>
                  </a:solidFill>
                  <a:latin typeface="Telegraf Bold"/>
                  <a:ea typeface="Telegraf Bold"/>
                  <a:cs typeface="Telegraf Bold"/>
                  <a:sym typeface="Telegraf Bold"/>
                </a:rPr>
                <a:t>53,991 · 25.8% late</a:t>
              </a:r>
            </a:p>
          </p:txBody>
        </p:sp>
      </p:grpSp>
      <p:sp>
        <p:nvSpPr>
          <p:cNvPr id="50" name="TextBox 50"/>
          <p:cNvSpPr txBox="1"/>
          <p:nvPr/>
        </p:nvSpPr>
        <p:spPr>
          <a:xfrm>
            <a:off x="981787" y="9252966"/>
            <a:ext cx="16038576" cy="760095"/>
          </a:xfrm>
          <a:prstGeom prst="rect">
            <a:avLst/>
          </a:prstGeom>
        </p:spPr>
        <p:txBody>
          <a:bodyPr lIns="0" tIns="0" rIns="0" bIns="0" rtlCol="0" anchor="t">
            <a:spAutoFit/>
          </a:bodyPr>
          <a:lstStyle/>
          <a:p>
            <a:pPr algn="l">
              <a:lnSpc>
                <a:spcPts val="2160"/>
              </a:lnSpc>
            </a:pPr>
            <a:r>
              <a:rPr lang="en-US" sz="1800">
                <a:solidFill>
                  <a:srgbClr val="545454"/>
                </a:solidFill>
                <a:latin typeface="Telegraf"/>
                <a:ea typeface="Telegraf"/>
                <a:cs typeface="Telegraf"/>
                <a:sym typeface="Telegraf"/>
              </a:rPr>
              <a:t>Cancelled (8,255) and diverted (1,175) flights have no arrival delay, so they are left out of the target but still counted in schedule congestion. Overall, 24.5% of flights are late.</a:t>
            </a:r>
          </a:p>
        </p:txBody>
      </p:sp>
      <p:sp>
        <p:nvSpPr>
          <p:cNvPr id="51" name="TextBox 51"/>
          <p:cNvSpPr txBox="1"/>
          <p:nvPr/>
        </p:nvSpPr>
        <p:spPr>
          <a:xfrm>
            <a:off x="14370508" y="6686530"/>
            <a:ext cx="2792223" cy="986663"/>
          </a:xfrm>
          <a:prstGeom prst="rect">
            <a:avLst/>
          </a:prstGeom>
        </p:spPr>
        <p:txBody>
          <a:bodyPr lIns="0" tIns="0" rIns="0" bIns="0" rtlCol="0" anchor="t">
            <a:spAutoFit/>
          </a:bodyPr>
          <a:lstStyle/>
          <a:p>
            <a:pPr marL="367034" lvl="1" indent="-183517" algn="l">
              <a:lnSpc>
                <a:spcPts val="1921"/>
              </a:lnSpc>
              <a:buAutoNum type="arabicPeriod"/>
            </a:pPr>
            <a:r>
              <a:rPr lang="en-US" sz="1700" b="1">
                <a:solidFill>
                  <a:srgbClr val="545454"/>
                </a:solidFill>
                <a:latin typeface="Telegraf Bold"/>
                <a:ea typeface="Telegraf Bold"/>
                <a:cs typeface="Telegraf Bold"/>
                <a:sym typeface="Telegraf Bold"/>
              </a:rPr>
              <a:t>Supervised Learning</a:t>
            </a:r>
          </a:p>
          <a:p>
            <a:pPr marL="367034" lvl="1" indent="-183517" algn="l">
              <a:lnSpc>
                <a:spcPts val="1921"/>
              </a:lnSpc>
              <a:buAutoNum type="arabicPeriod"/>
            </a:pPr>
            <a:r>
              <a:rPr lang="en-US" sz="1700" b="1">
                <a:solidFill>
                  <a:srgbClr val="545454"/>
                </a:solidFill>
                <a:latin typeface="Telegraf Bold"/>
                <a:ea typeface="Telegraf Bold"/>
                <a:cs typeface="Telegraf Bold"/>
                <a:sym typeface="Telegraf Bold"/>
              </a:rPr>
              <a:t>Binary Classfication</a:t>
            </a:r>
          </a:p>
          <a:p>
            <a:pPr marL="367034" lvl="1" indent="-183517" algn="l">
              <a:lnSpc>
                <a:spcPts val="1921"/>
              </a:lnSpc>
              <a:buAutoNum type="arabicPeriod"/>
            </a:pPr>
            <a:r>
              <a:rPr lang="en-US" sz="1700" b="1">
                <a:solidFill>
                  <a:srgbClr val="545454"/>
                </a:solidFill>
                <a:latin typeface="Telegraf Bold"/>
                <a:ea typeface="Telegraf Bold"/>
                <a:cs typeface="Telegraf Bold"/>
                <a:sym typeface="Telegraf Bold"/>
              </a:rPr>
              <a:t>Time-dependent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830218"/>
            <a:ext cx="16230600" cy="3879585"/>
          </a:xfrm>
          <a:custGeom>
            <a:avLst/>
            <a:gdLst/>
            <a:ahLst/>
            <a:cxnLst/>
            <a:rect l="l" t="t" r="r" b="b"/>
            <a:pathLst>
              <a:path w="16230600" h="3879585">
                <a:moveTo>
                  <a:pt x="0" y="0"/>
                </a:moveTo>
                <a:lnTo>
                  <a:pt x="16230600" y="0"/>
                </a:lnTo>
                <a:lnTo>
                  <a:pt x="16230600" y="3879585"/>
                </a:lnTo>
                <a:lnTo>
                  <a:pt x="0" y="3879585"/>
                </a:lnTo>
                <a:lnTo>
                  <a:pt x="0" y="0"/>
                </a:lnTo>
                <a:close/>
              </a:path>
            </a:pathLst>
          </a:custGeom>
          <a:blipFill>
            <a:blip r:embed="rId2"/>
            <a:stretch>
              <a:fillRect l="-512" t="-2832" b="-3343"/>
            </a:stretch>
          </a:blipFill>
        </p:spPr>
        <p:txBody>
          <a:bodyPr/>
          <a:lstStyle/>
          <a:p>
            <a:endParaRPr lang="en-US"/>
          </a:p>
        </p:txBody>
      </p:sp>
      <p:grpSp>
        <p:nvGrpSpPr>
          <p:cNvPr id="3" name="Group 3"/>
          <p:cNvGrpSpPr/>
          <p:nvPr/>
        </p:nvGrpSpPr>
        <p:grpSpPr>
          <a:xfrm>
            <a:off x="1292614" y="7081278"/>
            <a:ext cx="5121547" cy="2177022"/>
            <a:chOff x="0" y="0"/>
            <a:chExt cx="1348885" cy="573372"/>
          </a:xfrm>
        </p:grpSpPr>
        <p:sp>
          <p:nvSpPr>
            <p:cNvPr id="4" name="Freeform 4"/>
            <p:cNvSpPr/>
            <p:nvPr/>
          </p:nvSpPr>
          <p:spPr>
            <a:xfrm>
              <a:off x="0" y="0"/>
              <a:ext cx="1348885" cy="573372"/>
            </a:xfrm>
            <a:custGeom>
              <a:avLst/>
              <a:gdLst/>
              <a:ahLst/>
              <a:cxnLst/>
              <a:rect l="l" t="t" r="r" b="b"/>
              <a:pathLst>
                <a:path w="1348885" h="573372">
                  <a:moveTo>
                    <a:pt x="52907" y="0"/>
                  </a:moveTo>
                  <a:lnTo>
                    <a:pt x="1295977" y="0"/>
                  </a:lnTo>
                  <a:cubicBezTo>
                    <a:pt x="1325197" y="0"/>
                    <a:pt x="1348885" y="23687"/>
                    <a:pt x="1348885" y="52907"/>
                  </a:cubicBezTo>
                  <a:lnTo>
                    <a:pt x="1348885" y="520465"/>
                  </a:lnTo>
                  <a:cubicBezTo>
                    <a:pt x="1348885" y="534497"/>
                    <a:pt x="1343311" y="547954"/>
                    <a:pt x="1333389" y="557876"/>
                  </a:cubicBezTo>
                  <a:cubicBezTo>
                    <a:pt x="1323467" y="567798"/>
                    <a:pt x="1310009" y="573372"/>
                    <a:pt x="1295977" y="573372"/>
                  </a:cubicBezTo>
                  <a:lnTo>
                    <a:pt x="52907" y="573372"/>
                  </a:lnTo>
                  <a:cubicBezTo>
                    <a:pt x="38875" y="573372"/>
                    <a:pt x="25418" y="567798"/>
                    <a:pt x="15496" y="557876"/>
                  </a:cubicBezTo>
                  <a:cubicBezTo>
                    <a:pt x="5574" y="547954"/>
                    <a:pt x="0" y="534497"/>
                    <a:pt x="0" y="520465"/>
                  </a:cubicBezTo>
                  <a:lnTo>
                    <a:pt x="0" y="52907"/>
                  </a:lnTo>
                  <a:cubicBezTo>
                    <a:pt x="0" y="38875"/>
                    <a:pt x="5574" y="25418"/>
                    <a:pt x="15496" y="15496"/>
                  </a:cubicBezTo>
                  <a:cubicBezTo>
                    <a:pt x="25418" y="5574"/>
                    <a:pt x="38875" y="0"/>
                    <a:pt x="52907" y="0"/>
                  </a:cubicBezTo>
                  <a:close/>
                </a:path>
              </a:pathLst>
            </a:custGeom>
            <a:solidFill>
              <a:srgbClr val="F3F4F7"/>
            </a:solidFill>
          </p:spPr>
          <p:txBody>
            <a:bodyPr/>
            <a:lstStyle/>
            <a:p>
              <a:endParaRPr lang="en-US"/>
            </a:p>
          </p:txBody>
        </p:sp>
        <p:sp>
          <p:nvSpPr>
            <p:cNvPr id="5" name="TextBox 5"/>
            <p:cNvSpPr txBox="1"/>
            <p:nvPr/>
          </p:nvSpPr>
          <p:spPr>
            <a:xfrm>
              <a:off x="0" y="66675"/>
              <a:ext cx="1348885" cy="506697"/>
            </a:xfrm>
            <a:prstGeom prst="rect">
              <a:avLst/>
            </a:prstGeom>
          </p:spPr>
          <p:txBody>
            <a:bodyPr lIns="50800" tIns="50800" rIns="50800" bIns="50800" rtlCol="0" anchor="ctr"/>
            <a:lstStyle/>
            <a:p>
              <a:pPr algn="ctr">
                <a:lnSpc>
                  <a:spcPts val="2249"/>
                </a:lnSpc>
              </a:pPr>
              <a:endParaRPr/>
            </a:p>
          </p:txBody>
        </p:sp>
      </p:grpSp>
      <p:grpSp>
        <p:nvGrpSpPr>
          <p:cNvPr id="6" name="Group 6"/>
          <p:cNvGrpSpPr/>
          <p:nvPr/>
        </p:nvGrpSpPr>
        <p:grpSpPr>
          <a:xfrm>
            <a:off x="12137753" y="7081278"/>
            <a:ext cx="5121547" cy="2177022"/>
            <a:chOff x="0" y="0"/>
            <a:chExt cx="1348885" cy="573372"/>
          </a:xfrm>
        </p:grpSpPr>
        <p:sp>
          <p:nvSpPr>
            <p:cNvPr id="7" name="Freeform 7"/>
            <p:cNvSpPr/>
            <p:nvPr/>
          </p:nvSpPr>
          <p:spPr>
            <a:xfrm>
              <a:off x="0" y="0"/>
              <a:ext cx="1348885" cy="573372"/>
            </a:xfrm>
            <a:custGeom>
              <a:avLst/>
              <a:gdLst/>
              <a:ahLst/>
              <a:cxnLst/>
              <a:rect l="l" t="t" r="r" b="b"/>
              <a:pathLst>
                <a:path w="1348885" h="573372">
                  <a:moveTo>
                    <a:pt x="52907" y="0"/>
                  </a:moveTo>
                  <a:lnTo>
                    <a:pt x="1295977" y="0"/>
                  </a:lnTo>
                  <a:cubicBezTo>
                    <a:pt x="1325197" y="0"/>
                    <a:pt x="1348885" y="23687"/>
                    <a:pt x="1348885" y="52907"/>
                  </a:cubicBezTo>
                  <a:lnTo>
                    <a:pt x="1348885" y="520465"/>
                  </a:lnTo>
                  <a:cubicBezTo>
                    <a:pt x="1348885" y="534497"/>
                    <a:pt x="1343311" y="547954"/>
                    <a:pt x="1333389" y="557876"/>
                  </a:cubicBezTo>
                  <a:cubicBezTo>
                    <a:pt x="1323467" y="567798"/>
                    <a:pt x="1310009" y="573372"/>
                    <a:pt x="1295977" y="573372"/>
                  </a:cubicBezTo>
                  <a:lnTo>
                    <a:pt x="52907" y="573372"/>
                  </a:lnTo>
                  <a:cubicBezTo>
                    <a:pt x="38875" y="573372"/>
                    <a:pt x="25418" y="567798"/>
                    <a:pt x="15496" y="557876"/>
                  </a:cubicBezTo>
                  <a:cubicBezTo>
                    <a:pt x="5574" y="547954"/>
                    <a:pt x="0" y="534497"/>
                    <a:pt x="0" y="520465"/>
                  </a:cubicBezTo>
                  <a:lnTo>
                    <a:pt x="0" y="52907"/>
                  </a:lnTo>
                  <a:cubicBezTo>
                    <a:pt x="0" y="38875"/>
                    <a:pt x="5574" y="25418"/>
                    <a:pt x="15496" y="15496"/>
                  </a:cubicBezTo>
                  <a:cubicBezTo>
                    <a:pt x="25418" y="5574"/>
                    <a:pt x="38875" y="0"/>
                    <a:pt x="52907" y="0"/>
                  </a:cubicBezTo>
                  <a:close/>
                </a:path>
              </a:pathLst>
            </a:custGeom>
            <a:solidFill>
              <a:srgbClr val="F3F4F7"/>
            </a:solidFill>
          </p:spPr>
          <p:txBody>
            <a:bodyPr/>
            <a:lstStyle/>
            <a:p>
              <a:endParaRPr lang="en-US"/>
            </a:p>
          </p:txBody>
        </p:sp>
        <p:sp>
          <p:nvSpPr>
            <p:cNvPr id="8" name="TextBox 8"/>
            <p:cNvSpPr txBox="1"/>
            <p:nvPr/>
          </p:nvSpPr>
          <p:spPr>
            <a:xfrm>
              <a:off x="0" y="66675"/>
              <a:ext cx="1348885" cy="506697"/>
            </a:xfrm>
            <a:prstGeom prst="rect">
              <a:avLst/>
            </a:prstGeom>
          </p:spPr>
          <p:txBody>
            <a:bodyPr lIns="50800" tIns="50800" rIns="50800" bIns="50800" rtlCol="0" anchor="ctr"/>
            <a:lstStyle/>
            <a:p>
              <a:pPr algn="ctr">
                <a:lnSpc>
                  <a:spcPts val="2249"/>
                </a:lnSpc>
              </a:pPr>
              <a:endParaRPr/>
            </a:p>
          </p:txBody>
        </p:sp>
      </p:grpSp>
      <p:grpSp>
        <p:nvGrpSpPr>
          <p:cNvPr id="9" name="Group 9"/>
          <p:cNvGrpSpPr/>
          <p:nvPr/>
        </p:nvGrpSpPr>
        <p:grpSpPr>
          <a:xfrm>
            <a:off x="6715184" y="7081278"/>
            <a:ext cx="5121547" cy="2177022"/>
            <a:chOff x="0" y="0"/>
            <a:chExt cx="1348885" cy="573372"/>
          </a:xfrm>
        </p:grpSpPr>
        <p:sp>
          <p:nvSpPr>
            <p:cNvPr id="10" name="Freeform 10"/>
            <p:cNvSpPr/>
            <p:nvPr/>
          </p:nvSpPr>
          <p:spPr>
            <a:xfrm>
              <a:off x="0" y="0"/>
              <a:ext cx="1348885" cy="573372"/>
            </a:xfrm>
            <a:custGeom>
              <a:avLst/>
              <a:gdLst/>
              <a:ahLst/>
              <a:cxnLst/>
              <a:rect l="l" t="t" r="r" b="b"/>
              <a:pathLst>
                <a:path w="1348885" h="573372">
                  <a:moveTo>
                    <a:pt x="52907" y="0"/>
                  </a:moveTo>
                  <a:lnTo>
                    <a:pt x="1295977" y="0"/>
                  </a:lnTo>
                  <a:cubicBezTo>
                    <a:pt x="1325197" y="0"/>
                    <a:pt x="1348885" y="23687"/>
                    <a:pt x="1348885" y="52907"/>
                  </a:cubicBezTo>
                  <a:lnTo>
                    <a:pt x="1348885" y="520465"/>
                  </a:lnTo>
                  <a:cubicBezTo>
                    <a:pt x="1348885" y="534497"/>
                    <a:pt x="1343311" y="547954"/>
                    <a:pt x="1333389" y="557876"/>
                  </a:cubicBezTo>
                  <a:cubicBezTo>
                    <a:pt x="1323467" y="567798"/>
                    <a:pt x="1310009" y="573372"/>
                    <a:pt x="1295977" y="573372"/>
                  </a:cubicBezTo>
                  <a:lnTo>
                    <a:pt x="52907" y="573372"/>
                  </a:lnTo>
                  <a:cubicBezTo>
                    <a:pt x="38875" y="573372"/>
                    <a:pt x="25418" y="567798"/>
                    <a:pt x="15496" y="557876"/>
                  </a:cubicBezTo>
                  <a:cubicBezTo>
                    <a:pt x="5574" y="547954"/>
                    <a:pt x="0" y="534497"/>
                    <a:pt x="0" y="520465"/>
                  </a:cubicBezTo>
                  <a:lnTo>
                    <a:pt x="0" y="52907"/>
                  </a:lnTo>
                  <a:cubicBezTo>
                    <a:pt x="0" y="38875"/>
                    <a:pt x="5574" y="25418"/>
                    <a:pt x="15496" y="15496"/>
                  </a:cubicBezTo>
                  <a:cubicBezTo>
                    <a:pt x="25418" y="5574"/>
                    <a:pt x="38875" y="0"/>
                    <a:pt x="52907" y="0"/>
                  </a:cubicBezTo>
                  <a:close/>
                </a:path>
              </a:pathLst>
            </a:custGeom>
            <a:solidFill>
              <a:srgbClr val="F3F4F7"/>
            </a:solidFill>
          </p:spPr>
          <p:txBody>
            <a:bodyPr/>
            <a:lstStyle/>
            <a:p>
              <a:endParaRPr lang="en-US"/>
            </a:p>
          </p:txBody>
        </p:sp>
        <p:sp>
          <p:nvSpPr>
            <p:cNvPr id="11" name="TextBox 11"/>
            <p:cNvSpPr txBox="1"/>
            <p:nvPr/>
          </p:nvSpPr>
          <p:spPr>
            <a:xfrm>
              <a:off x="0" y="66675"/>
              <a:ext cx="1348885" cy="506697"/>
            </a:xfrm>
            <a:prstGeom prst="rect">
              <a:avLst/>
            </a:prstGeom>
          </p:spPr>
          <p:txBody>
            <a:bodyPr lIns="50800" tIns="50800" rIns="50800" bIns="50800" rtlCol="0" anchor="ctr"/>
            <a:lstStyle/>
            <a:p>
              <a:pPr algn="ctr">
                <a:lnSpc>
                  <a:spcPts val="2249"/>
                </a:lnSpc>
              </a:pPr>
              <a:endParaRPr/>
            </a:p>
          </p:txBody>
        </p:sp>
      </p:grpSp>
      <p:sp>
        <p:nvSpPr>
          <p:cNvPr id="12" name="TextBox 12"/>
          <p:cNvSpPr txBox="1"/>
          <p:nvPr/>
        </p:nvSpPr>
        <p:spPr>
          <a:xfrm>
            <a:off x="12618427" y="8075028"/>
            <a:ext cx="4160199" cy="726186"/>
          </a:xfrm>
          <a:prstGeom prst="rect">
            <a:avLst/>
          </a:prstGeom>
        </p:spPr>
        <p:txBody>
          <a:bodyPr lIns="0" tIns="0" rIns="0" bIns="0" rtlCol="0" anchor="t">
            <a:spAutoFit/>
          </a:bodyPr>
          <a:lstStyle/>
          <a:p>
            <a:pPr algn="ctr">
              <a:lnSpc>
                <a:spcPts val="2711"/>
              </a:lnSpc>
            </a:pPr>
            <a:r>
              <a:rPr lang="en-US" sz="2400" b="1">
                <a:solidFill>
                  <a:srgbClr val="545454"/>
                </a:solidFill>
                <a:latin typeface="Telegraf Bold"/>
                <a:ea typeface="Telegraf Bold"/>
                <a:cs typeface="Telegraf Bold"/>
                <a:sym typeface="Telegraf Bold"/>
              </a:rPr>
              <a:t>Saturday is the best day </a:t>
            </a:r>
            <a:r>
              <a:rPr lang="en-US" sz="2400">
                <a:solidFill>
                  <a:srgbClr val="545454"/>
                </a:solidFill>
                <a:latin typeface="Telegraf"/>
                <a:ea typeface="Telegraf"/>
                <a:cs typeface="Telegraf"/>
                <a:sym typeface="Telegraf"/>
              </a:rPr>
              <a:t>(about 18% delayed)</a:t>
            </a:r>
          </a:p>
        </p:txBody>
      </p:sp>
      <p:sp>
        <p:nvSpPr>
          <p:cNvPr id="13" name="TextBox 13"/>
          <p:cNvSpPr txBox="1"/>
          <p:nvPr/>
        </p:nvSpPr>
        <p:spPr>
          <a:xfrm>
            <a:off x="6963412" y="8075028"/>
            <a:ext cx="4625091" cy="726186"/>
          </a:xfrm>
          <a:prstGeom prst="rect">
            <a:avLst/>
          </a:prstGeom>
        </p:spPr>
        <p:txBody>
          <a:bodyPr lIns="0" tIns="0" rIns="0" bIns="0" rtlCol="0" anchor="t">
            <a:spAutoFit/>
          </a:bodyPr>
          <a:lstStyle/>
          <a:p>
            <a:pPr algn="ctr">
              <a:lnSpc>
                <a:spcPts val="2711"/>
              </a:lnSpc>
            </a:pPr>
            <a:r>
              <a:rPr lang="en-US" sz="2400">
                <a:solidFill>
                  <a:srgbClr val="545454"/>
                </a:solidFill>
                <a:latin typeface="Telegraf"/>
                <a:ea typeface="Telegraf"/>
                <a:cs typeface="Telegraf"/>
                <a:sym typeface="Telegraf"/>
              </a:rPr>
              <a:t>About </a:t>
            </a:r>
            <a:r>
              <a:rPr lang="en-US" sz="2400" b="1">
                <a:solidFill>
                  <a:srgbClr val="545454"/>
                </a:solidFill>
                <a:latin typeface="Telegraf Bold"/>
                <a:ea typeface="Telegraf Bold"/>
                <a:cs typeface="Telegraf Bold"/>
                <a:sym typeface="Telegraf Bold"/>
              </a:rPr>
              <a:t>10%</a:t>
            </a:r>
            <a:r>
              <a:rPr lang="en-US" sz="2400">
                <a:solidFill>
                  <a:srgbClr val="545454"/>
                </a:solidFill>
                <a:latin typeface="Telegraf"/>
                <a:ea typeface="Telegraf"/>
                <a:cs typeface="Telegraf"/>
                <a:sym typeface="Telegraf"/>
              </a:rPr>
              <a:t> of 5 am flights are late, rising to about </a:t>
            </a:r>
            <a:r>
              <a:rPr lang="en-US" sz="2400" b="1">
                <a:solidFill>
                  <a:srgbClr val="545454"/>
                </a:solidFill>
                <a:latin typeface="Telegraf Bold"/>
                <a:ea typeface="Telegraf Bold"/>
                <a:cs typeface="Telegraf Bold"/>
                <a:sym typeface="Telegraf Bold"/>
              </a:rPr>
              <a:t>37%</a:t>
            </a:r>
            <a:r>
              <a:rPr lang="en-US" sz="2400">
                <a:solidFill>
                  <a:srgbClr val="545454"/>
                </a:solidFill>
                <a:latin typeface="Telegraf"/>
                <a:ea typeface="Telegraf"/>
                <a:cs typeface="Telegraf"/>
                <a:sym typeface="Telegraf"/>
              </a:rPr>
              <a:t> at 9 pm</a:t>
            </a:r>
          </a:p>
        </p:txBody>
      </p:sp>
      <p:sp>
        <p:nvSpPr>
          <p:cNvPr id="14" name="TextBox 14"/>
          <p:cNvSpPr txBox="1"/>
          <p:nvPr/>
        </p:nvSpPr>
        <p:spPr>
          <a:xfrm>
            <a:off x="1533597" y="7903578"/>
            <a:ext cx="4640873" cy="1069086"/>
          </a:xfrm>
          <a:prstGeom prst="rect">
            <a:avLst/>
          </a:prstGeom>
        </p:spPr>
        <p:txBody>
          <a:bodyPr lIns="0" tIns="0" rIns="0" bIns="0" rtlCol="0" anchor="t">
            <a:spAutoFit/>
          </a:bodyPr>
          <a:lstStyle/>
          <a:p>
            <a:pPr algn="ctr">
              <a:lnSpc>
                <a:spcPts val="2711"/>
              </a:lnSpc>
            </a:pPr>
            <a:r>
              <a:rPr lang="en-US" sz="2400" b="1">
                <a:solidFill>
                  <a:srgbClr val="545454"/>
                </a:solidFill>
                <a:latin typeface="Telegraf Bold"/>
                <a:ea typeface="Telegraf Bold"/>
                <a:cs typeface="Telegraf Bold"/>
                <a:sym typeface="Telegraf Bold"/>
              </a:rPr>
              <a:t>Dec, Jul</a:t>
            </a:r>
            <a:r>
              <a:rPr lang="en-US" sz="2400">
                <a:solidFill>
                  <a:srgbClr val="545454"/>
                </a:solidFill>
                <a:latin typeface="Telegraf"/>
                <a:ea typeface="Telegraf"/>
                <a:cs typeface="Telegraf"/>
                <a:sym typeface="Telegraf"/>
              </a:rPr>
              <a:t> and </a:t>
            </a:r>
            <a:r>
              <a:rPr lang="en-US" sz="2400" b="1">
                <a:solidFill>
                  <a:srgbClr val="545454"/>
                </a:solidFill>
                <a:latin typeface="Telegraf Bold"/>
                <a:ea typeface="Telegraf Bold"/>
                <a:cs typeface="Telegraf Bold"/>
                <a:sym typeface="Telegraf Bold"/>
              </a:rPr>
              <a:t>Jun</a:t>
            </a:r>
            <a:r>
              <a:rPr lang="en-US" sz="2400">
                <a:solidFill>
                  <a:srgbClr val="545454"/>
                </a:solidFill>
                <a:latin typeface="Telegraf"/>
                <a:ea typeface="Telegraf"/>
                <a:cs typeface="Telegraf"/>
                <a:sym typeface="Telegraf"/>
              </a:rPr>
              <a:t> are worst (over </a:t>
            </a:r>
            <a:r>
              <a:rPr lang="en-US" sz="2400" b="1">
                <a:solidFill>
                  <a:srgbClr val="545454"/>
                </a:solidFill>
                <a:latin typeface="Telegraf Bold"/>
                <a:ea typeface="Telegraf Bold"/>
                <a:cs typeface="Telegraf Bold"/>
                <a:sym typeface="Telegraf Bold"/>
              </a:rPr>
              <a:t>30%</a:t>
            </a:r>
            <a:r>
              <a:rPr lang="en-US" sz="2400">
                <a:solidFill>
                  <a:srgbClr val="545454"/>
                </a:solidFill>
                <a:latin typeface="Telegraf"/>
                <a:ea typeface="Telegraf"/>
                <a:cs typeface="Telegraf"/>
                <a:sym typeface="Telegraf"/>
              </a:rPr>
              <a:t>); </a:t>
            </a:r>
            <a:r>
              <a:rPr lang="en-US" sz="2400" b="1">
                <a:solidFill>
                  <a:srgbClr val="545454"/>
                </a:solidFill>
                <a:latin typeface="Telegraf Bold"/>
                <a:ea typeface="Telegraf Bold"/>
                <a:cs typeface="Telegraf Bold"/>
                <a:sym typeface="Telegraf Bold"/>
              </a:rPr>
              <a:t>Sep</a:t>
            </a:r>
            <a:r>
              <a:rPr lang="en-US" sz="2400">
                <a:solidFill>
                  <a:srgbClr val="545454"/>
                </a:solidFill>
                <a:latin typeface="Telegraf"/>
                <a:ea typeface="Telegraf"/>
                <a:cs typeface="Telegraf"/>
                <a:sym typeface="Telegraf"/>
              </a:rPr>
              <a:t> to </a:t>
            </a:r>
            <a:r>
              <a:rPr lang="en-US" sz="2400" b="1">
                <a:solidFill>
                  <a:srgbClr val="545454"/>
                </a:solidFill>
                <a:latin typeface="Telegraf Bold"/>
                <a:ea typeface="Telegraf Bold"/>
                <a:cs typeface="Telegraf Bold"/>
                <a:sym typeface="Telegraf Bold"/>
              </a:rPr>
              <a:t>Nov</a:t>
            </a:r>
            <a:r>
              <a:rPr lang="en-US" sz="2400">
                <a:solidFill>
                  <a:srgbClr val="545454"/>
                </a:solidFill>
                <a:latin typeface="Telegraf"/>
                <a:ea typeface="Telegraf"/>
                <a:cs typeface="Telegraf"/>
                <a:sym typeface="Telegraf"/>
              </a:rPr>
              <a:t> are calmest (under </a:t>
            </a:r>
            <a:r>
              <a:rPr lang="en-US" sz="2400" b="1">
                <a:solidFill>
                  <a:srgbClr val="545454"/>
                </a:solidFill>
                <a:latin typeface="Telegraf Bold"/>
                <a:ea typeface="Telegraf Bold"/>
                <a:cs typeface="Telegraf Bold"/>
                <a:sym typeface="Telegraf Bold"/>
              </a:rPr>
              <a:t>20%</a:t>
            </a:r>
            <a:r>
              <a:rPr lang="en-US" sz="2400">
                <a:solidFill>
                  <a:srgbClr val="545454"/>
                </a:solidFill>
                <a:latin typeface="Telegraf"/>
                <a:ea typeface="Telegraf"/>
                <a:cs typeface="Telegraf"/>
                <a:sym typeface="Telegraf"/>
              </a:rPr>
              <a:t>)</a:t>
            </a:r>
          </a:p>
        </p:txBody>
      </p:sp>
      <p:sp>
        <p:nvSpPr>
          <p:cNvPr id="15" name="TextBox 15"/>
          <p:cNvSpPr txBox="1"/>
          <p:nvPr/>
        </p:nvSpPr>
        <p:spPr>
          <a:xfrm>
            <a:off x="12618427" y="7311695"/>
            <a:ext cx="4160199" cy="413639"/>
          </a:xfrm>
          <a:prstGeom prst="rect">
            <a:avLst/>
          </a:prstGeom>
        </p:spPr>
        <p:txBody>
          <a:bodyPr lIns="0" tIns="0" rIns="0" bIns="0" rtlCol="0" anchor="t">
            <a:spAutoFit/>
          </a:bodyPr>
          <a:lstStyle/>
          <a:p>
            <a:pPr algn="ctr">
              <a:lnSpc>
                <a:spcPts val="2937"/>
              </a:lnSpc>
            </a:pPr>
            <a:r>
              <a:rPr lang="en-US" sz="2599" b="1">
                <a:solidFill>
                  <a:srgbClr val="545454"/>
                </a:solidFill>
                <a:latin typeface="Telegraf Bold"/>
                <a:ea typeface="Telegraf Bold"/>
                <a:cs typeface="Telegraf Bold"/>
                <a:sym typeface="Telegraf Bold"/>
              </a:rPr>
              <a:t>Day of Week</a:t>
            </a:r>
          </a:p>
        </p:txBody>
      </p:sp>
      <p:sp>
        <p:nvSpPr>
          <p:cNvPr id="16" name="TextBox 16"/>
          <p:cNvSpPr txBox="1"/>
          <p:nvPr/>
        </p:nvSpPr>
        <p:spPr>
          <a:xfrm>
            <a:off x="7195857" y="7311695"/>
            <a:ext cx="4160199" cy="413639"/>
          </a:xfrm>
          <a:prstGeom prst="rect">
            <a:avLst/>
          </a:prstGeom>
        </p:spPr>
        <p:txBody>
          <a:bodyPr lIns="0" tIns="0" rIns="0" bIns="0" rtlCol="0" anchor="t">
            <a:spAutoFit/>
          </a:bodyPr>
          <a:lstStyle/>
          <a:p>
            <a:pPr algn="ctr">
              <a:lnSpc>
                <a:spcPts val="2937"/>
              </a:lnSpc>
            </a:pPr>
            <a:r>
              <a:rPr lang="en-US" sz="2599" b="1">
                <a:solidFill>
                  <a:srgbClr val="545454"/>
                </a:solidFill>
                <a:latin typeface="Telegraf Bold"/>
                <a:ea typeface="Telegraf Bold"/>
                <a:cs typeface="Telegraf Bold"/>
                <a:sym typeface="Telegraf Bold"/>
              </a:rPr>
              <a:t>Hour of Day</a:t>
            </a:r>
          </a:p>
        </p:txBody>
      </p:sp>
      <p:sp>
        <p:nvSpPr>
          <p:cNvPr id="17" name="TextBox 17"/>
          <p:cNvSpPr txBox="1"/>
          <p:nvPr/>
        </p:nvSpPr>
        <p:spPr>
          <a:xfrm>
            <a:off x="1773934" y="7311695"/>
            <a:ext cx="4160199" cy="413639"/>
          </a:xfrm>
          <a:prstGeom prst="rect">
            <a:avLst/>
          </a:prstGeom>
        </p:spPr>
        <p:txBody>
          <a:bodyPr lIns="0" tIns="0" rIns="0" bIns="0" rtlCol="0" anchor="t">
            <a:spAutoFit/>
          </a:bodyPr>
          <a:lstStyle/>
          <a:p>
            <a:pPr algn="ctr">
              <a:lnSpc>
                <a:spcPts val="2937"/>
              </a:lnSpc>
            </a:pPr>
            <a:r>
              <a:rPr lang="en-US" sz="2599" b="1">
                <a:solidFill>
                  <a:srgbClr val="545454"/>
                </a:solidFill>
                <a:latin typeface="Telegraf Bold"/>
                <a:ea typeface="Telegraf Bold"/>
                <a:cs typeface="Telegraf Bold"/>
                <a:sym typeface="Telegraf Bold"/>
              </a:rPr>
              <a:t>Season</a:t>
            </a:r>
          </a:p>
        </p:txBody>
      </p:sp>
      <p:grpSp>
        <p:nvGrpSpPr>
          <p:cNvPr id="18" name="Group 18"/>
          <p:cNvGrpSpPr/>
          <p:nvPr/>
        </p:nvGrpSpPr>
        <p:grpSpPr>
          <a:xfrm>
            <a:off x="0" y="-18288"/>
            <a:ext cx="18288000" cy="2203704"/>
            <a:chOff x="0" y="0"/>
            <a:chExt cx="24384000" cy="2938272"/>
          </a:xfrm>
        </p:grpSpPr>
        <p:sp>
          <p:nvSpPr>
            <p:cNvPr id="19" name="Freeform 19"/>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20" name="Group 20"/>
          <p:cNvGrpSpPr/>
          <p:nvPr/>
        </p:nvGrpSpPr>
        <p:grpSpPr>
          <a:xfrm>
            <a:off x="1024128" y="566928"/>
            <a:ext cx="16230600" cy="1005840"/>
            <a:chOff x="0" y="0"/>
            <a:chExt cx="21640800" cy="1341120"/>
          </a:xfrm>
        </p:grpSpPr>
        <p:sp>
          <p:nvSpPr>
            <p:cNvPr id="21" name="Freeform 21"/>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3">
                <a:alphaModFix amt="0"/>
              </a:blip>
              <a:stretch>
                <a:fillRect t="-264417" b="-264417"/>
              </a:stretch>
            </a:blipFill>
          </p:spPr>
          <p:txBody>
            <a:bodyPr/>
            <a:lstStyle/>
            <a:p>
              <a:endParaRPr lang="en-US"/>
            </a:p>
          </p:txBody>
        </p:sp>
        <p:sp>
          <p:nvSpPr>
            <p:cNvPr id="22" name="TextBox 22"/>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Key Delay Patterns (EDA)</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21823"/>
            <a:ext cx="11061583" cy="1632586"/>
          </a:xfrm>
          <a:prstGeom prst="rect">
            <a:avLst/>
          </a:prstGeom>
        </p:spPr>
        <p:txBody>
          <a:bodyPr lIns="0" tIns="0" rIns="0" bIns="0" rtlCol="0" anchor="t">
            <a:spAutoFit/>
          </a:bodyPr>
          <a:lstStyle/>
          <a:p>
            <a:pPr algn="l">
              <a:lnSpc>
                <a:spcPts val="5940"/>
              </a:lnSpc>
            </a:pPr>
            <a:r>
              <a:rPr lang="en-US" sz="6600" b="1" spc="-330">
                <a:solidFill>
                  <a:srgbClr val="2F2A24"/>
                </a:solidFill>
                <a:latin typeface="Telegraf Bold"/>
                <a:ea typeface="Telegraf Bold"/>
                <a:cs typeface="Telegraf Bold"/>
                <a:sym typeface="Telegraf Bold"/>
              </a:rPr>
              <a:t>Feature Engineering &amp; Leakage Prevention</a:t>
            </a:r>
          </a:p>
        </p:txBody>
      </p:sp>
      <p:sp>
        <p:nvSpPr>
          <p:cNvPr id="3" name="TextBox 3"/>
          <p:cNvSpPr txBox="1"/>
          <p:nvPr/>
        </p:nvSpPr>
        <p:spPr>
          <a:xfrm>
            <a:off x="1028700" y="3025884"/>
            <a:ext cx="8115300" cy="461899"/>
          </a:xfrm>
          <a:prstGeom prst="rect">
            <a:avLst/>
          </a:prstGeom>
        </p:spPr>
        <p:txBody>
          <a:bodyPr lIns="0" tIns="0" rIns="0" bIns="0" rtlCol="0" anchor="t">
            <a:spAutoFit/>
          </a:bodyPr>
          <a:lstStyle/>
          <a:p>
            <a:pPr algn="l">
              <a:lnSpc>
                <a:spcPts val="3457"/>
              </a:lnSpc>
            </a:pPr>
            <a:r>
              <a:rPr lang="en-US" sz="2599" b="1">
                <a:solidFill>
                  <a:srgbClr val="545454"/>
                </a:solidFill>
                <a:latin typeface="Telegraf Bold"/>
                <a:ea typeface="Telegraf Bold"/>
                <a:cs typeface="Telegraf Bold"/>
                <a:sym typeface="Telegraf Bold"/>
              </a:rPr>
              <a:t>43</a:t>
            </a:r>
            <a:r>
              <a:rPr lang="en-US" sz="2599">
                <a:solidFill>
                  <a:srgbClr val="545454"/>
                </a:solidFill>
                <a:latin typeface="Telegraf"/>
                <a:ea typeface="Telegraf"/>
                <a:cs typeface="Telegraf"/>
                <a:sym typeface="Telegraf"/>
              </a:rPr>
              <a:t> features engineered across </a:t>
            </a:r>
            <a:r>
              <a:rPr lang="en-US" sz="2599" b="1">
                <a:solidFill>
                  <a:srgbClr val="545454"/>
                </a:solidFill>
                <a:latin typeface="Telegraf Bold"/>
                <a:ea typeface="Telegraf Bold"/>
                <a:cs typeface="Telegraf Bold"/>
                <a:sym typeface="Telegraf Bold"/>
              </a:rPr>
              <a:t>5</a:t>
            </a:r>
            <a:r>
              <a:rPr lang="en-US" sz="2599">
                <a:solidFill>
                  <a:srgbClr val="545454"/>
                </a:solidFill>
                <a:latin typeface="Telegraf"/>
                <a:ea typeface="Telegraf"/>
                <a:cs typeface="Telegraf"/>
                <a:sym typeface="Telegraf"/>
              </a:rPr>
              <a:t> categories.</a:t>
            </a:r>
          </a:p>
        </p:txBody>
      </p:sp>
      <p:grpSp>
        <p:nvGrpSpPr>
          <p:cNvPr id="4" name="Group 4"/>
          <p:cNvGrpSpPr/>
          <p:nvPr/>
        </p:nvGrpSpPr>
        <p:grpSpPr>
          <a:xfrm>
            <a:off x="1028700" y="3795231"/>
            <a:ext cx="2855048" cy="1526312"/>
            <a:chOff x="0" y="0"/>
            <a:chExt cx="751947" cy="401992"/>
          </a:xfrm>
        </p:grpSpPr>
        <p:sp>
          <p:nvSpPr>
            <p:cNvPr id="5" name="Freeform 5"/>
            <p:cNvSpPr/>
            <p:nvPr/>
          </p:nvSpPr>
          <p:spPr>
            <a:xfrm>
              <a:off x="0" y="0"/>
              <a:ext cx="751947" cy="401992"/>
            </a:xfrm>
            <a:custGeom>
              <a:avLst/>
              <a:gdLst/>
              <a:ahLst/>
              <a:cxnLst/>
              <a:rect l="l" t="t" r="r" b="b"/>
              <a:pathLst>
                <a:path w="751947" h="401992">
                  <a:moveTo>
                    <a:pt x="94908" y="0"/>
                  </a:moveTo>
                  <a:lnTo>
                    <a:pt x="657039" y="0"/>
                  </a:lnTo>
                  <a:cubicBezTo>
                    <a:pt x="682210" y="0"/>
                    <a:pt x="706350" y="9999"/>
                    <a:pt x="724149" y="27798"/>
                  </a:cubicBezTo>
                  <a:cubicBezTo>
                    <a:pt x="741948" y="45597"/>
                    <a:pt x="751947" y="69737"/>
                    <a:pt x="751947" y="94908"/>
                  </a:cubicBezTo>
                  <a:lnTo>
                    <a:pt x="751947" y="307083"/>
                  </a:lnTo>
                  <a:cubicBezTo>
                    <a:pt x="751947" y="332255"/>
                    <a:pt x="741948" y="356395"/>
                    <a:pt x="724149" y="374194"/>
                  </a:cubicBezTo>
                  <a:cubicBezTo>
                    <a:pt x="706350" y="391992"/>
                    <a:pt x="682210" y="401992"/>
                    <a:pt x="657039" y="401992"/>
                  </a:cubicBezTo>
                  <a:lnTo>
                    <a:pt x="94908" y="401992"/>
                  </a:lnTo>
                  <a:cubicBezTo>
                    <a:pt x="69737" y="401992"/>
                    <a:pt x="45597" y="391992"/>
                    <a:pt x="27798" y="374194"/>
                  </a:cubicBezTo>
                  <a:cubicBezTo>
                    <a:pt x="9999" y="356395"/>
                    <a:pt x="0" y="332255"/>
                    <a:pt x="0" y="307083"/>
                  </a:cubicBezTo>
                  <a:lnTo>
                    <a:pt x="0" y="94908"/>
                  </a:lnTo>
                  <a:cubicBezTo>
                    <a:pt x="0" y="69737"/>
                    <a:pt x="9999" y="45597"/>
                    <a:pt x="27798" y="27798"/>
                  </a:cubicBezTo>
                  <a:cubicBezTo>
                    <a:pt x="45597" y="9999"/>
                    <a:pt x="69737" y="0"/>
                    <a:pt x="94908" y="0"/>
                  </a:cubicBezTo>
                  <a:close/>
                </a:path>
              </a:pathLst>
            </a:custGeom>
            <a:solidFill>
              <a:srgbClr val="355688"/>
            </a:solidFill>
          </p:spPr>
          <p:txBody>
            <a:bodyPr/>
            <a:lstStyle/>
            <a:p>
              <a:endParaRPr lang="en-US"/>
            </a:p>
          </p:txBody>
        </p:sp>
        <p:sp>
          <p:nvSpPr>
            <p:cNvPr id="6" name="TextBox 6"/>
            <p:cNvSpPr txBox="1"/>
            <p:nvPr/>
          </p:nvSpPr>
          <p:spPr>
            <a:xfrm>
              <a:off x="0" y="66675"/>
              <a:ext cx="751947" cy="335317"/>
            </a:xfrm>
            <a:prstGeom prst="rect">
              <a:avLst/>
            </a:prstGeom>
          </p:spPr>
          <p:txBody>
            <a:bodyPr lIns="50800" tIns="50800" rIns="50800" bIns="50800" rtlCol="0" anchor="ctr"/>
            <a:lstStyle/>
            <a:p>
              <a:pPr algn="ctr">
                <a:lnSpc>
                  <a:spcPts val="2249"/>
                </a:lnSpc>
              </a:pPr>
              <a:endParaRPr/>
            </a:p>
          </p:txBody>
        </p:sp>
      </p:grpSp>
      <p:grpSp>
        <p:nvGrpSpPr>
          <p:cNvPr id="7" name="Group 7"/>
          <p:cNvGrpSpPr/>
          <p:nvPr/>
        </p:nvGrpSpPr>
        <p:grpSpPr>
          <a:xfrm>
            <a:off x="14404252" y="3795231"/>
            <a:ext cx="2855048" cy="1526312"/>
            <a:chOff x="0" y="0"/>
            <a:chExt cx="751947" cy="401992"/>
          </a:xfrm>
        </p:grpSpPr>
        <p:sp>
          <p:nvSpPr>
            <p:cNvPr id="8" name="Freeform 8"/>
            <p:cNvSpPr/>
            <p:nvPr/>
          </p:nvSpPr>
          <p:spPr>
            <a:xfrm>
              <a:off x="0" y="0"/>
              <a:ext cx="751947" cy="401992"/>
            </a:xfrm>
            <a:custGeom>
              <a:avLst/>
              <a:gdLst/>
              <a:ahLst/>
              <a:cxnLst/>
              <a:rect l="l" t="t" r="r" b="b"/>
              <a:pathLst>
                <a:path w="751947" h="401992">
                  <a:moveTo>
                    <a:pt x="94908" y="0"/>
                  </a:moveTo>
                  <a:lnTo>
                    <a:pt x="657039" y="0"/>
                  </a:lnTo>
                  <a:cubicBezTo>
                    <a:pt x="682210" y="0"/>
                    <a:pt x="706350" y="9999"/>
                    <a:pt x="724149" y="27798"/>
                  </a:cubicBezTo>
                  <a:cubicBezTo>
                    <a:pt x="741948" y="45597"/>
                    <a:pt x="751947" y="69737"/>
                    <a:pt x="751947" y="94908"/>
                  </a:cubicBezTo>
                  <a:lnTo>
                    <a:pt x="751947" y="307083"/>
                  </a:lnTo>
                  <a:cubicBezTo>
                    <a:pt x="751947" y="332255"/>
                    <a:pt x="741948" y="356395"/>
                    <a:pt x="724149" y="374194"/>
                  </a:cubicBezTo>
                  <a:cubicBezTo>
                    <a:pt x="706350" y="391992"/>
                    <a:pt x="682210" y="401992"/>
                    <a:pt x="657039" y="401992"/>
                  </a:cubicBezTo>
                  <a:lnTo>
                    <a:pt x="94908" y="401992"/>
                  </a:lnTo>
                  <a:cubicBezTo>
                    <a:pt x="69737" y="401992"/>
                    <a:pt x="45597" y="391992"/>
                    <a:pt x="27798" y="374194"/>
                  </a:cubicBezTo>
                  <a:cubicBezTo>
                    <a:pt x="9999" y="356395"/>
                    <a:pt x="0" y="332255"/>
                    <a:pt x="0" y="307083"/>
                  </a:cubicBezTo>
                  <a:lnTo>
                    <a:pt x="0" y="94908"/>
                  </a:lnTo>
                  <a:cubicBezTo>
                    <a:pt x="0" y="69737"/>
                    <a:pt x="9999" y="45597"/>
                    <a:pt x="27798" y="27798"/>
                  </a:cubicBezTo>
                  <a:cubicBezTo>
                    <a:pt x="45597" y="9999"/>
                    <a:pt x="69737" y="0"/>
                    <a:pt x="94908" y="0"/>
                  </a:cubicBezTo>
                  <a:close/>
                </a:path>
              </a:pathLst>
            </a:custGeom>
            <a:solidFill>
              <a:srgbClr val="355688"/>
            </a:solidFill>
          </p:spPr>
          <p:txBody>
            <a:bodyPr/>
            <a:lstStyle/>
            <a:p>
              <a:endParaRPr lang="en-US"/>
            </a:p>
          </p:txBody>
        </p:sp>
        <p:sp>
          <p:nvSpPr>
            <p:cNvPr id="9" name="TextBox 9"/>
            <p:cNvSpPr txBox="1"/>
            <p:nvPr/>
          </p:nvSpPr>
          <p:spPr>
            <a:xfrm>
              <a:off x="0" y="66675"/>
              <a:ext cx="751947" cy="335317"/>
            </a:xfrm>
            <a:prstGeom prst="rect">
              <a:avLst/>
            </a:prstGeom>
          </p:spPr>
          <p:txBody>
            <a:bodyPr lIns="50800" tIns="50800" rIns="50800" bIns="50800" rtlCol="0" anchor="ctr"/>
            <a:lstStyle/>
            <a:p>
              <a:pPr algn="ctr">
                <a:lnSpc>
                  <a:spcPts val="2249"/>
                </a:lnSpc>
              </a:pPr>
              <a:endParaRPr/>
            </a:p>
          </p:txBody>
        </p:sp>
      </p:grpSp>
      <p:grpSp>
        <p:nvGrpSpPr>
          <p:cNvPr id="10" name="Group 10"/>
          <p:cNvGrpSpPr/>
          <p:nvPr/>
        </p:nvGrpSpPr>
        <p:grpSpPr>
          <a:xfrm>
            <a:off x="7716476" y="3795231"/>
            <a:ext cx="2855048" cy="1526312"/>
            <a:chOff x="0" y="0"/>
            <a:chExt cx="751947" cy="401992"/>
          </a:xfrm>
        </p:grpSpPr>
        <p:sp>
          <p:nvSpPr>
            <p:cNvPr id="11" name="Freeform 11"/>
            <p:cNvSpPr/>
            <p:nvPr/>
          </p:nvSpPr>
          <p:spPr>
            <a:xfrm>
              <a:off x="0" y="0"/>
              <a:ext cx="751947" cy="401992"/>
            </a:xfrm>
            <a:custGeom>
              <a:avLst/>
              <a:gdLst/>
              <a:ahLst/>
              <a:cxnLst/>
              <a:rect l="l" t="t" r="r" b="b"/>
              <a:pathLst>
                <a:path w="751947" h="401992">
                  <a:moveTo>
                    <a:pt x="94908" y="0"/>
                  </a:moveTo>
                  <a:lnTo>
                    <a:pt x="657039" y="0"/>
                  </a:lnTo>
                  <a:cubicBezTo>
                    <a:pt x="682210" y="0"/>
                    <a:pt x="706350" y="9999"/>
                    <a:pt x="724149" y="27798"/>
                  </a:cubicBezTo>
                  <a:cubicBezTo>
                    <a:pt x="741948" y="45597"/>
                    <a:pt x="751947" y="69737"/>
                    <a:pt x="751947" y="94908"/>
                  </a:cubicBezTo>
                  <a:lnTo>
                    <a:pt x="751947" y="307083"/>
                  </a:lnTo>
                  <a:cubicBezTo>
                    <a:pt x="751947" y="332255"/>
                    <a:pt x="741948" y="356395"/>
                    <a:pt x="724149" y="374194"/>
                  </a:cubicBezTo>
                  <a:cubicBezTo>
                    <a:pt x="706350" y="391992"/>
                    <a:pt x="682210" y="401992"/>
                    <a:pt x="657039" y="401992"/>
                  </a:cubicBezTo>
                  <a:lnTo>
                    <a:pt x="94908" y="401992"/>
                  </a:lnTo>
                  <a:cubicBezTo>
                    <a:pt x="69737" y="401992"/>
                    <a:pt x="45597" y="391992"/>
                    <a:pt x="27798" y="374194"/>
                  </a:cubicBezTo>
                  <a:cubicBezTo>
                    <a:pt x="9999" y="356395"/>
                    <a:pt x="0" y="332255"/>
                    <a:pt x="0" y="307083"/>
                  </a:cubicBezTo>
                  <a:lnTo>
                    <a:pt x="0" y="94908"/>
                  </a:lnTo>
                  <a:cubicBezTo>
                    <a:pt x="0" y="69737"/>
                    <a:pt x="9999" y="45597"/>
                    <a:pt x="27798" y="27798"/>
                  </a:cubicBezTo>
                  <a:cubicBezTo>
                    <a:pt x="45597" y="9999"/>
                    <a:pt x="69737" y="0"/>
                    <a:pt x="94908" y="0"/>
                  </a:cubicBezTo>
                  <a:close/>
                </a:path>
              </a:pathLst>
            </a:custGeom>
            <a:solidFill>
              <a:srgbClr val="355688"/>
            </a:solidFill>
          </p:spPr>
          <p:txBody>
            <a:bodyPr/>
            <a:lstStyle/>
            <a:p>
              <a:endParaRPr lang="en-US"/>
            </a:p>
          </p:txBody>
        </p:sp>
        <p:sp>
          <p:nvSpPr>
            <p:cNvPr id="12" name="TextBox 12"/>
            <p:cNvSpPr txBox="1"/>
            <p:nvPr/>
          </p:nvSpPr>
          <p:spPr>
            <a:xfrm>
              <a:off x="0" y="66675"/>
              <a:ext cx="751947" cy="335317"/>
            </a:xfrm>
            <a:prstGeom prst="rect">
              <a:avLst/>
            </a:prstGeom>
          </p:spPr>
          <p:txBody>
            <a:bodyPr lIns="50800" tIns="50800" rIns="50800" bIns="50800" rtlCol="0" anchor="ctr"/>
            <a:lstStyle/>
            <a:p>
              <a:pPr algn="ctr">
                <a:lnSpc>
                  <a:spcPts val="2249"/>
                </a:lnSpc>
              </a:pPr>
              <a:endParaRPr/>
            </a:p>
          </p:txBody>
        </p:sp>
      </p:grpSp>
      <p:grpSp>
        <p:nvGrpSpPr>
          <p:cNvPr id="13" name="Group 13"/>
          <p:cNvGrpSpPr/>
          <p:nvPr/>
        </p:nvGrpSpPr>
        <p:grpSpPr>
          <a:xfrm>
            <a:off x="4372588" y="3795231"/>
            <a:ext cx="2855048" cy="1526312"/>
            <a:chOff x="0" y="0"/>
            <a:chExt cx="751947" cy="401992"/>
          </a:xfrm>
        </p:grpSpPr>
        <p:sp>
          <p:nvSpPr>
            <p:cNvPr id="14" name="Freeform 14"/>
            <p:cNvSpPr/>
            <p:nvPr/>
          </p:nvSpPr>
          <p:spPr>
            <a:xfrm>
              <a:off x="0" y="0"/>
              <a:ext cx="751947" cy="401992"/>
            </a:xfrm>
            <a:custGeom>
              <a:avLst/>
              <a:gdLst/>
              <a:ahLst/>
              <a:cxnLst/>
              <a:rect l="l" t="t" r="r" b="b"/>
              <a:pathLst>
                <a:path w="751947" h="401992">
                  <a:moveTo>
                    <a:pt x="94908" y="0"/>
                  </a:moveTo>
                  <a:lnTo>
                    <a:pt x="657039" y="0"/>
                  </a:lnTo>
                  <a:cubicBezTo>
                    <a:pt x="682210" y="0"/>
                    <a:pt x="706350" y="9999"/>
                    <a:pt x="724149" y="27798"/>
                  </a:cubicBezTo>
                  <a:cubicBezTo>
                    <a:pt x="741948" y="45597"/>
                    <a:pt x="751947" y="69737"/>
                    <a:pt x="751947" y="94908"/>
                  </a:cubicBezTo>
                  <a:lnTo>
                    <a:pt x="751947" y="307083"/>
                  </a:lnTo>
                  <a:cubicBezTo>
                    <a:pt x="751947" y="332255"/>
                    <a:pt x="741948" y="356395"/>
                    <a:pt x="724149" y="374194"/>
                  </a:cubicBezTo>
                  <a:cubicBezTo>
                    <a:pt x="706350" y="391992"/>
                    <a:pt x="682210" y="401992"/>
                    <a:pt x="657039" y="401992"/>
                  </a:cubicBezTo>
                  <a:lnTo>
                    <a:pt x="94908" y="401992"/>
                  </a:lnTo>
                  <a:cubicBezTo>
                    <a:pt x="69737" y="401992"/>
                    <a:pt x="45597" y="391992"/>
                    <a:pt x="27798" y="374194"/>
                  </a:cubicBezTo>
                  <a:cubicBezTo>
                    <a:pt x="9999" y="356395"/>
                    <a:pt x="0" y="332255"/>
                    <a:pt x="0" y="307083"/>
                  </a:cubicBezTo>
                  <a:lnTo>
                    <a:pt x="0" y="94908"/>
                  </a:lnTo>
                  <a:cubicBezTo>
                    <a:pt x="0" y="69737"/>
                    <a:pt x="9999" y="45597"/>
                    <a:pt x="27798" y="27798"/>
                  </a:cubicBezTo>
                  <a:cubicBezTo>
                    <a:pt x="45597" y="9999"/>
                    <a:pt x="69737" y="0"/>
                    <a:pt x="94908" y="0"/>
                  </a:cubicBezTo>
                  <a:close/>
                </a:path>
              </a:pathLst>
            </a:custGeom>
            <a:solidFill>
              <a:srgbClr val="355688"/>
            </a:solidFill>
          </p:spPr>
          <p:txBody>
            <a:bodyPr/>
            <a:lstStyle/>
            <a:p>
              <a:endParaRPr lang="en-US"/>
            </a:p>
          </p:txBody>
        </p:sp>
        <p:sp>
          <p:nvSpPr>
            <p:cNvPr id="15" name="TextBox 15"/>
            <p:cNvSpPr txBox="1"/>
            <p:nvPr/>
          </p:nvSpPr>
          <p:spPr>
            <a:xfrm>
              <a:off x="0" y="66675"/>
              <a:ext cx="751947" cy="335317"/>
            </a:xfrm>
            <a:prstGeom prst="rect">
              <a:avLst/>
            </a:prstGeom>
          </p:spPr>
          <p:txBody>
            <a:bodyPr lIns="50800" tIns="50800" rIns="50800" bIns="50800" rtlCol="0" anchor="ctr"/>
            <a:lstStyle/>
            <a:p>
              <a:pPr algn="ctr">
                <a:lnSpc>
                  <a:spcPts val="2249"/>
                </a:lnSpc>
              </a:pPr>
              <a:endParaRPr/>
            </a:p>
          </p:txBody>
        </p:sp>
      </p:grpSp>
      <p:grpSp>
        <p:nvGrpSpPr>
          <p:cNvPr id="16" name="Group 16"/>
          <p:cNvGrpSpPr/>
          <p:nvPr/>
        </p:nvGrpSpPr>
        <p:grpSpPr>
          <a:xfrm>
            <a:off x="11057299" y="3795231"/>
            <a:ext cx="2855048" cy="1526312"/>
            <a:chOff x="0" y="0"/>
            <a:chExt cx="751947" cy="401992"/>
          </a:xfrm>
        </p:grpSpPr>
        <p:sp>
          <p:nvSpPr>
            <p:cNvPr id="17" name="Freeform 17"/>
            <p:cNvSpPr/>
            <p:nvPr/>
          </p:nvSpPr>
          <p:spPr>
            <a:xfrm>
              <a:off x="0" y="0"/>
              <a:ext cx="751947" cy="401992"/>
            </a:xfrm>
            <a:custGeom>
              <a:avLst/>
              <a:gdLst/>
              <a:ahLst/>
              <a:cxnLst/>
              <a:rect l="l" t="t" r="r" b="b"/>
              <a:pathLst>
                <a:path w="751947" h="401992">
                  <a:moveTo>
                    <a:pt x="94908" y="0"/>
                  </a:moveTo>
                  <a:lnTo>
                    <a:pt x="657039" y="0"/>
                  </a:lnTo>
                  <a:cubicBezTo>
                    <a:pt x="682210" y="0"/>
                    <a:pt x="706350" y="9999"/>
                    <a:pt x="724149" y="27798"/>
                  </a:cubicBezTo>
                  <a:cubicBezTo>
                    <a:pt x="741948" y="45597"/>
                    <a:pt x="751947" y="69737"/>
                    <a:pt x="751947" y="94908"/>
                  </a:cubicBezTo>
                  <a:lnTo>
                    <a:pt x="751947" y="307083"/>
                  </a:lnTo>
                  <a:cubicBezTo>
                    <a:pt x="751947" y="332255"/>
                    <a:pt x="741948" y="356395"/>
                    <a:pt x="724149" y="374194"/>
                  </a:cubicBezTo>
                  <a:cubicBezTo>
                    <a:pt x="706350" y="391992"/>
                    <a:pt x="682210" y="401992"/>
                    <a:pt x="657039" y="401992"/>
                  </a:cubicBezTo>
                  <a:lnTo>
                    <a:pt x="94908" y="401992"/>
                  </a:lnTo>
                  <a:cubicBezTo>
                    <a:pt x="69737" y="401992"/>
                    <a:pt x="45597" y="391992"/>
                    <a:pt x="27798" y="374194"/>
                  </a:cubicBezTo>
                  <a:cubicBezTo>
                    <a:pt x="9999" y="356395"/>
                    <a:pt x="0" y="332255"/>
                    <a:pt x="0" y="307083"/>
                  </a:cubicBezTo>
                  <a:lnTo>
                    <a:pt x="0" y="94908"/>
                  </a:lnTo>
                  <a:cubicBezTo>
                    <a:pt x="0" y="69737"/>
                    <a:pt x="9999" y="45597"/>
                    <a:pt x="27798" y="27798"/>
                  </a:cubicBezTo>
                  <a:cubicBezTo>
                    <a:pt x="45597" y="9999"/>
                    <a:pt x="69737" y="0"/>
                    <a:pt x="94908" y="0"/>
                  </a:cubicBezTo>
                  <a:close/>
                </a:path>
              </a:pathLst>
            </a:custGeom>
            <a:solidFill>
              <a:srgbClr val="355688"/>
            </a:solidFill>
          </p:spPr>
          <p:txBody>
            <a:bodyPr/>
            <a:lstStyle/>
            <a:p>
              <a:endParaRPr lang="en-US"/>
            </a:p>
          </p:txBody>
        </p:sp>
        <p:sp>
          <p:nvSpPr>
            <p:cNvPr id="18" name="TextBox 18"/>
            <p:cNvSpPr txBox="1"/>
            <p:nvPr/>
          </p:nvSpPr>
          <p:spPr>
            <a:xfrm>
              <a:off x="0" y="66675"/>
              <a:ext cx="751947" cy="335317"/>
            </a:xfrm>
            <a:prstGeom prst="rect">
              <a:avLst/>
            </a:prstGeom>
          </p:spPr>
          <p:txBody>
            <a:bodyPr lIns="50800" tIns="50800" rIns="50800" bIns="50800" rtlCol="0" anchor="ctr"/>
            <a:lstStyle/>
            <a:p>
              <a:pPr algn="ctr">
                <a:lnSpc>
                  <a:spcPts val="2249"/>
                </a:lnSpc>
              </a:pPr>
              <a:endParaRPr/>
            </a:p>
          </p:txBody>
        </p:sp>
      </p:grpSp>
      <p:sp>
        <p:nvSpPr>
          <p:cNvPr id="19" name="TextBox 19"/>
          <p:cNvSpPr txBox="1"/>
          <p:nvPr/>
        </p:nvSpPr>
        <p:spPr>
          <a:xfrm>
            <a:off x="1028700" y="4075025"/>
            <a:ext cx="2848588" cy="900049"/>
          </a:xfrm>
          <a:prstGeom prst="rect">
            <a:avLst/>
          </a:prstGeom>
        </p:spPr>
        <p:txBody>
          <a:bodyPr lIns="0" tIns="0" rIns="0" bIns="0" rtlCol="0" anchor="t">
            <a:spAutoFit/>
          </a:bodyPr>
          <a:lstStyle/>
          <a:p>
            <a:pPr algn="ctr">
              <a:lnSpc>
                <a:spcPts val="3457"/>
              </a:lnSpc>
            </a:pPr>
            <a:r>
              <a:rPr lang="en-US" sz="2599" b="1">
                <a:solidFill>
                  <a:srgbClr val="F3F4F7"/>
                </a:solidFill>
                <a:latin typeface="Telegraf Bold"/>
                <a:ea typeface="Telegraf Bold"/>
                <a:cs typeface="Telegraf Bold"/>
                <a:sym typeface="Telegraf Bold"/>
              </a:rPr>
              <a:t>1. </a:t>
            </a:r>
          </a:p>
          <a:p>
            <a:pPr algn="ctr">
              <a:lnSpc>
                <a:spcPts val="3457"/>
              </a:lnSpc>
            </a:pPr>
            <a:r>
              <a:rPr lang="en-US" sz="2599" b="1">
                <a:solidFill>
                  <a:srgbClr val="F3F4F7"/>
                </a:solidFill>
                <a:latin typeface="Telegraf Bold"/>
                <a:ea typeface="Telegraf Bold"/>
                <a:cs typeface="Telegraf Bold"/>
                <a:sym typeface="Telegraf Bold"/>
              </a:rPr>
              <a:t>CATEGORICAL</a:t>
            </a:r>
          </a:p>
        </p:txBody>
      </p:sp>
      <p:sp>
        <p:nvSpPr>
          <p:cNvPr id="20" name="TextBox 20"/>
          <p:cNvSpPr txBox="1"/>
          <p:nvPr/>
        </p:nvSpPr>
        <p:spPr>
          <a:xfrm>
            <a:off x="4382113" y="4083725"/>
            <a:ext cx="2848588" cy="873125"/>
          </a:xfrm>
          <a:prstGeom prst="rect">
            <a:avLst/>
          </a:prstGeom>
        </p:spPr>
        <p:txBody>
          <a:bodyPr lIns="0" tIns="0" rIns="0" bIns="0" rtlCol="0" anchor="t">
            <a:spAutoFit/>
          </a:bodyPr>
          <a:lstStyle/>
          <a:p>
            <a:pPr algn="ctr">
              <a:lnSpc>
                <a:spcPts val="3324"/>
              </a:lnSpc>
            </a:pPr>
            <a:r>
              <a:rPr lang="en-US" sz="2499" b="1">
                <a:solidFill>
                  <a:srgbClr val="F3F4F7"/>
                </a:solidFill>
                <a:latin typeface="Telegraf Bold"/>
                <a:ea typeface="Telegraf Bold"/>
                <a:cs typeface="Telegraf Bold"/>
                <a:sym typeface="Telegraf Bold"/>
              </a:rPr>
              <a:t>2. </a:t>
            </a:r>
          </a:p>
          <a:p>
            <a:pPr algn="ctr">
              <a:lnSpc>
                <a:spcPts val="3324"/>
              </a:lnSpc>
            </a:pPr>
            <a:r>
              <a:rPr lang="en-US" sz="2499" b="1">
                <a:solidFill>
                  <a:srgbClr val="F3F4F7"/>
                </a:solidFill>
                <a:latin typeface="Telegraf Bold"/>
                <a:ea typeface="Telegraf Bold"/>
                <a:cs typeface="Telegraf Bold"/>
                <a:sym typeface="Telegraf Bold"/>
              </a:rPr>
              <a:t>SCHEDULE</a:t>
            </a:r>
          </a:p>
        </p:txBody>
      </p:sp>
      <p:sp>
        <p:nvSpPr>
          <p:cNvPr id="21" name="TextBox 21"/>
          <p:cNvSpPr txBox="1"/>
          <p:nvPr/>
        </p:nvSpPr>
        <p:spPr>
          <a:xfrm>
            <a:off x="7722936" y="4075025"/>
            <a:ext cx="2848588" cy="900049"/>
          </a:xfrm>
          <a:prstGeom prst="rect">
            <a:avLst/>
          </a:prstGeom>
        </p:spPr>
        <p:txBody>
          <a:bodyPr lIns="0" tIns="0" rIns="0" bIns="0" rtlCol="0" anchor="t">
            <a:spAutoFit/>
          </a:bodyPr>
          <a:lstStyle/>
          <a:p>
            <a:pPr algn="ctr">
              <a:lnSpc>
                <a:spcPts val="3457"/>
              </a:lnSpc>
            </a:pPr>
            <a:r>
              <a:rPr lang="en-US" sz="2599" b="1">
                <a:solidFill>
                  <a:srgbClr val="F3F4F7"/>
                </a:solidFill>
                <a:latin typeface="Telegraf Bold"/>
                <a:ea typeface="Telegraf Bold"/>
                <a:cs typeface="Telegraf Bold"/>
                <a:sym typeface="Telegraf Bold"/>
              </a:rPr>
              <a:t>3. </a:t>
            </a:r>
          </a:p>
          <a:p>
            <a:pPr algn="ctr">
              <a:lnSpc>
                <a:spcPts val="3457"/>
              </a:lnSpc>
            </a:pPr>
            <a:r>
              <a:rPr lang="en-US" sz="2599" b="1">
                <a:solidFill>
                  <a:srgbClr val="F3F4F7"/>
                </a:solidFill>
                <a:latin typeface="Telegraf Bold"/>
                <a:ea typeface="Telegraf Bold"/>
                <a:cs typeface="Telegraf Bold"/>
                <a:sym typeface="Telegraf Bold"/>
              </a:rPr>
              <a:t>CONGESTION</a:t>
            </a:r>
          </a:p>
        </p:txBody>
      </p:sp>
      <p:sp>
        <p:nvSpPr>
          <p:cNvPr id="22" name="TextBox 22"/>
          <p:cNvSpPr txBox="1"/>
          <p:nvPr/>
        </p:nvSpPr>
        <p:spPr>
          <a:xfrm>
            <a:off x="11057299" y="3855950"/>
            <a:ext cx="2848588" cy="1338199"/>
          </a:xfrm>
          <a:prstGeom prst="rect">
            <a:avLst/>
          </a:prstGeom>
        </p:spPr>
        <p:txBody>
          <a:bodyPr lIns="0" tIns="0" rIns="0" bIns="0" rtlCol="0" anchor="t">
            <a:spAutoFit/>
          </a:bodyPr>
          <a:lstStyle/>
          <a:p>
            <a:pPr algn="ctr">
              <a:lnSpc>
                <a:spcPts val="3457"/>
              </a:lnSpc>
            </a:pPr>
            <a:r>
              <a:rPr lang="en-US" sz="2599" b="1">
                <a:solidFill>
                  <a:srgbClr val="F3F4F7"/>
                </a:solidFill>
                <a:latin typeface="Telegraf Bold"/>
                <a:ea typeface="Telegraf Bold"/>
                <a:cs typeface="Telegraf Bold"/>
                <a:sym typeface="Telegraf Bold"/>
              </a:rPr>
              <a:t>4. </a:t>
            </a:r>
          </a:p>
          <a:p>
            <a:pPr algn="ctr">
              <a:lnSpc>
                <a:spcPts val="3457"/>
              </a:lnSpc>
            </a:pPr>
            <a:r>
              <a:rPr lang="en-US" sz="2599" b="1">
                <a:solidFill>
                  <a:srgbClr val="F3F4F7"/>
                </a:solidFill>
                <a:latin typeface="Telegraf Bold"/>
                <a:ea typeface="Telegraf Bold"/>
                <a:cs typeface="Telegraf Bold"/>
                <a:sym typeface="Telegraf Bold"/>
              </a:rPr>
              <a:t>ENTITY </a:t>
            </a:r>
          </a:p>
          <a:p>
            <a:pPr algn="ctr">
              <a:lnSpc>
                <a:spcPts val="3457"/>
              </a:lnSpc>
            </a:pPr>
            <a:r>
              <a:rPr lang="en-US" sz="2599" b="1">
                <a:solidFill>
                  <a:srgbClr val="F3F4F7"/>
                </a:solidFill>
                <a:latin typeface="Telegraf Bold"/>
                <a:ea typeface="Telegraf Bold"/>
                <a:cs typeface="Telegraf Bold"/>
                <a:sym typeface="Telegraf Bold"/>
              </a:rPr>
              <a:t>HISTORY</a:t>
            </a:r>
          </a:p>
        </p:txBody>
      </p:sp>
      <p:sp>
        <p:nvSpPr>
          <p:cNvPr id="23" name="TextBox 23"/>
          <p:cNvSpPr txBox="1"/>
          <p:nvPr/>
        </p:nvSpPr>
        <p:spPr>
          <a:xfrm>
            <a:off x="14410712" y="3855950"/>
            <a:ext cx="2848588" cy="1338199"/>
          </a:xfrm>
          <a:prstGeom prst="rect">
            <a:avLst/>
          </a:prstGeom>
        </p:spPr>
        <p:txBody>
          <a:bodyPr lIns="0" tIns="0" rIns="0" bIns="0" rtlCol="0" anchor="t">
            <a:spAutoFit/>
          </a:bodyPr>
          <a:lstStyle/>
          <a:p>
            <a:pPr algn="ctr">
              <a:lnSpc>
                <a:spcPts val="3457"/>
              </a:lnSpc>
            </a:pPr>
            <a:r>
              <a:rPr lang="en-US" sz="2599" b="1">
                <a:solidFill>
                  <a:srgbClr val="F3F4F7"/>
                </a:solidFill>
                <a:latin typeface="Telegraf Bold"/>
                <a:ea typeface="Telegraf Bold"/>
                <a:cs typeface="Telegraf Bold"/>
                <a:sym typeface="Telegraf Bold"/>
              </a:rPr>
              <a:t>5. </a:t>
            </a:r>
          </a:p>
          <a:p>
            <a:pPr algn="ctr">
              <a:lnSpc>
                <a:spcPts val="3457"/>
              </a:lnSpc>
            </a:pPr>
            <a:r>
              <a:rPr lang="en-US" sz="2599" b="1">
                <a:solidFill>
                  <a:srgbClr val="F3F4F7"/>
                </a:solidFill>
                <a:latin typeface="Telegraf Bold"/>
                <a:ea typeface="Telegraf Bold"/>
                <a:cs typeface="Telegraf Bold"/>
                <a:sym typeface="Telegraf Bold"/>
              </a:rPr>
              <a:t>DAY-LEVEL</a:t>
            </a:r>
          </a:p>
          <a:p>
            <a:pPr algn="ctr">
              <a:lnSpc>
                <a:spcPts val="3457"/>
              </a:lnSpc>
            </a:pPr>
            <a:r>
              <a:rPr lang="en-US" sz="2599" b="1">
                <a:solidFill>
                  <a:srgbClr val="F3F4F7"/>
                </a:solidFill>
                <a:latin typeface="Telegraf Bold"/>
                <a:ea typeface="Telegraf Bold"/>
                <a:cs typeface="Telegraf Bold"/>
                <a:sym typeface="Telegraf Bold"/>
              </a:rPr>
              <a:t>HISTORY</a:t>
            </a:r>
          </a:p>
        </p:txBody>
      </p:sp>
      <p:grpSp>
        <p:nvGrpSpPr>
          <p:cNvPr id="24" name="Group 24"/>
          <p:cNvGrpSpPr/>
          <p:nvPr/>
        </p:nvGrpSpPr>
        <p:grpSpPr>
          <a:xfrm>
            <a:off x="5215310" y="5978768"/>
            <a:ext cx="7863840" cy="3520440"/>
            <a:chOff x="0" y="0"/>
            <a:chExt cx="10485120" cy="4693920"/>
          </a:xfrm>
        </p:grpSpPr>
        <p:sp>
          <p:nvSpPr>
            <p:cNvPr id="25" name="Freeform 25"/>
            <p:cNvSpPr/>
            <p:nvPr/>
          </p:nvSpPr>
          <p:spPr>
            <a:xfrm>
              <a:off x="0" y="0"/>
              <a:ext cx="10485120" cy="4693920"/>
            </a:xfrm>
            <a:custGeom>
              <a:avLst/>
              <a:gdLst/>
              <a:ahLst/>
              <a:cxnLst/>
              <a:rect l="l" t="t" r="r" b="b"/>
              <a:pathLst>
                <a:path w="10485120" h="4693920">
                  <a:moveTo>
                    <a:pt x="0" y="234696"/>
                  </a:moveTo>
                  <a:cubicBezTo>
                    <a:pt x="0" y="105029"/>
                    <a:pt x="105029" y="0"/>
                    <a:pt x="234696" y="0"/>
                  </a:cubicBezTo>
                  <a:lnTo>
                    <a:pt x="10250424" y="0"/>
                  </a:lnTo>
                  <a:cubicBezTo>
                    <a:pt x="10380091" y="0"/>
                    <a:pt x="10485120" y="105029"/>
                    <a:pt x="10485120" y="234696"/>
                  </a:cubicBezTo>
                  <a:lnTo>
                    <a:pt x="10485120" y="4459224"/>
                  </a:lnTo>
                  <a:cubicBezTo>
                    <a:pt x="10485120" y="4588891"/>
                    <a:pt x="10380091" y="4693920"/>
                    <a:pt x="10250424" y="4693920"/>
                  </a:cubicBezTo>
                  <a:lnTo>
                    <a:pt x="234696" y="4693920"/>
                  </a:lnTo>
                  <a:cubicBezTo>
                    <a:pt x="105029" y="4693920"/>
                    <a:pt x="0" y="4588891"/>
                    <a:pt x="0" y="4459224"/>
                  </a:cubicBezTo>
                  <a:close/>
                </a:path>
              </a:pathLst>
            </a:custGeom>
            <a:solidFill>
              <a:srgbClr val="F3F4F7"/>
            </a:solidFill>
          </p:spPr>
          <p:txBody>
            <a:bodyPr/>
            <a:lstStyle/>
            <a:p>
              <a:endParaRPr lang="en-US"/>
            </a:p>
          </p:txBody>
        </p:sp>
      </p:grpSp>
      <p:sp>
        <p:nvSpPr>
          <p:cNvPr id="26" name="TextBox 26"/>
          <p:cNvSpPr txBox="1"/>
          <p:nvPr/>
        </p:nvSpPr>
        <p:spPr>
          <a:xfrm>
            <a:off x="5524133" y="6451090"/>
            <a:ext cx="7246195" cy="2499596"/>
          </a:xfrm>
          <a:prstGeom prst="rect">
            <a:avLst/>
          </a:prstGeom>
        </p:spPr>
        <p:txBody>
          <a:bodyPr lIns="0" tIns="0" rIns="0" bIns="0" rtlCol="0" anchor="t">
            <a:spAutoFit/>
          </a:bodyPr>
          <a:lstStyle/>
          <a:p>
            <a:pPr algn="ctr">
              <a:lnSpc>
                <a:spcPts val="3263"/>
              </a:lnSpc>
              <a:spcBef>
                <a:spcPct val="0"/>
              </a:spcBef>
            </a:pPr>
            <a:r>
              <a:rPr lang="en-US" sz="2330" b="1">
                <a:solidFill>
                  <a:srgbClr val="000000"/>
                </a:solidFill>
                <a:latin typeface="Telegraf Bold"/>
                <a:ea typeface="Telegraf Bold"/>
                <a:cs typeface="Telegraf Bold"/>
                <a:sym typeface="Telegraf Bold"/>
              </a:rPr>
              <a:t>Three automated leakage checks ran; one detected two same-day aircraft-rotation features that violated the cutoff constraint. They were removed.</a:t>
            </a:r>
          </a:p>
          <a:p>
            <a:pPr algn="ctr">
              <a:lnSpc>
                <a:spcPts val="3263"/>
              </a:lnSpc>
              <a:spcBef>
                <a:spcPct val="0"/>
              </a:spcBef>
            </a:pPr>
            <a:endParaRPr lang="en-US" sz="2330" b="1">
              <a:solidFill>
                <a:srgbClr val="000000"/>
              </a:solidFill>
              <a:latin typeface="Telegraf Bold"/>
              <a:ea typeface="Telegraf Bold"/>
              <a:cs typeface="Telegraf Bold"/>
              <a:sym typeface="Telegraf Bold"/>
            </a:endParaRPr>
          </a:p>
          <a:p>
            <a:pPr algn="ctr">
              <a:lnSpc>
                <a:spcPts val="3263"/>
              </a:lnSpc>
              <a:spcBef>
                <a:spcPct val="0"/>
              </a:spcBef>
            </a:pPr>
            <a:r>
              <a:rPr lang="en-US" sz="2330" b="1">
                <a:solidFill>
                  <a:srgbClr val="000000"/>
                </a:solidFill>
                <a:latin typeface="Telegraf Bold"/>
                <a:ea typeface="Telegraf Bold"/>
                <a:cs typeface="Telegraf Bold"/>
                <a:sym typeface="Telegraf Bold"/>
              </a:rPr>
              <a:t>45 → 43 features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288"/>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4" name="Group 4"/>
          <p:cNvGrpSpPr/>
          <p:nvPr/>
        </p:nvGrpSpPr>
        <p:grpSpPr>
          <a:xfrm>
            <a:off x="918782" y="2808599"/>
            <a:ext cx="16340518" cy="989371"/>
            <a:chOff x="0" y="0"/>
            <a:chExt cx="21787358" cy="1319162"/>
          </a:xfrm>
        </p:grpSpPr>
        <p:sp>
          <p:nvSpPr>
            <p:cNvPr id="5" name="Freeform 5"/>
            <p:cNvSpPr/>
            <p:nvPr/>
          </p:nvSpPr>
          <p:spPr>
            <a:xfrm>
              <a:off x="0" y="0"/>
              <a:ext cx="21787358" cy="1319149"/>
            </a:xfrm>
            <a:custGeom>
              <a:avLst/>
              <a:gdLst/>
              <a:ahLst/>
              <a:cxnLst/>
              <a:rect l="l" t="t" r="r" b="b"/>
              <a:pathLst>
                <a:path w="21787358" h="1319149">
                  <a:moveTo>
                    <a:pt x="0" y="0"/>
                  </a:moveTo>
                  <a:lnTo>
                    <a:pt x="21787358" y="0"/>
                  </a:lnTo>
                  <a:lnTo>
                    <a:pt x="21787358" y="1319149"/>
                  </a:lnTo>
                  <a:lnTo>
                    <a:pt x="0" y="1319149"/>
                  </a:lnTo>
                  <a:lnTo>
                    <a:pt x="0" y="0"/>
                  </a:lnTo>
                  <a:close/>
                </a:path>
              </a:pathLst>
            </a:custGeom>
            <a:blipFill>
              <a:blip r:embed="rId3"/>
              <a:stretch>
                <a:fillRect t="-14627" b="-14629"/>
              </a:stretch>
            </a:blipFill>
          </p:spPr>
          <p:txBody>
            <a:bodyPr/>
            <a:lstStyle/>
            <a:p>
              <a:endParaRPr lang="en-US"/>
            </a:p>
          </p:txBody>
        </p:sp>
      </p:grpSp>
      <p:sp>
        <p:nvSpPr>
          <p:cNvPr id="6" name="Freeform 6"/>
          <p:cNvSpPr/>
          <p:nvPr/>
        </p:nvSpPr>
        <p:spPr>
          <a:xfrm>
            <a:off x="1125264" y="4419733"/>
            <a:ext cx="5042954" cy="4838567"/>
          </a:xfrm>
          <a:custGeom>
            <a:avLst/>
            <a:gdLst/>
            <a:ahLst/>
            <a:cxnLst/>
            <a:rect l="l" t="t" r="r" b="b"/>
            <a:pathLst>
              <a:path w="5042954" h="4838567">
                <a:moveTo>
                  <a:pt x="0" y="0"/>
                </a:moveTo>
                <a:lnTo>
                  <a:pt x="5042955" y="0"/>
                </a:lnTo>
                <a:lnTo>
                  <a:pt x="5042955" y="4838567"/>
                </a:lnTo>
                <a:lnTo>
                  <a:pt x="0" y="483856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1134789" y="5022532"/>
            <a:ext cx="5031191" cy="356235"/>
          </a:xfrm>
          <a:prstGeom prst="rect">
            <a:avLst/>
          </a:prstGeom>
        </p:spPr>
        <p:txBody>
          <a:bodyPr lIns="0" tIns="0" rIns="0" bIns="0" rtlCol="0" anchor="t">
            <a:spAutoFit/>
          </a:bodyPr>
          <a:lstStyle/>
          <a:p>
            <a:pPr algn="ctr">
              <a:lnSpc>
                <a:spcPts val="2789"/>
              </a:lnSpc>
            </a:pPr>
            <a:r>
              <a:rPr lang="en-US" sz="3099" b="1">
                <a:solidFill>
                  <a:srgbClr val="F3F4F7"/>
                </a:solidFill>
                <a:latin typeface="Telegraf Bold"/>
                <a:ea typeface="Telegraf Bold"/>
                <a:cs typeface="Telegraf Bold"/>
                <a:sym typeface="Telegraf Bold"/>
              </a:rPr>
              <a:t>Models We Trained</a:t>
            </a:r>
          </a:p>
        </p:txBody>
      </p:sp>
      <p:sp>
        <p:nvSpPr>
          <p:cNvPr id="8" name="TextBox 8"/>
          <p:cNvSpPr txBox="1"/>
          <p:nvPr/>
        </p:nvSpPr>
        <p:spPr>
          <a:xfrm>
            <a:off x="1248083" y="5581650"/>
            <a:ext cx="4532109" cy="3358515"/>
          </a:xfrm>
          <a:prstGeom prst="rect">
            <a:avLst/>
          </a:prstGeom>
        </p:spPr>
        <p:txBody>
          <a:bodyPr lIns="0" tIns="0" rIns="0" bIns="0" rtlCol="0" anchor="t">
            <a:spAutoFit/>
          </a:bodyPr>
          <a:lstStyle/>
          <a:p>
            <a:pPr marL="502919" lvl="2" indent="-167640" algn="l">
              <a:lnSpc>
                <a:spcPts val="2969"/>
              </a:lnSpc>
              <a:buFont typeface="Arial"/>
              <a:buChar char="⚬"/>
            </a:pPr>
            <a:r>
              <a:rPr lang="en-US" sz="2199" b="1">
                <a:solidFill>
                  <a:srgbClr val="F3F4F7"/>
                </a:solidFill>
                <a:latin typeface="Telegraf Bold"/>
                <a:ea typeface="Telegraf Bold"/>
                <a:cs typeface="Telegraf Bold"/>
                <a:sym typeface="Telegraf Bold"/>
              </a:rPr>
              <a:t>Logistic Regression: L2-regularised (C = 0.1), missing values median-imputed with flags.</a:t>
            </a:r>
          </a:p>
          <a:p>
            <a:pPr marL="502919" lvl="2" indent="-167640" algn="l">
              <a:lnSpc>
                <a:spcPts val="2969"/>
              </a:lnSpc>
              <a:buFont typeface="Arial"/>
              <a:buChar char="⚬"/>
            </a:pPr>
            <a:r>
              <a:rPr lang="en-US" sz="2199" b="1">
                <a:solidFill>
                  <a:srgbClr val="F3F4F7"/>
                </a:solidFill>
                <a:latin typeface="Telegraf Bold"/>
                <a:ea typeface="Telegraf Bold"/>
                <a:cs typeface="Telegraf Bold"/>
                <a:sym typeface="Telegraf Bold"/>
              </a:rPr>
              <a:t>XGBoost: shallow trees (depth 2, 108 trees), handles missing values natively.</a:t>
            </a:r>
          </a:p>
          <a:p>
            <a:pPr marL="502919" lvl="2" indent="-167640" algn="l">
              <a:lnSpc>
                <a:spcPts val="2969"/>
              </a:lnSpc>
              <a:buFont typeface="Arial"/>
              <a:buChar char="⚬"/>
            </a:pPr>
            <a:r>
              <a:rPr lang="en-US" sz="2199" b="1">
                <a:solidFill>
                  <a:srgbClr val="F3F4F7"/>
                </a:solidFill>
                <a:latin typeface="Telegraf Bold"/>
                <a:ea typeface="Telegraf Bold"/>
                <a:cs typeface="Telegraf Bold"/>
                <a:sym typeface="Telegraf Bold"/>
              </a:rPr>
              <a:t>Baselines: base-rate prior and route-history delay rate.</a:t>
            </a:r>
          </a:p>
        </p:txBody>
      </p:sp>
      <p:sp>
        <p:nvSpPr>
          <p:cNvPr id="9" name="Freeform 9"/>
          <p:cNvSpPr/>
          <p:nvPr/>
        </p:nvSpPr>
        <p:spPr>
          <a:xfrm>
            <a:off x="12216346" y="4419733"/>
            <a:ext cx="5042954" cy="4838567"/>
          </a:xfrm>
          <a:custGeom>
            <a:avLst/>
            <a:gdLst/>
            <a:ahLst/>
            <a:cxnLst/>
            <a:rect l="l" t="t" r="r" b="b"/>
            <a:pathLst>
              <a:path w="5042954" h="4838567">
                <a:moveTo>
                  <a:pt x="0" y="0"/>
                </a:moveTo>
                <a:lnTo>
                  <a:pt x="5042954" y="0"/>
                </a:lnTo>
                <a:lnTo>
                  <a:pt x="5042954" y="4838567"/>
                </a:lnTo>
                <a:lnTo>
                  <a:pt x="0" y="483856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6670805" y="4419733"/>
            <a:ext cx="5042954" cy="4838567"/>
          </a:xfrm>
          <a:custGeom>
            <a:avLst/>
            <a:gdLst/>
            <a:ahLst/>
            <a:cxnLst/>
            <a:rect l="l" t="t" r="r" b="b"/>
            <a:pathLst>
              <a:path w="5042954" h="4838567">
                <a:moveTo>
                  <a:pt x="0" y="0"/>
                </a:moveTo>
                <a:lnTo>
                  <a:pt x="5042954" y="0"/>
                </a:lnTo>
                <a:lnTo>
                  <a:pt x="5042954" y="4838567"/>
                </a:lnTo>
                <a:lnTo>
                  <a:pt x="0" y="483856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6682569" y="5022532"/>
            <a:ext cx="5031191" cy="356235"/>
          </a:xfrm>
          <a:prstGeom prst="rect">
            <a:avLst/>
          </a:prstGeom>
        </p:spPr>
        <p:txBody>
          <a:bodyPr lIns="0" tIns="0" rIns="0" bIns="0" rtlCol="0" anchor="t">
            <a:spAutoFit/>
          </a:bodyPr>
          <a:lstStyle/>
          <a:p>
            <a:pPr algn="ctr">
              <a:lnSpc>
                <a:spcPts val="2789"/>
              </a:lnSpc>
            </a:pPr>
            <a:r>
              <a:rPr lang="en-US" sz="3099" b="1">
                <a:solidFill>
                  <a:srgbClr val="071125"/>
                </a:solidFill>
                <a:latin typeface="Telegraf Bold"/>
                <a:ea typeface="Telegraf Bold"/>
                <a:cs typeface="Telegraf Bold"/>
                <a:sym typeface="Telegraf Bold"/>
              </a:rPr>
              <a:t>Model Selection</a:t>
            </a:r>
          </a:p>
        </p:txBody>
      </p:sp>
      <p:sp>
        <p:nvSpPr>
          <p:cNvPr id="12" name="TextBox 12"/>
          <p:cNvSpPr txBox="1"/>
          <p:nvPr/>
        </p:nvSpPr>
        <p:spPr>
          <a:xfrm>
            <a:off x="12228109" y="5022532"/>
            <a:ext cx="5031191" cy="356235"/>
          </a:xfrm>
          <a:prstGeom prst="rect">
            <a:avLst/>
          </a:prstGeom>
        </p:spPr>
        <p:txBody>
          <a:bodyPr lIns="0" tIns="0" rIns="0" bIns="0" rtlCol="0" anchor="t">
            <a:spAutoFit/>
          </a:bodyPr>
          <a:lstStyle/>
          <a:p>
            <a:pPr algn="ctr">
              <a:lnSpc>
                <a:spcPts val="2789"/>
              </a:lnSpc>
            </a:pPr>
            <a:r>
              <a:rPr lang="en-US" sz="3099" b="1">
                <a:solidFill>
                  <a:srgbClr val="F3F4F7"/>
                </a:solidFill>
                <a:latin typeface="Telegraf Bold"/>
                <a:ea typeface="Telegraf Bold"/>
                <a:cs typeface="Telegraf Bold"/>
                <a:sym typeface="Telegraf Bold"/>
              </a:rPr>
              <a:t>CV PR-AUC Results</a:t>
            </a:r>
          </a:p>
        </p:txBody>
      </p:sp>
      <p:sp>
        <p:nvSpPr>
          <p:cNvPr id="13" name="TextBox 13"/>
          <p:cNvSpPr txBox="1"/>
          <p:nvPr/>
        </p:nvSpPr>
        <p:spPr>
          <a:xfrm>
            <a:off x="6822986" y="5642610"/>
            <a:ext cx="4532109" cy="3044190"/>
          </a:xfrm>
          <a:prstGeom prst="rect">
            <a:avLst/>
          </a:prstGeom>
        </p:spPr>
        <p:txBody>
          <a:bodyPr lIns="0" tIns="0" rIns="0" bIns="0" rtlCol="0" anchor="t">
            <a:spAutoFit/>
          </a:bodyPr>
          <a:lstStyle/>
          <a:p>
            <a:pPr marL="502919" lvl="2" indent="-167640" algn="l">
              <a:lnSpc>
                <a:spcPts val="2969"/>
              </a:lnSpc>
              <a:buFont typeface="Arial"/>
              <a:buChar char="⚬"/>
            </a:pPr>
            <a:r>
              <a:rPr lang="en-US" sz="2199" b="1">
                <a:solidFill>
                  <a:srgbClr val="071125"/>
                </a:solidFill>
                <a:latin typeface="Telegraf Bold"/>
                <a:ea typeface="Telegraf Bold"/>
                <a:cs typeface="Telegraf Bold"/>
                <a:sym typeface="Telegraf Bold"/>
              </a:rPr>
              <a:t>Chronological splits: </a:t>
            </a:r>
            <a:r>
              <a:rPr lang="en-US" sz="2199">
                <a:solidFill>
                  <a:srgbClr val="071125"/>
                </a:solidFill>
                <a:latin typeface="Telegraf"/>
                <a:ea typeface="Telegraf"/>
                <a:cs typeface="Telegraf"/>
                <a:sym typeface="Telegraf"/>
              </a:rPr>
              <a:t>train Jan–Aug, calibrate Sep–Oct, test Nov–Dec.</a:t>
            </a:r>
          </a:p>
          <a:p>
            <a:pPr marL="502919" lvl="2" indent="-167640" algn="l">
              <a:lnSpc>
                <a:spcPts val="2969"/>
              </a:lnSpc>
              <a:buFont typeface="Arial"/>
              <a:buChar char="⚬"/>
            </a:pPr>
            <a:r>
              <a:rPr lang="en-US" sz="2199" b="1">
                <a:solidFill>
                  <a:srgbClr val="071125"/>
                </a:solidFill>
                <a:latin typeface="Telegraf Bold"/>
                <a:ea typeface="Telegraf Bold"/>
                <a:cs typeface="Telegraf Bold"/>
                <a:sym typeface="Telegraf Bold"/>
              </a:rPr>
              <a:t>Rolling-origin CV: </a:t>
            </a:r>
            <a:r>
              <a:rPr lang="en-US" sz="2199">
                <a:solidFill>
                  <a:srgbClr val="071125"/>
                </a:solidFill>
                <a:latin typeface="Telegraf"/>
                <a:ea typeface="Telegraf"/>
                <a:cs typeface="Telegraf"/>
                <a:sym typeface="Telegraf"/>
              </a:rPr>
              <a:t>4 folds validate May, Jun, Jul and Aug, each trained only on earlier months.</a:t>
            </a:r>
          </a:p>
          <a:p>
            <a:pPr marL="502919" lvl="2" indent="-167640" algn="l">
              <a:lnSpc>
                <a:spcPts val="2969"/>
              </a:lnSpc>
              <a:buFont typeface="Arial"/>
              <a:buChar char="⚬"/>
            </a:pPr>
            <a:r>
              <a:rPr lang="en-US" sz="2199" b="1">
                <a:solidFill>
                  <a:srgbClr val="071125"/>
                </a:solidFill>
                <a:latin typeface="Telegraf Bold"/>
                <a:ea typeface="Telegraf Bold"/>
                <a:cs typeface="Telegraf Bold"/>
                <a:sym typeface="Telegraf Bold"/>
              </a:rPr>
              <a:t>Rule fixed before test: </a:t>
            </a:r>
            <a:r>
              <a:rPr lang="en-US" sz="2199">
                <a:solidFill>
                  <a:srgbClr val="071125"/>
                </a:solidFill>
                <a:latin typeface="Telegraf"/>
                <a:ea typeface="Telegraf"/>
                <a:cs typeface="Telegraf"/>
                <a:sym typeface="Telegraf"/>
              </a:rPr>
              <a:t>pick the higher mean CV PR-AUC.</a:t>
            </a:r>
          </a:p>
        </p:txBody>
      </p:sp>
      <p:grpSp>
        <p:nvGrpSpPr>
          <p:cNvPr id="14" name="Group 14"/>
          <p:cNvGrpSpPr/>
          <p:nvPr/>
        </p:nvGrpSpPr>
        <p:grpSpPr>
          <a:xfrm>
            <a:off x="1024128" y="566928"/>
            <a:ext cx="16230600" cy="1005840"/>
            <a:chOff x="0" y="0"/>
            <a:chExt cx="21640800" cy="1341120"/>
          </a:xfrm>
        </p:grpSpPr>
        <p:sp>
          <p:nvSpPr>
            <p:cNvPr id="15" name="Freeform 15"/>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7">
                <a:alphaModFix amt="0"/>
              </a:blip>
              <a:stretch>
                <a:fillRect t="-264417" b="-264417"/>
              </a:stretch>
            </a:blipFill>
          </p:spPr>
          <p:txBody>
            <a:bodyPr/>
            <a:lstStyle/>
            <a:p>
              <a:endParaRPr lang="en-US"/>
            </a:p>
          </p:txBody>
        </p:sp>
        <p:sp>
          <p:nvSpPr>
            <p:cNvPr id="16" name="TextBox 16"/>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Training &amp; Model Selection</a:t>
              </a:r>
            </a:p>
          </p:txBody>
        </p:sp>
      </p:grpSp>
      <p:sp>
        <p:nvSpPr>
          <p:cNvPr id="17" name="TextBox 17"/>
          <p:cNvSpPr txBox="1"/>
          <p:nvPr/>
        </p:nvSpPr>
        <p:spPr>
          <a:xfrm>
            <a:off x="12370984" y="5610225"/>
            <a:ext cx="4719080" cy="2185035"/>
          </a:xfrm>
          <a:prstGeom prst="rect">
            <a:avLst/>
          </a:prstGeom>
        </p:spPr>
        <p:txBody>
          <a:bodyPr lIns="0" tIns="0" rIns="0" bIns="0" rtlCol="0" anchor="t">
            <a:spAutoFit/>
          </a:bodyPr>
          <a:lstStyle/>
          <a:p>
            <a:pPr algn="l">
              <a:lnSpc>
                <a:spcPts val="2497"/>
              </a:lnSpc>
            </a:pPr>
            <a:r>
              <a:rPr lang="en-US" sz="2080" b="1">
                <a:solidFill>
                  <a:srgbClr val="FFFFFF"/>
                </a:solidFill>
                <a:latin typeface="Telegraf Bold"/>
                <a:ea typeface="Telegraf Bold"/>
                <a:cs typeface="Telegraf Bold"/>
                <a:sym typeface="Telegraf Bold"/>
              </a:rPr>
              <a:t>Base-rate prior</a:t>
            </a:r>
          </a:p>
          <a:p>
            <a:pPr algn="l">
              <a:lnSpc>
                <a:spcPts val="2996"/>
              </a:lnSpc>
            </a:pPr>
            <a:r>
              <a:rPr lang="en-US" sz="2497" b="1">
                <a:solidFill>
                  <a:srgbClr val="FFFFFF"/>
                </a:solidFill>
                <a:latin typeface="Telegraf Bold"/>
                <a:ea typeface="Telegraf Bold"/>
                <a:cs typeface="Telegraf Bold"/>
                <a:sym typeface="Telegraf Bold"/>
              </a:rPr>
              <a:t>0.265</a:t>
            </a:r>
          </a:p>
          <a:p>
            <a:pPr algn="l">
              <a:lnSpc>
                <a:spcPts val="2497"/>
              </a:lnSpc>
            </a:pPr>
            <a:r>
              <a:rPr lang="en-US" sz="2080" b="1">
                <a:solidFill>
                  <a:srgbClr val="FFFFFF"/>
                </a:solidFill>
                <a:latin typeface="Telegraf Bold"/>
                <a:ea typeface="Telegraf Bold"/>
                <a:cs typeface="Telegraf Bold"/>
                <a:sym typeface="Telegraf Bold"/>
              </a:rPr>
              <a:t>XGBoost</a:t>
            </a:r>
          </a:p>
          <a:p>
            <a:pPr algn="l">
              <a:lnSpc>
                <a:spcPts val="2996"/>
              </a:lnSpc>
            </a:pPr>
            <a:r>
              <a:rPr lang="en-US" sz="2497" b="1">
                <a:solidFill>
                  <a:srgbClr val="FFFFFF"/>
                </a:solidFill>
                <a:latin typeface="Telegraf Bold"/>
                <a:ea typeface="Telegraf Bold"/>
                <a:cs typeface="Telegraf Bold"/>
                <a:sym typeface="Telegraf Bold"/>
              </a:rPr>
              <a:t>0.450</a:t>
            </a:r>
          </a:p>
          <a:p>
            <a:pPr algn="l">
              <a:lnSpc>
                <a:spcPts val="2497"/>
              </a:lnSpc>
            </a:pPr>
            <a:r>
              <a:rPr lang="en-US" sz="2080" b="1">
                <a:solidFill>
                  <a:srgbClr val="FFFFFF"/>
                </a:solidFill>
                <a:latin typeface="Telegraf Bold"/>
                <a:ea typeface="Telegraf Bold"/>
                <a:cs typeface="Telegraf Bold"/>
                <a:sym typeface="Telegraf Bold"/>
              </a:rPr>
              <a:t>Logistic Regression ✓</a:t>
            </a:r>
          </a:p>
          <a:p>
            <a:pPr algn="l">
              <a:lnSpc>
                <a:spcPts val="3745"/>
              </a:lnSpc>
            </a:pPr>
            <a:r>
              <a:rPr lang="en-US" sz="3121" b="1">
                <a:solidFill>
                  <a:srgbClr val="FFFFFF"/>
                </a:solidFill>
                <a:latin typeface="Telegraf Bold"/>
                <a:ea typeface="Telegraf Bold"/>
                <a:cs typeface="Telegraf Bold"/>
                <a:sym typeface="Telegraf Bold"/>
              </a:rPr>
              <a:t>0.471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288"/>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4" name="Group 4"/>
          <p:cNvGrpSpPr/>
          <p:nvPr/>
        </p:nvGrpSpPr>
        <p:grpSpPr>
          <a:xfrm>
            <a:off x="1024128" y="566928"/>
            <a:ext cx="16230600" cy="1005840"/>
            <a:chOff x="0" y="0"/>
            <a:chExt cx="21640800" cy="1341120"/>
          </a:xfrm>
        </p:grpSpPr>
        <p:sp>
          <p:nvSpPr>
            <p:cNvPr id="5" name="Freeform 5"/>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3">
                <a:alphaModFix amt="0"/>
              </a:blip>
              <a:stretch>
                <a:fillRect t="-264417" b="-264417"/>
              </a:stretch>
            </a:blipFill>
          </p:spPr>
          <p:txBody>
            <a:bodyPr/>
            <a:lstStyle/>
            <a:p>
              <a:endParaRPr lang="en-US"/>
            </a:p>
          </p:txBody>
        </p:sp>
        <p:sp>
          <p:nvSpPr>
            <p:cNvPr id="6" name="TextBox 6"/>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Why We Chose Logistic Regression</a:t>
              </a:r>
            </a:p>
          </p:txBody>
        </p:sp>
      </p:grpSp>
      <p:sp>
        <p:nvSpPr>
          <p:cNvPr id="7" name="TextBox 7"/>
          <p:cNvSpPr txBox="1"/>
          <p:nvPr/>
        </p:nvSpPr>
        <p:spPr>
          <a:xfrm>
            <a:off x="1024128" y="2367153"/>
            <a:ext cx="16230600" cy="485775"/>
          </a:xfrm>
          <a:prstGeom prst="rect">
            <a:avLst/>
          </a:prstGeom>
        </p:spPr>
        <p:txBody>
          <a:bodyPr lIns="0" tIns="0" rIns="0" bIns="0" rtlCol="0" anchor="t">
            <a:spAutoFit/>
          </a:bodyPr>
          <a:lstStyle/>
          <a:p>
            <a:pPr algn="l">
              <a:lnSpc>
                <a:spcPts val="2879"/>
              </a:lnSpc>
            </a:pPr>
            <a:r>
              <a:rPr lang="en-US" sz="2400">
                <a:solidFill>
                  <a:srgbClr val="2F2A24"/>
                </a:solidFill>
                <a:latin typeface="Telegraf"/>
                <a:ea typeface="Telegraf"/>
                <a:cs typeface="Telegraf"/>
                <a:sym typeface="Telegraf"/>
              </a:rPr>
              <a:t>Our final model is </a:t>
            </a:r>
            <a:r>
              <a:rPr lang="en-US" sz="2400" b="1">
                <a:solidFill>
                  <a:srgbClr val="355688"/>
                </a:solidFill>
                <a:latin typeface="Telegraf Bold"/>
                <a:ea typeface="Telegraf Bold"/>
                <a:cs typeface="Telegraf Bold"/>
                <a:sym typeface="Telegraf Bold"/>
              </a:rPr>
              <a:t>Logistic Regression</a:t>
            </a:r>
            <a:r>
              <a:rPr lang="en-US" sz="2400">
                <a:solidFill>
                  <a:srgbClr val="2F2A24"/>
                </a:solidFill>
                <a:latin typeface="Telegraf"/>
                <a:ea typeface="Telegraf"/>
                <a:cs typeface="Telegraf"/>
                <a:sym typeface="Telegraf"/>
              </a:rPr>
              <a:t>. Four simple reasons:</a:t>
            </a:r>
          </a:p>
        </p:txBody>
      </p:sp>
      <p:grpSp>
        <p:nvGrpSpPr>
          <p:cNvPr id="8" name="Group 8"/>
          <p:cNvGrpSpPr/>
          <p:nvPr/>
        </p:nvGrpSpPr>
        <p:grpSpPr>
          <a:xfrm>
            <a:off x="1024128" y="3154680"/>
            <a:ext cx="9509760" cy="1389888"/>
            <a:chOff x="0" y="0"/>
            <a:chExt cx="12679680" cy="1853184"/>
          </a:xfrm>
        </p:grpSpPr>
        <p:sp>
          <p:nvSpPr>
            <p:cNvPr id="9" name="Freeform 9"/>
            <p:cNvSpPr/>
            <p:nvPr/>
          </p:nvSpPr>
          <p:spPr>
            <a:xfrm>
              <a:off x="0" y="0"/>
              <a:ext cx="12679680" cy="1853184"/>
            </a:xfrm>
            <a:custGeom>
              <a:avLst/>
              <a:gdLst/>
              <a:ahLst/>
              <a:cxnLst/>
              <a:rect l="l" t="t" r="r" b="b"/>
              <a:pathLst>
                <a:path w="12679680" h="1853184">
                  <a:moveTo>
                    <a:pt x="0" y="185293"/>
                  </a:moveTo>
                  <a:cubicBezTo>
                    <a:pt x="0" y="82931"/>
                    <a:pt x="82931" y="0"/>
                    <a:pt x="185293" y="0"/>
                  </a:cubicBezTo>
                  <a:lnTo>
                    <a:pt x="12494387" y="0"/>
                  </a:lnTo>
                  <a:cubicBezTo>
                    <a:pt x="12596749" y="0"/>
                    <a:pt x="12679680" y="82931"/>
                    <a:pt x="12679680" y="185293"/>
                  </a:cubicBezTo>
                  <a:lnTo>
                    <a:pt x="12679680" y="1667891"/>
                  </a:lnTo>
                  <a:cubicBezTo>
                    <a:pt x="12679680" y="1770253"/>
                    <a:pt x="12596749" y="1853184"/>
                    <a:pt x="12494387" y="1853184"/>
                  </a:cubicBezTo>
                  <a:lnTo>
                    <a:pt x="185293" y="1853184"/>
                  </a:lnTo>
                  <a:cubicBezTo>
                    <a:pt x="82931" y="1853184"/>
                    <a:pt x="0" y="1770253"/>
                    <a:pt x="0" y="1667891"/>
                  </a:cubicBezTo>
                  <a:close/>
                </a:path>
              </a:pathLst>
            </a:custGeom>
            <a:solidFill>
              <a:srgbClr val="F3F4F7"/>
            </a:solidFill>
          </p:spPr>
          <p:txBody>
            <a:bodyPr/>
            <a:lstStyle/>
            <a:p>
              <a:endParaRPr lang="en-US"/>
            </a:p>
          </p:txBody>
        </p:sp>
      </p:grpSp>
      <p:grpSp>
        <p:nvGrpSpPr>
          <p:cNvPr id="10" name="Group 10"/>
          <p:cNvGrpSpPr/>
          <p:nvPr/>
        </p:nvGrpSpPr>
        <p:grpSpPr>
          <a:xfrm>
            <a:off x="1280160" y="3456432"/>
            <a:ext cx="786384" cy="786384"/>
            <a:chOff x="0" y="0"/>
            <a:chExt cx="1048512" cy="1048512"/>
          </a:xfrm>
        </p:grpSpPr>
        <p:sp>
          <p:nvSpPr>
            <p:cNvPr id="11" name="Freeform 11"/>
            <p:cNvSpPr/>
            <p:nvPr/>
          </p:nvSpPr>
          <p:spPr>
            <a:xfrm>
              <a:off x="0" y="0"/>
              <a:ext cx="1048512" cy="1048512"/>
            </a:xfrm>
            <a:custGeom>
              <a:avLst/>
              <a:gdLst/>
              <a:ahLst/>
              <a:cxnLst/>
              <a:rect l="l" t="t" r="r" b="b"/>
              <a:pathLst>
                <a:path w="1048512" h="1048512">
                  <a:moveTo>
                    <a:pt x="0" y="524256"/>
                  </a:moveTo>
                  <a:cubicBezTo>
                    <a:pt x="0" y="234696"/>
                    <a:pt x="234696" y="0"/>
                    <a:pt x="524256" y="0"/>
                  </a:cubicBezTo>
                  <a:cubicBezTo>
                    <a:pt x="813816" y="0"/>
                    <a:pt x="1048512" y="234696"/>
                    <a:pt x="1048512" y="524256"/>
                  </a:cubicBezTo>
                  <a:cubicBezTo>
                    <a:pt x="1048512" y="813816"/>
                    <a:pt x="813816" y="1048512"/>
                    <a:pt x="524256" y="1048512"/>
                  </a:cubicBezTo>
                  <a:cubicBezTo>
                    <a:pt x="234696" y="1048512"/>
                    <a:pt x="0" y="813816"/>
                    <a:pt x="0" y="524256"/>
                  </a:cubicBezTo>
                  <a:close/>
                </a:path>
              </a:pathLst>
            </a:custGeom>
            <a:solidFill>
              <a:srgbClr val="355688"/>
            </a:solidFill>
          </p:spPr>
          <p:txBody>
            <a:bodyPr/>
            <a:lstStyle/>
            <a:p>
              <a:endParaRPr lang="en-US"/>
            </a:p>
          </p:txBody>
        </p:sp>
        <p:sp>
          <p:nvSpPr>
            <p:cNvPr id="12" name="TextBox 12"/>
            <p:cNvSpPr txBox="1"/>
            <p:nvPr/>
          </p:nvSpPr>
          <p:spPr>
            <a:xfrm>
              <a:off x="0" y="-38100"/>
              <a:ext cx="1048512" cy="1086612"/>
            </a:xfrm>
            <a:prstGeom prst="rect">
              <a:avLst/>
            </a:prstGeom>
          </p:spPr>
          <p:txBody>
            <a:bodyPr lIns="50800" tIns="50800" rIns="50800" bIns="50800" rtlCol="0" anchor="ctr"/>
            <a:lstStyle/>
            <a:p>
              <a:pPr algn="ctr">
                <a:lnSpc>
                  <a:spcPts val="3120"/>
                </a:lnSpc>
              </a:pPr>
              <a:r>
                <a:rPr lang="en-US" sz="2600" b="1">
                  <a:solidFill>
                    <a:srgbClr val="FFFFFF"/>
                  </a:solidFill>
                  <a:latin typeface="Telegraf Bold"/>
                  <a:ea typeface="Telegraf Bold"/>
                  <a:cs typeface="Telegraf Bold"/>
                  <a:sym typeface="Telegraf Bold"/>
                </a:rPr>
                <a:t>1</a:t>
              </a:r>
            </a:p>
          </p:txBody>
        </p:sp>
      </p:grpSp>
      <p:grpSp>
        <p:nvGrpSpPr>
          <p:cNvPr id="13" name="Group 13"/>
          <p:cNvGrpSpPr/>
          <p:nvPr/>
        </p:nvGrpSpPr>
        <p:grpSpPr>
          <a:xfrm>
            <a:off x="2331720" y="3264408"/>
            <a:ext cx="8001000" cy="1188720"/>
            <a:chOff x="0" y="0"/>
            <a:chExt cx="10668000" cy="1584960"/>
          </a:xfrm>
        </p:grpSpPr>
        <p:sp>
          <p:nvSpPr>
            <p:cNvPr id="14" name="Freeform 14"/>
            <p:cNvSpPr/>
            <p:nvPr/>
          </p:nvSpPr>
          <p:spPr>
            <a:xfrm>
              <a:off x="0" y="0"/>
              <a:ext cx="10668000" cy="1584960"/>
            </a:xfrm>
            <a:custGeom>
              <a:avLst/>
              <a:gdLst/>
              <a:ahLst/>
              <a:cxnLst/>
              <a:rect l="l" t="t" r="r" b="b"/>
              <a:pathLst>
                <a:path w="10668000" h="1584960">
                  <a:moveTo>
                    <a:pt x="0" y="0"/>
                  </a:moveTo>
                  <a:lnTo>
                    <a:pt x="10668000" y="0"/>
                  </a:lnTo>
                  <a:lnTo>
                    <a:pt x="10668000" y="1584960"/>
                  </a:lnTo>
                  <a:lnTo>
                    <a:pt x="0" y="1584960"/>
                  </a:lnTo>
                  <a:close/>
                </a:path>
              </a:pathLst>
            </a:custGeom>
            <a:blipFill>
              <a:blip r:embed="rId3">
                <a:alphaModFix amt="0"/>
              </a:blip>
              <a:stretch>
                <a:fillRect t="-81149" b="-81149"/>
              </a:stretch>
            </a:blipFill>
          </p:spPr>
          <p:txBody>
            <a:bodyPr/>
            <a:lstStyle/>
            <a:p>
              <a:endParaRPr lang="en-US"/>
            </a:p>
          </p:txBody>
        </p:sp>
        <p:sp>
          <p:nvSpPr>
            <p:cNvPr id="15" name="TextBox 15"/>
            <p:cNvSpPr txBox="1"/>
            <p:nvPr/>
          </p:nvSpPr>
          <p:spPr>
            <a:xfrm>
              <a:off x="0" y="-28575"/>
              <a:ext cx="10668000" cy="1613535"/>
            </a:xfrm>
            <a:prstGeom prst="rect">
              <a:avLst/>
            </a:prstGeom>
          </p:spPr>
          <p:txBody>
            <a:bodyPr lIns="0" tIns="0" rIns="0" bIns="0" rtlCol="0" anchor="ctr"/>
            <a:lstStyle/>
            <a:p>
              <a:pPr algn="l">
                <a:lnSpc>
                  <a:spcPts val="2639"/>
                </a:lnSpc>
              </a:pPr>
              <a:r>
                <a:rPr lang="en-US" sz="2199" b="1">
                  <a:solidFill>
                    <a:srgbClr val="355688"/>
                  </a:solidFill>
                  <a:latin typeface="Telegraf Bold"/>
                  <a:ea typeface="Telegraf Bold"/>
                  <a:cs typeface="Telegraf Bold"/>
                  <a:sym typeface="Telegraf Bold"/>
                </a:rPr>
                <a:t>We fixed the rule before testing</a:t>
              </a:r>
            </a:p>
            <a:p>
              <a:pPr algn="l">
                <a:lnSpc>
                  <a:spcPts val="2279"/>
                </a:lnSpc>
              </a:pPr>
              <a:r>
                <a:rPr lang="en-US" sz="1899">
                  <a:solidFill>
                    <a:srgbClr val="2F2A24"/>
                  </a:solidFill>
                  <a:latin typeface="Telegraf"/>
                  <a:ea typeface="Telegraf"/>
                  <a:cs typeface="Telegraf"/>
                  <a:sym typeface="Telegraf"/>
                </a:rPr>
                <a:t>Pick the model with the higher average CV PR-AUC. LogReg scored 0.471 vs 0.450 and won 3 of 4 months.</a:t>
              </a:r>
            </a:p>
          </p:txBody>
        </p:sp>
      </p:grpSp>
      <p:grpSp>
        <p:nvGrpSpPr>
          <p:cNvPr id="16" name="Group 16"/>
          <p:cNvGrpSpPr/>
          <p:nvPr/>
        </p:nvGrpSpPr>
        <p:grpSpPr>
          <a:xfrm>
            <a:off x="1024128" y="4727448"/>
            <a:ext cx="9509760" cy="1389888"/>
            <a:chOff x="0" y="0"/>
            <a:chExt cx="12679680" cy="1853184"/>
          </a:xfrm>
        </p:grpSpPr>
        <p:sp>
          <p:nvSpPr>
            <p:cNvPr id="17" name="Freeform 17"/>
            <p:cNvSpPr/>
            <p:nvPr/>
          </p:nvSpPr>
          <p:spPr>
            <a:xfrm>
              <a:off x="0" y="0"/>
              <a:ext cx="12679680" cy="1853184"/>
            </a:xfrm>
            <a:custGeom>
              <a:avLst/>
              <a:gdLst/>
              <a:ahLst/>
              <a:cxnLst/>
              <a:rect l="l" t="t" r="r" b="b"/>
              <a:pathLst>
                <a:path w="12679680" h="1853184">
                  <a:moveTo>
                    <a:pt x="0" y="185293"/>
                  </a:moveTo>
                  <a:cubicBezTo>
                    <a:pt x="0" y="82931"/>
                    <a:pt x="82931" y="0"/>
                    <a:pt x="185293" y="0"/>
                  </a:cubicBezTo>
                  <a:lnTo>
                    <a:pt x="12494387" y="0"/>
                  </a:lnTo>
                  <a:cubicBezTo>
                    <a:pt x="12596749" y="0"/>
                    <a:pt x="12679680" y="82931"/>
                    <a:pt x="12679680" y="185293"/>
                  </a:cubicBezTo>
                  <a:lnTo>
                    <a:pt x="12679680" y="1667891"/>
                  </a:lnTo>
                  <a:cubicBezTo>
                    <a:pt x="12679680" y="1770253"/>
                    <a:pt x="12596749" y="1853184"/>
                    <a:pt x="12494387" y="1853184"/>
                  </a:cubicBezTo>
                  <a:lnTo>
                    <a:pt x="185293" y="1853184"/>
                  </a:lnTo>
                  <a:cubicBezTo>
                    <a:pt x="82931" y="1853184"/>
                    <a:pt x="0" y="1770253"/>
                    <a:pt x="0" y="1667891"/>
                  </a:cubicBezTo>
                  <a:close/>
                </a:path>
              </a:pathLst>
            </a:custGeom>
            <a:solidFill>
              <a:srgbClr val="F3F4F7"/>
            </a:solidFill>
          </p:spPr>
          <p:txBody>
            <a:bodyPr/>
            <a:lstStyle/>
            <a:p>
              <a:endParaRPr lang="en-US"/>
            </a:p>
          </p:txBody>
        </p:sp>
      </p:grpSp>
      <p:grpSp>
        <p:nvGrpSpPr>
          <p:cNvPr id="18" name="Group 18"/>
          <p:cNvGrpSpPr/>
          <p:nvPr/>
        </p:nvGrpSpPr>
        <p:grpSpPr>
          <a:xfrm>
            <a:off x="1280160" y="5029200"/>
            <a:ext cx="786384" cy="786384"/>
            <a:chOff x="0" y="0"/>
            <a:chExt cx="1048512" cy="1048512"/>
          </a:xfrm>
        </p:grpSpPr>
        <p:sp>
          <p:nvSpPr>
            <p:cNvPr id="19" name="Freeform 19"/>
            <p:cNvSpPr/>
            <p:nvPr/>
          </p:nvSpPr>
          <p:spPr>
            <a:xfrm>
              <a:off x="0" y="0"/>
              <a:ext cx="1048512" cy="1048512"/>
            </a:xfrm>
            <a:custGeom>
              <a:avLst/>
              <a:gdLst/>
              <a:ahLst/>
              <a:cxnLst/>
              <a:rect l="l" t="t" r="r" b="b"/>
              <a:pathLst>
                <a:path w="1048512" h="1048512">
                  <a:moveTo>
                    <a:pt x="0" y="524256"/>
                  </a:moveTo>
                  <a:cubicBezTo>
                    <a:pt x="0" y="234696"/>
                    <a:pt x="234696" y="0"/>
                    <a:pt x="524256" y="0"/>
                  </a:cubicBezTo>
                  <a:cubicBezTo>
                    <a:pt x="813816" y="0"/>
                    <a:pt x="1048512" y="234696"/>
                    <a:pt x="1048512" y="524256"/>
                  </a:cubicBezTo>
                  <a:cubicBezTo>
                    <a:pt x="1048512" y="813816"/>
                    <a:pt x="813816" y="1048512"/>
                    <a:pt x="524256" y="1048512"/>
                  </a:cubicBezTo>
                  <a:cubicBezTo>
                    <a:pt x="234696" y="1048512"/>
                    <a:pt x="0" y="813816"/>
                    <a:pt x="0" y="524256"/>
                  </a:cubicBezTo>
                  <a:close/>
                </a:path>
              </a:pathLst>
            </a:custGeom>
            <a:solidFill>
              <a:srgbClr val="355688"/>
            </a:solidFill>
          </p:spPr>
          <p:txBody>
            <a:bodyPr/>
            <a:lstStyle/>
            <a:p>
              <a:endParaRPr lang="en-US"/>
            </a:p>
          </p:txBody>
        </p:sp>
        <p:sp>
          <p:nvSpPr>
            <p:cNvPr id="20" name="TextBox 20"/>
            <p:cNvSpPr txBox="1"/>
            <p:nvPr/>
          </p:nvSpPr>
          <p:spPr>
            <a:xfrm>
              <a:off x="0" y="-38100"/>
              <a:ext cx="1048512" cy="1086612"/>
            </a:xfrm>
            <a:prstGeom prst="rect">
              <a:avLst/>
            </a:prstGeom>
          </p:spPr>
          <p:txBody>
            <a:bodyPr lIns="50800" tIns="50800" rIns="50800" bIns="50800" rtlCol="0" anchor="ctr"/>
            <a:lstStyle/>
            <a:p>
              <a:pPr algn="ctr">
                <a:lnSpc>
                  <a:spcPts val="3120"/>
                </a:lnSpc>
              </a:pPr>
              <a:r>
                <a:rPr lang="en-US" sz="2600" b="1">
                  <a:solidFill>
                    <a:srgbClr val="FFFFFF"/>
                  </a:solidFill>
                  <a:latin typeface="Telegraf Bold"/>
                  <a:ea typeface="Telegraf Bold"/>
                  <a:cs typeface="Telegraf Bold"/>
                  <a:sym typeface="Telegraf Bold"/>
                </a:rPr>
                <a:t>2</a:t>
              </a:r>
            </a:p>
          </p:txBody>
        </p:sp>
      </p:grpSp>
      <p:grpSp>
        <p:nvGrpSpPr>
          <p:cNvPr id="21" name="Group 21"/>
          <p:cNvGrpSpPr/>
          <p:nvPr/>
        </p:nvGrpSpPr>
        <p:grpSpPr>
          <a:xfrm>
            <a:off x="2331720" y="4837176"/>
            <a:ext cx="8001000" cy="1188720"/>
            <a:chOff x="0" y="0"/>
            <a:chExt cx="10668000" cy="1584960"/>
          </a:xfrm>
        </p:grpSpPr>
        <p:sp>
          <p:nvSpPr>
            <p:cNvPr id="22" name="Freeform 22"/>
            <p:cNvSpPr/>
            <p:nvPr/>
          </p:nvSpPr>
          <p:spPr>
            <a:xfrm>
              <a:off x="0" y="0"/>
              <a:ext cx="10668000" cy="1584960"/>
            </a:xfrm>
            <a:custGeom>
              <a:avLst/>
              <a:gdLst/>
              <a:ahLst/>
              <a:cxnLst/>
              <a:rect l="l" t="t" r="r" b="b"/>
              <a:pathLst>
                <a:path w="10668000" h="1584960">
                  <a:moveTo>
                    <a:pt x="0" y="0"/>
                  </a:moveTo>
                  <a:lnTo>
                    <a:pt x="10668000" y="0"/>
                  </a:lnTo>
                  <a:lnTo>
                    <a:pt x="10668000" y="1584960"/>
                  </a:lnTo>
                  <a:lnTo>
                    <a:pt x="0" y="1584960"/>
                  </a:lnTo>
                  <a:close/>
                </a:path>
              </a:pathLst>
            </a:custGeom>
            <a:blipFill>
              <a:blip r:embed="rId3">
                <a:alphaModFix amt="0"/>
              </a:blip>
              <a:stretch>
                <a:fillRect t="-81149" b="-81149"/>
              </a:stretch>
            </a:blipFill>
          </p:spPr>
          <p:txBody>
            <a:bodyPr/>
            <a:lstStyle/>
            <a:p>
              <a:endParaRPr lang="en-US"/>
            </a:p>
          </p:txBody>
        </p:sp>
        <p:sp>
          <p:nvSpPr>
            <p:cNvPr id="23" name="TextBox 23"/>
            <p:cNvSpPr txBox="1"/>
            <p:nvPr/>
          </p:nvSpPr>
          <p:spPr>
            <a:xfrm>
              <a:off x="0" y="-28575"/>
              <a:ext cx="10668000" cy="1613535"/>
            </a:xfrm>
            <a:prstGeom prst="rect">
              <a:avLst/>
            </a:prstGeom>
          </p:spPr>
          <p:txBody>
            <a:bodyPr lIns="0" tIns="0" rIns="0" bIns="0" rtlCol="0" anchor="ctr"/>
            <a:lstStyle/>
            <a:p>
              <a:pPr algn="l">
                <a:lnSpc>
                  <a:spcPts val="2639"/>
                </a:lnSpc>
              </a:pPr>
              <a:r>
                <a:rPr lang="en-US" sz="2199" b="1">
                  <a:solidFill>
                    <a:srgbClr val="355688"/>
                  </a:solidFill>
                  <a:latin typeface="Telegraf Bold"/>
                  <a:ea typeface="Telegraf Bold"/>
                  <a:cs typeface="Telegraf Bold"/>
                  <a:sym typeface="Telegraf Bold"/>
                </a:rPr>
                <a:t>XGBoost's test lead is not real proof</a:t>
              </a:r>
            </a:p>
            <a:p>
              <a:pPr algn="l">
                <a:lnSpc>
                  <a:spcPts val="2279"/>
                </a:lnSpc>
              </a:pPr>
              <a:r>
                <a:rPr lang="en-US" sz="1899">
                  <a:solidFill>
                    <a:srgbClr val="2F2A24"/>
                  </a:solidFill>
                  <a:latin typeface="Telegraf"/>
                  <a:ea typeface="Telegraf"/>
                  <a:cs typeface="Telegraf"/>
                  <a:sym typeface="Telegraf"/>
                </a:rPr>
                <a:t>It is ahead by only 0.014, and the 95% range [−0.010, +0.040] includes zero. That gap could be luck.</a:t>
              </a:r>
            </a:p>
          </p:txBody>
        </p:sp>
      </p:grpSp>
      <p:grpSp>
        <p:nvGrpSpPr>
          <p:cNvPr id="24" name="Group 24"/>
          <p:cNvGrpSpPr/>
          <p:nvPr/>
        </p:nvGrpSpPr>
        <p:grpSpPr>
          <a:xfrm>
            <a:off x="1024128" y="6300216"/>
            <a:ext cx="9509760" cy="1389888"/>
            <a:chOff x="0" y="0"/>
            <a:chExt cx="12679680" cy="1853184"/>
          </a:xfrm>
        </p:grpSpPr>
        <p:sp>
          <p:nvSpPr>
            <p:cNvPr id="25" name="Freeform 25"/>
            <p:cNvSpPr/>
            <p:nvPr/>
          </p:nvSpPr>
          <p:spPr>
            <a:xfrm>
              <a:off x="0" y="0"/>
              <a:ext cx="12679680" cy="1853184"/>
            </a:xfrm>
            <a:custGeom>
              <a:avLst/>
              <a:gdLst/>
              <a:ahLst/>
              <a:cxnLst/>
              <a:rect l="l" t="t" r="r" b="b"/>
              <a:pathLst>
                <a:path w="12679680" h="1853184">
                  <a:moveTo>
                    <a:pt x="0" y="185293"/>
                  </a:moveTo>
                  <a:cubicBezTo>
                    <a:pt x="0" y="82931"/>
                    <a:pt x="82931" y="0"/>
                    <a:pt x="185293" y="0"/>
                  </a:cubicBezTo>
                  <a:lnTo>
                    <a:pt x="12494387" y="0"/>
                  </a:lnTo>
                  <a:cubicBezTo>
                    <a:pt x="12596749" y="0"/>
                    <a:pt x="12679680" y="82931"/>
                    <a:pt x="12679680" y="185293"/>
                  </a:cubicBezTo>
                  <a:lnTo>
                    <a:pt x="12679680" y="1667891"/>
                  </a:lnTo>
                  <a:cubicBezTo>
                    <a:pt x="12679680" y="1770253"/>
                    <a:pt x="12596749" y="1853184"/>
                    <a:pt x="12494387" y="1853184"/>
                  </a:cubicBezTo>
                  <a:lnTo>
                    <a:pt x="185293" y="1853184"/>
                  </a:lnTo>
                  <a:cubicBezTo>
                    <a:pt x="82931" y="1853184"/>
                    <a:pt x="0" y="1770253"/>
                    <a:pt x="0" y="1667891"/>
                  </a:cubicBezTo>
                  <a:close/>
                </a:path>
              </a:pathLst>
            </a:custGeom>
            <a:solidFill>
              <a:srgbClr val="F3F4F7"/>
            </a:solidFill>
          </p:spPr>
          <p:txBody>
            <a:bodyPr/>
            <a:lstStyle/>
            <a:p>
              <a:endParaRPr lang="en-US"/>
            </a:p>
          </p:txBody>
        </p:sp>
      </p:grpSp>
      <p:grpSp>
        <p:nvGrpSpPr>
          <p:cNvPr id="26" name="Group 26"/>
          <p:cNvGrpSpPr/>
          <p:nvPr/>
        </p:nvGrpSpPr>
        <p:grpSpPr>
          <a:xfrm>
            <a:off x="1280160" y="6601968"/>
            <a:ext cx="786384" cy="786384"/>
            <a:chOff x="0" y="0"/>
            <a:chExt cx="1048512" cy="1048512"/>
          </a:xfrm>
        </p:grpSpPr>
        <p:sp>
          <p:nvSpPr>
            <p:cNvPr id="27" name="Freeform 27"/>
            <p:cNvSpPr/>
            <p:nvPr/>
          </p:nvSpPr>
          <p:spPr>
            <a:xfrm>
              <a:off x="0" y="0"/>
              <a:ext cx="1048512" cy="1048512"/>
            </a:xfrm>
            <a:custGeom>
              <a:avLst/>
              <a:gdLst/>
              <a:ahLst/>
              <a:cxnLst/>
              <a:rect l="l" t="t" r="r" b="b"/>
              <a:pathLst>
                <a:path w="1048512" h="1048512">
                  <a:moveTo>
                    <a:pt x="0" y="524256"/>
                  </a:moveTo>
                  <a:cubicBezTo>
                    <a:pt x="0" y="234696"/>
                    <a:pt x="234696" y="0"/>
                    <a:pt x="524256" y="0"/>
                  </a:cubicBezTo>
                  <a:cubicBezTo>
                    <a:pt x="813816" y="0"/>
                    <a:pt x="1048512" y="234696"/>
                    <a:pt x="1048512" y="524256"/>
                  </a:cubicBezTo>
                  <a:cubicBezTo>
                    <a:pt x="1048512" y="813816"/>
                    <a:pt x="813816" y="1048512"/>
                    <a:pt x="524256" y="1048512"/>
                  </a:cubicBezTo>
                  <a:cubicBezTo>
                    <a:pt x="234696" y="1048512"/>
                    <a:pt x="0" y="813816"/>
                    <a:pt x="0" y="524256"/>
                  </a:cubicBezTo>
                  <a:close/>
                </a:path>
              </a:pathLst>
            </a:custGeom>
            <a:solidFill>
              <a:srgbClr val="355688"/>
            </a:solidFill>
          </p:spPr>
          <p:txBody>
            <a:bodyPr/>
            <a:lstStyle/>
            <a:p>
              <a:endParaRPr lang="en-US"/>
            </a:p>
          </p:txBody>
        </p:sp>
        <p:sp>
          <p:nvSpPr>
            <p:cNvPr id="28" name="TextBox 28"/>
            <p:cNvSpPr txBox="1"/>
            <p:nvPr/>
          </p:nvSpPr>
          <p:spPr>
            <a:xfrm>
              <a:off x="0" y="-38100"/>
              <a:ext cx="1048512" cy="1086612"/>
            </a:xfrm>
            <a:prstGeom prst="rect">
              <a:avLst/>
            </a:prstGeom>
          </p:spPr>
          <p:txBody>
            <a:bodyPr lIns="50800" tIns="50800" rIns="50800" bIns="50800" rtlCol="0" anchor="ctr"/>
            <a:lstStyle/>
            <a:p>
              <a:pPr algn="ctr">
                <a:lnSpc>
                  <a:spcPts val="3120"/>
                </a:lnSpc>
              </a:pPr>
              <a:r>
                <a:rPr lang="en-US" sz="2600" b="1">
                  <a:solidFill>
                    <a:srgbClr val="FFFFFF"/>
                  </a:solidFill>
                  <a:latin typeface="Telegraf Bold"/>
                  <a:ea typeface="Telegraf Bold"/>
                  <a:cs typeface="Telegraf Bold"/>
                  <a:sym typeface="Telegraf Bold"/>
                </a:rPr>
                <a:t>3</a:t>
              </a:r>
            </a:p>
          </p:txBody>
        </p:sp>
      </p:grpSp>
      <p:grpSp>
        <p:nvGrpSpPr>
          <p:cNvPr id="29" name="Group 29"/>
          <p:cNvGrpSpPr/>
          <p:nvPr/>
        </p:nvGrpSpPr>
        <p:grpSpPr>
          <a:xfrm>
            <a:off x="2331720" y="6409944"/>
            <a:ext cx="8001000" cy="1188720"/>
            <a:chOff x="0" y="0"/>
            <a:chExt cx="10668000" cy="1584960"/>
          </a:xfrm>
        </p:grpSpPr>
        <p:sp>
          <p:nvSpPr>
            <p:cNvPr id="30" name="Freeform 30"/>
            <p:cNvSpPr/>
            <p:nvPr/>
          </p:nvSpPr>
          <p:spPr>
            <a:xfrm>
              <a:off x="0" y="0"/>
              <a:ext cx="10668000" cy="1584960"/>
            </a:xfrm>
            <a:custGeom>
              <a:avLst/>
              <a:gdLst/>
              <a:ahLst/>
              <a:cxnLst/>
              <a:rect l="l" t="t" r="r" b="b"/>
              <a:pathLst>
                <a:path w="10668000" h="1584960">
                  <a:moveTo>
                    <a:pt x="0" y="0"/>
                  </a:moveTo>
                  <a:lnTo>
                    <a:pt x="10668000" y="0"/>
                  </a:lnTo>
                  <a:lnTo>
                    <a:pt x="10668000" y="1584960"/>
                  </a:lnTo>
                  <a:lnTo>
                    <a:pt x="0" y="1584960"/>
                  </a:lnTo>
                  <a:close/>
                </a:path>
              </a:pathLst>
            </a:custGeom>
            <a:blipFill>
              <a:blip r:embed="rId3">
                <a:alphaModFix amt="0"/>
              </a:blip>
              <a:stretch>
                <a:fillRect t="-81149" b="-81149"/>
              </a:stretch>
            </a:blipFill>
          </p:spPr>
          <p:txBody>
            <a:bodyPr/>
            <a:lstStyle/>
            <a:p>
              <a:endParaRPr lang="en-US"/>
            </a:p>
          </p:txBody>
        </p:sp>
        <p:sp>
          <p:nvSpPr>
            <p:cNvPr id="31" name="TextBox 31"/>
            <p:cNvSpPr txBox="1"/>
            <p:nvPr/>
          </p:nvSpPr>
          <p:spPr>
            <a:xfrm>
              <a:off x="0" y="-28575"/>
              <a:ext cx="10668000" cy="1613535"/>
            </a:xfrm>
            <a:prstGeom prst="rect">
              <a:avLst/>
            </a:prstGeom>
          </p:spPr>
          <p:txBody>
            <a:bodyPr lIns="0" tIns="0" rIns="0" bIns="0" rtlCol="0" anchor="ctr"/>
            <a:lstStyle/>
            <a:p>
              <a:pPr algn="l">
                <a:lnSpc>
                  <a:spcPts val="2639"/>
                </a:lnSpc>
              </a:pPr>
              <a:r>
                <a:rPr lang="en-US" sz="2199" b="1">
                  <a:solidFill>
                    <a:srgbClr val="355688"/>
                  </a:solidFill>
                  <a:latin typeface="Telegraf Bold"/>
                  <a:ea typeface="Telegraf Bold"/>
                  <a:cs typeface="Telegraf Bold"/>
                  <a:sym typeface="Telegraf Bold"/>
                </a:rPr>
                <a:t>Switching now would be unfair</a:t>
              </a:r>
            </a:p>
            <a:p>
              <a:pPr algn="l">
                <a:lnSpc>
                  <a:spcPts val="2279"/>
                </a:lnSpc>
              </a:pPr>
              <a:r>
                <a:rPr lang="en-US" sz="1899">
                  <a:solidFill>
                    <a:srgbClr val="2F2A24"/>
                  </a:solidFill>
                  <a:latin typeface="Telegraf"/>
                  <a:ea typeface="Telegraf"/>
                  <a:cs typeface="Telegraf"/>
                  <a:sym typeface="Telegraf"/>
                </a:rPr>
                <a:t>Changing the model after seeing test scores means choosing by the test set, which spoils the evaluation.</a:t>
              </a:r>
            </a:p>
          </p:txBody>
        </p:sp>
      </p:grpSp>
      <p:grpSp>
        <p:nvGrpSpPr>
          <p:cNvPr id="32" name="Group 32"/>
          <p:cNvGrpSpPr/>
          <p:nvPr/>
        </p:nvGrpSpPr>
        <p:grpSpPr>
          <a:xfrm>
            <a:off x="1024128" y="7872984"/>
            <a:ext cx="9509760" cy="1389888"/>
            <a:chOff x="0" y="0"/>
            <a:chExt cx="12679680" cy="1853184"/>
          </a:xfrm>
        </p:grpSpPr>
        <p:sp>
          <p:nvSpPr>
            <p:cNvPr id="33" name="Freeform 33"/>
            <p:cNvSpPr/>
            <p:nvPr/>
          </p:nvSpPr>
          <p:spPr>
            <a:xfrm>
              <a:off x="0" y="0"/>
              <a:ext cx="12679680" cy="1853184"/>
            </a:xfrm>
            <a:custGeom>
              <a:avLst/>
              <a:gdLst/>
              <a:ahLst/>
              <a:cxnLst/>
              <a:rect l="l" t="t" r="r" b="b"/>
              <a:pathLst>
                <a:path w="12679680" h="1853184">
                  <a:moveTo>
                    <a:pt x="0" y="185293"/>
                  </a:moveTo>
                  <a:cubicBezTo>
                    <a:pt x="0" y="82931"/>
                    <a:pt x="82931" y="0"/>
                    <a:pt x="185293" y="0"/>
                  </a:cubicBezTo>
                  <a:lnTo>
                    <a:pt x="12494387" y="0"/>
                  </a:lnTo>
                  <a:cubicBezTo>
                    <a:pt x="12596749" y="0"/>
                    <a:pt x="12679680" y="82931"/>
                    <a:pt x="12679680" y="185293"/>
                  </a:cubicBezTo>
                  <a:lnTo>
                    <a:pt x="12679680" y="1667891"/>
                  </a:lnTo>
                  <a:cubicBezTo>
                    <a:pt x="12679680" y="1770253"/>
                    <a:pt x="12596749" y="1853184"/>
                    <a:pt x="12494387" y="1853184"/>
                  </a:cubicBezTo>
                  <a:lnTo>
                    <a:pt x="185293" y="1853184"/>
                  </a:lnTo>
                  <a:cubicBezTo>
                    <a:pt x="82931" y="1853184"/>
                    <a:pt x="0" y="1770253"/>
                    <a:pt x="0" y="1667891"/>
                  </a:cubicBezTo>
                  <a:close/>
                </a:path>
              </a:pathLst>
            </a:custGeom>
            <a:solidFill>
              <a:srgbClr val="F3F4F7"/>
            </a:solidFill>
          </p:spPr>
          <p:txBody>
            <a:bodyPr/>
            <a:lstStyle/>
            <a:p>
              <a:endParaRPr lang="en-US"/>
            </a:p>
          </p:txBody>
        </p:sp>
      </p:grpSp>
      <p:grpSp>
        <p:nvGrpSpPr>
          <p:cNvPr id="34" name="Group 34"/>
          <p:cNvGrpSpPr/>
          <p:nvPr/>
        </p:nvGrpSpPr>
        <p:grpSpPr>
          <a:xfrm>
            <a:off x="1280160" y="8174736"/>
            <a:ext cx="786384" cy="786384"/>
            <a:chOff x="0" y="0"/>
            <a:chExt cx="1048512" cy="1048512"/>
          </a:xfrm>
        </p:grpSpPr>
        <p:sp>
          <p:nvSpPr>
            <p:cNvPr id="35" name="Freeform 35"/>
            <p:cNvSpPr/>
            <p:nvPr/>
          </p:nvSpPr>
          <p:spPr>
            <a:xfrm>
              <a:off x="0" y="0"/>
              <a:ext cx="1048512" cy="1048512"/>
            </a:xfrm>
            <a:custGeom>
              <a:avLst/>
              <a:gdLst/>
              <a:ahLst/>
              <a:cxnLst/>
              <a:rect l="l" t="t" r="r" b="b"/>
              <a:pathLst>
                <a:path w="1048512" h="1048512">
                  <a:moveTo>
                    <a:pt x="0" y="524256"/>
                  </a:moveTo>
                  <a:cubicBezTo>
                    <a:pt x="0" y="234696"/>
                    <a:pt x="234696" y="0"/>
                    <a:pt x="524256" y="0"/>
                  </a:cubicBezTo>
                  <a:cubicBezTo>
                    <a:pt x="813816" y="0"/>
                    <a:pt x="1048512" y="234696"/>
                    <a:pt x="1048512" y="524256"/>
                  </a:cubicBezTo>
                  <a:cubicBezTo>
                    <a:pt x="1048512" y="813816"/>
                    <a:pt x="813816" y="1048512"/>
                    <a:pt x="524256" y="1048512"/>
                  </a:cubicBezTo>
                  <a:cubicBezTo>
                    <a:pt x="234696" y="1048512"/>
                    <a:pt x="0" y="813816"/>
                    <a:pt x="0" y="524256"/>
                  </a:cubicBezTo>
                  <a:close/>
                </a:path>
              </a:pathLst>
            </a:custGeom>
            <a:solidFill>
              <a:srgbClr val="355688"/>
            </a:solidFill>
          </p:spPr>
          <p:txBody>
            <a:bodyPr/>
            <a:lstStyle/>
            <a:p>
              <a:endParaRPr lang="en-US"/>
            </a:p>
          </p:txBody>
        </p:sp>
        <p:sp>
          <p:nvSpPr>
            <p:cNvPr id="36" name="TextBox 36"/>
            <p:cNvSpPr txBox="1"/>
            <p:nvPr/>
          </p:nvSpPr>
          <p:spPr>
            <a:xfrm>
              <a:off x="0" y="-38100"/>
              <a:ext cx="1048512" cy="1086612"/>
            </a:xfrm>
            <a:prstGeom prst="rect">
              <a:avLst/>
            </a:prstGeom>
          </p:spPr>
          <p:txBody>
            <a:bodyPr lIns="50800" tIns="50800" rIns="50800" bIns="50800" rtlCol="0" anchor="ctr"/>
            <a:lstStyle/>
            <a:p>
              <a:pPr algn="ctr">
                <a:lnSpc>
                  <a:spcPts val="3120"/>
                </a:lnSpc>
              </a:pPr>
              <a:r>
                <a:rPr lang="en-US" sz="2600" b="1">
                  <a:solidFill>
                    <a:srgbClr val="FFFFFF"/>
                  </a:solidFill>
                  <a:latin typeface="Telegraf Bold"/>
                  <a:ea typeface="Telegraf Bold"/>
                  <a:cs typeface="Telegraf Bold"/>
                  <a:sym typeface="Telegraf Bold"/>
                </a:rPr>
                <a:t>4</a:t>
              </a:r>
            </a:p>
          </p:txBody>
        </p:sp>
      </p:grpSp>
      <p:grpSp>
        <p:nvGrpSpPr>
          <p:cNvPr id="37" name="Group 37"/>
          <p:cNvGrpSpPr/>
          <p:nvPr/>
        </p:nvGrpSpPr>
        <p:grpSpPr>
          <a:xfrm>
            <a:off x="2331720" y="7982712"/>
            <a:ext cx="8001000" cy="1188720"/>
            <a:chOff x="0" y="0"/>
            <a:chExt cx="10668000" cy="1584960"/>
          </a:xfrm>
        </p:grpSpPr>
        <p:sp>
          <p:nvSpPr>
            <p:cNvPr id="38" name="Freeform 38"/>
            <p:cNvSpPr/>
            <p:nvPr/>
          </p:nvSpPr>
          <p:spPr>
            <a:xfrm>
              <a:off x="0" y="0"/>
              <a:ext cx="10668000" cy="1584960"/>
            </a:xfrm>
            <a:custGeom>
              <a:avLst/>
              <a:gdLst/>
              <a:ahLst/>
              <a:cxnLst/>
              <a:rect l="l" t="t" r="r" b="b"/>
              <a:pathLst>
                <a:path w="10668000" h="1584960">
                  <a:moveTo>
                    <a:pt x="0" y="0"/>
                  </a:moveTo>
                  <a:lnTo>
                    <a:pt x="10668000" y="0"/>
                  </a:lnTo>
                  <a:lnTo>
                    <a:pt x="10668000" y="1584960"/>
                  </a:lnTo>
                  <a:lnTo>
                    <a:pt x="0" y="1584960"/>
                  </a:lnTo>
                  <a:close/>
                </a:path>
              </a:pathLst>
            </a:custGeom>
            <a:blipFill>
              <a:blip r:embed="rId3">
                <a:alphaModFix amt="0"/>
              </a:blip>
              <a:stretch>
                <a:fillRect t="-81149" b="-81149"/>
              </a:stretch>
            </a:blipFill>
          </p:spPr>
          <p:txBody>
            <a:bodyPr/>
            <a:lstStyle/>
            <a:p>
              <a:endParaRPr lang="en-US"/>
            </a:p>
          </p:txBody>
        </p:sp>
        <p:sp>
          <p:nvSpPr>
            <p:cNvPr id="39" name="TextBox 39"/>
            <p:cNvSpPr txBox="1"/>
            <p:nvPr/>
          </p:nvSpPr>
          <p:spPr>
            <a:xfrm>
              <a:off x="0" y="-28575"/>
              <a:ext cx="10668000" cy="1613535"/>
            </a:xfrm>
            <a:prstGeom prst="rect">
              <a:avLst/>
            </a:prstGeom>
          </p:spPr>
          <p:txBody>
            <a:bodyPr lIns="0" tIns="0" rIns="0" bIns="0" rtlCol="0" anchor="ctr"/>
            <a:lstStyle/>
            <a:p>
              <a:pPr algn="l">
                <a:lnSpc>
                  <a:spcPts val="2639"/>
                </a:lnSpc>
              </a:pPr>
              <a:r>
                <a:rPr lang="en-US" sz="2199" b="1">
                  <a:solidFill>
                    <a:srgbClr val="355688"/>
                  </a:solidFill>
                  <a:latin typeface="Telegraf Bold"/>
                  <a:ea typeface="Telegraf Bold"/>
                  <a:cs typeface="Telegraf Bold"/>
                  <a:sym typeface="Telegraf Bold"/>
                </a:rPr>
                <a:t>Simpler and easier to explain</a:t>
              </a:r>
            </a:p>
            <a:p>
              <a:pPr algn="l">
                <a:lnSpc>
                  <a:spcPts val="2279"/>
                </a:lnSpc>
              </a:pPr>
              <a:r>
                <a:rPr lang="en-US" sz="1899">
                  <a:solidFill>
                    <a:srgbClr val="2F2A24"/>
                  </a:solidFill>
                  <a:latin typeface="Telegraf"/>
                  <a:ea typeface="Telegraf"/>
                  <a:cs typeface="Telegraf"/>
                  <a:sym typeface="Telegraf"/>
                </a:rPr>
                <a:t>One coefficient per feature that we can read and defend. With equal performance, we keep the simpler model.</a:t>
              </a:r>
            </a:p>
          </p:txBody>
        </p:sp>
      </p:grpSp>
      <p:pic>
        <p:nvPicPr>
          <p:cNvPr id="40" name="Picture 40"/>
          <p:cNvPicPr>
            <a:picLocks noChangeAspect="1"/>
          </p:cNvPicPr>
          <p:nvPr/>
        </p:nvPicPr>
        <p:blipFill>
          <a:blip r:embed="rId4"/>
          <a:stretch>
            <a:fillRect/>
          </a:stretch>
        </p:blipFill>
        <p:spPr>
          <a:xfrm>
            <a:off x="10241280" y="2423160"/>
            <a:ext cx="7680960" cy="5852160"/>
          </a:xfrm>
          <a:prstGeom prst="rect">
            <a:avLst/>
          </a:prstGeom>
        </p:spPr>
      </p:pic>
      <p:sp>
        <p:nvSpPr>
          <p:cNvPr id="41" name="TextBox 41"/>
          <p:cNvSpPr txBox="1"/>
          <p:nvPr/>
        </p:nvSpPr>
        <p:spPr>
          <a:xfrm>
            <a:off x="10881360" y="7661910"/>
            <a:ext cx="6400800" cy="384810"/>
          </a:xfrm>
          <a:prstGeom prst="rect">
            <a:avLst/>
          </a:prstGeom>
        </p:spPr>
        <p:txBody>
          <a:bodyPr lIns="0" tIns="0" rIns="0" bIns="0" rtlCol="0" anchor="t">
            <a:spAutoFit/>
          </a:bodyPr>
          <a:lstStyle/>
          <a:p>
            <a:pPr algn="ctr">
              <a:lnSpc>
                <a:spcPts val="1800"/>
              </a:lnSpc>
            </a:pPr>
            <a:r>
              <a:rPr lang="en-US" sz="1500">
                <a:solidFill>
                  <a:srgbClr val="545454"/>
                </a:solidFill>
                <a:latin typeface="Telegraf"/>
                <a:ea typeface="Telegraf"/>
                <a:cs typeface="Telegraf"/>
                <a:sym typeface="Telegraf"/>
              </a:rPr>
              <a:t>Axis starts at 0.3 · Mean: LogReg 0.471, XGBoost 0.450</a:t>
            </a:r>
          </a:p>
        </p:txBody>
      </p:sp>
      <p:grpSp>
        <p:nvGrpSpPr>
          <p:cNvPr id="42" name="Group 42"/>
          <p:cNvGrpSpPr/>
          <p:nvPr/>
        </p:nvGrpSpPr>
        <p:grpSpPr>
          <a:xfrm>
            <a:off x="10881360" y="8229600"/>
            <a:ext cx="6400800" cy="1737360"/>
            <a:chOff x="0" y="0"/>
            <a:chExt cx="8534400" cy="2316480"/>
          </a:xfrm>
        </p:grpSpPr>
        <p:sp>
          <p:nvSpPr>
            <p:cNvPr id="43" name="Freeform 43"/>
            <p:cNvSpPr/>
            <p:nvPr/>
          </p:nvSpPr>
          <p:spPr>
            <a:xfrm>
              <a:off x="0" y="0"/>
              <a:ext cx="8534400" cy="2316480"/>
            </a:xfrm>
            <a:custGeom>
              <a:avLst/>
              <a:gdLst/>
              <a:ahLst/>
              <a:cxnLst/>
              <a:rect l="l" t="t" r="r" b="b"/>
              <a:pathLst>
                <a:path w="8534400" h="2316480">
                  <a:moveTo>
                    <a:pt x="0" y="185293"/>
                  </a:moveTo>
                  <a:cubicBezTo>
                    <a:pt x="0" y="82931"/>
                    <a:pt x="82931" y="0"/>
                    <a:pt x="185293" y="0"/>
                  </a:cubicBezTo>
                  <a:lnTo>
                    <a:pt x="8349107" y="0"/>
                  </a:lnTo>
                  <a:cubicBezTo>
                    <a:pt x="8451469" y="0"/>
                    <a:pt x="8534400" y="82931"/>
                    <a:pt x="8534400" y="185293"/>
                  </a:cubicBezTo>
                  <a:lnTo>
                    <a:pt x="8534400" y="2131187"/>
                  </a:lnTo>
                  <a:cubicBezTo>
                    <a:pt x="8534400" y="2233549"/>
                    <a:pt x="8451469" y="2316480"/>
                    <a:pt x="8349107" y="2316480"/>
                  </a:cubicBezTo>
                  <a:lnTo>
                    <a:pt x="185293" y="2316480"/>
                  </a:lnTo>
                  <a:cubicBezTo>
                    <a:pt x="82931" y="2316480"/>
                    <a:pt x="0" y="2233549"/>
                    <a:pt x="0" y="2131187"/>
                  </a:cubicBezTo>
                  <a:close/>
                </a:path>
              </a:pathLst>
            </a:custGeom>
            <a:solidFill>
              <a:srgbClr val="355688"/>
            </a:solidFill>
          </p:spPr>
          <p:txBody>
            <a:bodyPr/>
            <a:lstStyle/>
            <a:p>
              <a:endParaRPr lang="en-US"/>
            </a:p>
          </p:txBody>
        </p:sp>
      </p:grpSp>
      <p:grpSp>
        <p:nvGrpSpPr>
          <p:cNvPr id="44" name="Group 44"/>
          <p:cNvGrpSpPr/>
          <p:nvPr/>
        </p:nvGrpSpPr>
        <p:grpSpPr>
          <a:xfrm>
            <a:off x="11155680" y="8321040"/>
            <a:ext cx="5852160" cy="1554480"/>
            <a:chOff x="0" y="0"/>
            <a:chExt cx="7802880" cy="2072640"/>
          </a:xfrm>
        </p:grpSpPr>
        <p:sp>
          <p:nvSpPr>
            <p:cNvPr id="45" name="Freeform 45"/>
            <p:cNvSpPr/>
            <p:nvPr/>
          </p:nvSpPr>
          <p:spPr>
            <a:xfrm>
              <a:off x="0" y="0"/>
              <a:ext cx="7802880" cy="2072640"/>
            </a:xfrm>
            <a:custGeom>
              <a:avLst/>
              <a:gdLst/>
              <a:ahLst/>
              <a:cxnLst/>
              <a:rect l="l" t="t" r="r" b="b"/>
              <a:pathLst>
                <a:path w="7802880" h="2072640">
                  <a:moveTo>
                    <a:pt x="0" y="0"/>
                  </a:moveTo>
                  <a:lnTo>
                    <a:pt x="7802880" y="0"/>
                  </a:lnTo>
                  <a:lnTo>
                    <a:pt x="7802880" y="2072640"/>
                  </a:lnTo>
                  <a:lnTo>
                    <a:pt x="0" y="2072640"/>
                  </a:lnTo>
                  <a:close/>
                </a:path>
              </a:pathLst>
            </a:custGeom>
            <a:blipFill>
              <a:blip r:embed="rId3">
                <a:alphaModFix amt="0"/>
              </a:blip>
              <a:stretch>
                <a:fillRect t="-23355" b="-23355"/>
              </a:stretch>
            </a:blipFill>
          </p:spPr>
          <p:txBody>
            <a:bodyPr/>
            <a:lstStyle/>
            <a:p>
              <a:endParaRPr lang="en-US"/>
            </a:p>
          </p:txBody>
        </p:sp>
        <p:sp>
          <p:nvSpPr>
            <p:cNvPr id="46" name="TextBox 46"/>
            <p:cNvSpPr txBox="1"/>
            <p:nvPr/>
          </p:nvSpPr>
          <p:spPr>
            <a:xfrm>
              <a:off x="0" y="-38100"/>
              <a:ext cx="7802880" cy="2110740"/>
            </a:xfrm>
            <a:prstGeom prst="rect">
              <a:avLst/>
            </a:prstGeom>
          </p:spPr>
          <p:txBody>
            <a:bodyPr lIns="0" tIns="0" rIns="0" bIns="0" rtlCol="0" anchor="ctr"/>
            <a:lstStyle/>
            <a:p>
              <a:pPr algn="l">
                <a:lnSpc>
                  <a:spcPts val="2520"/>
                </a:lnSpc>
              </a:pPr>
              <a:r>
                <a:rPr lang="en-US" sz="2100" b="1">
                  <a:solidFill>
                    <a:srgbClr val="FFFFFF"/>
                  </a:solidFill>
                  <a:latin typeface="Telegraf Bold"/>
                  <a:ea typeface="Telegraf Bold"/>
                  <a:cs typeface="Telegraf Bold"/>
                  <a:sym typeface="Telegraf Bold"/>
                </a:rPr>
                <a:t>In one line</a:t>
              </a:r>
            </a:p>
            <a:p>
              <a:pPr algn="l">
                <a:lnSpc>
                  <a:spcPts val="2160"/>
                </a:lnSpc>
              </a:pPr>
              <a:r>
                <a:rPr lang="en-US" sz="1800">
                  <a:solidFill>
                    <a:srgbClr val="FFFFFF"/>
                  </a:solidFill>
                  <a:latin typeface="Telegraf"/>
                  <a:ea typeface="Telegraf"/>
                  <a:cs typeface="Telegraf"/>
                  <a:sym typeface="Telegraf"/>
                </a:rPr>
                <a:t>Both models perform about the same, so we keep the one our pre-planned rule picked: the simpler LogReg.</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288"/>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4" name="Group 4"/>
          <p:cNvGrpSpPr/>
          <p:nvPr/>
        </p:nvGrpSpPr>
        <p:grpSpPr>
          <a:xfrm>
            <a:off x="1033653" y="580644"/>
            <a:ext cx="16230600" cy="1005840"/>
            <a:chOff x="0" y="0"/>
            <a:chExt cx="21640800" cy="1341120"/>
          </a:xfrm>
        </p:grpSpPr>
        <p:sp>
          <p:nvSpPr>
            <p:cNvPr id="5" name="Freeform 5"/>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3">
                <a:alphaModFix amt="0"/>
              </a:blip>
              <a:stretch>
                <a:fillRect t="-264417" b="-264417"/>
              </a:stretch>
            </a:blipFill>
          </p:spPr>
          <p:txBody>
            <a:bodyPr/>
            <a:lstStyle/>
            <a:p>
              <a:endParaRPr lang="en-US"/>
            </a:p>
          </p:txBody>
        </p:sp>
        <p:sp>
          <p:nvSpPr>
            <p:cNvPr id="6" name="TextBox 6"/>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Calibration &amp; Operating Policies</a:t>
              </a:r>
            </a:p>
          </p:txBody>
        </p:sp>
      </p:grpSp>
      <p:grpSp>
        <p:nvGrpSpPr>
          <p:cNvPr id="7" name="Group 7"/>
          <p:cNvGrpSpPr/>
          <p:nvPr/>
        </p:nvGrpSpPr>
        <p:grpSpPr>
          <a:xfrm>
            <a:off x="1024128" y="2514600"/>
            <a:ext cx="6766560" cy="7315200"/>
            <a:chOff x="0" y="0"/>
            <a:chExt cx="9022080" cy="9753600"/>
          </a:xfrm>
        </p:grpSpPr>
        <p:sp>
          <p:nvSpPr>
            <p:cNvPr id="8" name="Freeform 8"/>
            <p:cNvSpPr/>
            <p:nvPr/>
          </p:nvSpPr>
          <p:spPr>
            <a:xfrm>
              <a:off x="0" y="0"/>
              <a:ext cx="9022080" cy="9753600"/>
            </a:xfrm>
            <a:custGeom>
              <a:avLst/>
              <a:gdLst/>
              <a:ahLst/>
              <a:cxnLst/>
              <a:rect l="l" t="t" r="r" b="b"/>
              <a:pathLst>
                <a:path w="9022080" h="9753600">
                  <a:moveTo>
                    <a:pt x="0" y="360934"/>
                  </a:moveTo>
                  <a:cubicBezTo>
                    <a:pt x="0" y="161544"/>
                    <a:pt x="161544" y="0"/>
                    <a:pt x="360934" y="0"/>
                  </a:cubicBezTo>
                  <a:lnTo>
                    <a:pt x="8661146" y="0"/>
                  </a:lnTo>
                  <a:cubicBezTo>
                    <a:pt x="8860409" y="0"/>
                    <a:pt x="9022080" y="161544"/>
                    <a:pt x="9022080" y="360934"/>
                  </a:cubicBezTo>
                  <a:lnTo>
                    <a:pt x="9022080" y="9392666"/>
                  </a:lnTo>
                  <a:cubicBezTo>
                    <a:pt x="9022080" y="9591929"/>
                    <a:pt x="8860536" y="9753600"/>
                    <a:pt x="8661146" y="9753600"/>
                  </a:cubicBezTo>
                  <a:lnTo>
                    <a:pt x="360934" y="9753600"/>
                  </a:lnTo>
                  <a:cubicBezTo>
                    <a:pt x="161544" y="9753600"/>
                    <a:pt x="0" y="9592056"/>
                    <a:pt x="0" y="9392666"/>
                  </a:cubicBezTo>
                  <a:close/>
                </a:path>
              </a:pathLst>
            </a:custGeom>
            <a:solidFill>
              <a:srgbClr val="FCFCFC"/>
            </a:solidFill>
          </p:spPr>
          <p:txBody>
            <a:bodyPr/>
            <a:lstStyle/>
            <a:p>
              <a:endParaRPr lang="en-US"/>
            </a:p>
          </p:txBody>
        </p:sp>
      </p:grpSp>
      <p:grpSp>
        <p:nvGrpSpPr>
          <p:cNvPr id="9" name="Group 9"/>
          <p:cNvGrpSpPr/>
          <p:nvPr/>
        </p:nvGrpSpPr>
        <p:grpSpPr>
          <a:xfrm>
            <a:off x="1252728" y="2606040"/>
            <a:ext cx="5854828" cy="6386464"/>
            <a:chOff x="0" y="0"/>
            <a:chExt cx="8103387" cy="8839200"/>
          </a:xfrm>
        </p:grpSpPr>
        <p:sp>
          <p:nvSpPr>
            <p:cNvPr id="10" name="Freeform 10" descr="reliability_logreg_test.png"/>
            <p:cNvSpPr/>
            <p:nvPr/>
          </p:nvSpPr>
          <p:spPr>
            <a:xfrm>
              <a:off x="0" y="0"/>
              <a:ext cx="8103362" cy="8839200"/>
            </a:xfrm>
            <a:custGeom>
              <a:avLst/>
              <a:gdLst/>
              <a:ahLst/>
              <a:cxnLst/>
              <a:rect l="l" t="t" r="r" b="b"/>
              <a:pathLst>
                <a:path w="8103362" h="8839200">
                  <a:moveTo>
                    <a:pt x="0" y="0"/>
                  </a:moveTo>
                  <a:lnTo>
                    <a:pt x="8103362" y="0"/>
                  </a:lnTo>
                  <a:lnTo>
                    <a:pt x="8103362" y="8839200"/>
                  </a:lnTo>
                  <a:lnTo>
                    <a:pt x="0" y="8839200"/>
                  </a:lnTo>
                  <a:lnTo>
                    <a:pt x="0" y="0"/>
                  </a:lnTo>
                  <a:close/>
                </a:path>
              </a:pathLst>
            </a:custGeom>
            <a:blipFill>
              <a:blip r:embed="rId4"/>
              <a:stretch>
                <a:fillRect/>
              </a:stretch>
            </a:blipFill>
          </p:spPr>
          <p:txBody>
            <a:bodyPr/>
            <a:lstStyle/>
            <a:p>
              <a:endParaRPr lang="en-US"/>
            </a:p>
          </p:txBody>
        </p:sp>
      </p:grpSp>
      <p:grpSp>
        <p:nvGrpSpPr>
          <p:cNvPr id="11" name="Group 11"/>
          <p:cNvGrpSpPr/>
          <p:nvPr/>
        </p:nvGrpSpPr>
        <p:grpSpPr>
          <a:xfrm>
            <a:off x="8229600" y="2514600"/>
            <a:ext cx="4389120" cy="3246120"/>
            <a:chOff x="0" y="0"/>
            <a:chExt cx="5852160" cy="4328160"/>
          </a:xfrm>
        </p:grpSpPr>
        <p:sp>
          <p:nvSpPr>
            <p:cNvPr id="12" name="Freeform 12"/>
            <p:cNvSpPr/>
            <p:nvPr/>
          </p:nvSpPr>
          <p:spPr>
            <a:xfrm>
              <a:off x="0" y="0"/>
              <a:ext cx="5852160" cy="4328160"/>
            </a:xfrm>
            <a:custGeom>
              <a:avLst/>
              <a:gdLst/>
              <a:ahLst/>
              <a:cxnLst/>
              <a:rect l="l" t="t" r="r" b="b"/>
              <a:pathLst>
                <a:path w="5852160" h="4328160">
                  <a:moveTo>
                    <a:pt x="0" y="259715"/>
                  </a:moveTo>
                  <a:cubicBezTo>
                    <a:pt x="0" y="116205"/>
                    <a:pt x="116205" y="0"/>
                    <a:pt x="259715" y="0"/>
                  </a:cubicBezTo>
                  <a:lnTo>
                    <a:pt x="5592445" y="0"/>
                  </a:lnTo>
                  <a:cubicBezTo>
                    <a:pt x="5735828" y="0"/>
                    <a:pt x="5852160" y="116205"/>
                    <a:pt x="5852160" y="259715"/>
                  </a:cubicBezTo>
                  <a:lnTo>
                    <a:pt x="5852160" y="4068445"/>
                  </a:lnTo>
                  <a:cubicBezTo>
                    <a:pt x="5852160" y="4211828"/>
                    <a:pt x="5735955" y="4328160"/>
                    <a:pt x="5592445" y="4328160"/>
                  </a:cubicBezTo>
                  <a:lnTo>
                    <a:pt x="259715" y="4328160"/>
                  </a:lnTo>
                  <a:cubicBezTo>
                    <a:pt x="116205" y="4328160"/>
                    <a:pt x="0" y="4211955"/>
                    <a:pt x="0" y="4068445"/>
                  </a:cubicBezTo>
                  <a:close/>
                </a:path>
              </a:pathLst>
            </a:custGeom>
            <a:solidFill>
              <a:srgbClr val="F3F4F7"/>
            </a:solidFill>
          </p:spPr>
          <p:txBody>
            <a:bodyPr/>
            <a:lstStyle/>
            <a:p>
              <a:endParaRPr lang="en-US"/>
            </a:p>
          </p:txBody>
        </p:sp>
      </p:grpSp>
      <p:grpSp>
        <p:nvGrpSpPr>
          <p:cNvPr id="13" name="Group 13"/>
          <p:cNvGrpSpPr/>
          <p:nvPr/>
        </p:nvGrpSpPr>
        <p:grpSpPr>
          <a:xfrm>
            <a:off x="13141833" y="2514600"/>
            <a:ext cx="4389120" cy="3246120"/>
            <a:chOff x="0" y="0"/>
            <a:chExt cx="5852160" cy="4328160"/>
          </a:xfrm>
        </p:grpSpPr>
        <p:sp>
          <p:nvSpPr>
            <p:cNvPr id="14" name="Freeform 14"/>
            <p:cNvSpPr/>
            <p:nvPr/>
          </p:nvSpPr>
          <p:spPr>
            <a:xfrm>
              <a:off x="0" y="0"/>
              <a:ext cx="5852160" cy="4328160"/>
            </a:xfrm>
            <a:custGeom>
              <a:avLst/>
              <a:gdLst/>
              <a:ahLst/>
              <a:cxnLst/>
              <a:rect l="l" t="t" r="r" b="b"/>
              <a:pathLst>
                <a:path w="5852160" h="4328160">
                  <a:moveTo>
                    <a:pt x="0" y="259715"/>
                  </a:moveTo>
                  <a:cubicBezTo>
                    <a:pt x="0" y="116205"/>
                    <a:pt x="116205" y="0"/>
                    <a:pt x="259715" y="0"/>
                  </a:cubicBezTo>
                  <a:lnTo>
                    <a:pt x="5592445" y="0"/>
                  </a:lnTo>
                  <a:cubicBezTo>
                    <a:pt x="5735828" y="0"/>
                    <a:pt x="5852160" y="116205"/>
                    <a:pt x="5852160" y="259715"/>
                  </a:cubicBezTo>
                  <a:lnTo>
                    <a:pt x="5852160" y="4068445"/>
                  </a:lnTo>
                  <a:cubicBezTo>
                    <a:pt x="5852160" y="4211828"/>
                    <a:pt x="5735955" y="4328160"/>
                    <a:pt x="5592445" y="4328160"/>
                  </a:cubicBezTo>
                  <a:lnTo>
                    <a:pt x="259715" y="4328160"/>
                  </a:lnTo>
                  <a:cubicBezTo>
                    <a:pt x="116205" y="4328160"/>
                    <a:pt x="0" y="4211955"/>
                    <a:pt x="0" y="4068445"/>
                  </a:cubicBezTo>
                  <a:close/>
                </a:path>
              </a:pathLst>
            </a:custGeom>
            <a:solidFill>
              <a:srgbClr val="355688"/>
            </a:solidFill>
          </p:spPr>
          <p:txBody>
            <a:bodyPr/>
            <a:lstStyle/>
            <a:p>
              <a:endParaRPr lang="en-US"/>
            </a:p>
          </p:txBody>
        </p:sp>
      </p:grpSp>
      <p:sp>
        <p:nvSpPr>
          <p:cNvPr id="15" name="Freeform 15"/>
          <p:cNvSpPr/>
          <p:nvPr/>
        </p:nvSpPr>
        <p:spPr>
          <a:xfrm>
            <a:off x="8010144" y="6303645"/>
            <a:ext cx="5948825" cy="3145155"/>
          </a:xfrm>
          <a:custGeom>
            <a:avLst/>
            <a:gdLst/>
            <a:ahLst/>
            <a:cxnLst/>
            <a:rect l="l" t="t" r="r" b="b"/>
            <a:pathLst>
              <a:path w="5948825" h="3145155">
                <a:moveTo>
                  <a:pt x="0" y="0"/>
                </a:moveTo>
                <a:lnTo>
                  <a:pt x="5948825" y="0"/>
                </a:lnTo>
                <a:lnTo>
                  <a:pt x="5948825" y="3145155"/>
                </a:lnTo>
                <a:lnTo>
                  <a:pt x="0" y="3145155"/>
                </a:lnTo>
                <a:lnTo>
                  <a:pt x="0" y="0"/>
                </a:lnTo>
                <a:close/>
              </a:path>
            </a:pathLst>
          </a:custGeom>
          <a:blipFill>
            <a:blip r:embed="rId5"/>
            <a:stretch>
              <a:fillRect r="-934"/>
            </a:stretch>
          </a:blipFill>
        </p:spPr>
        <p:txBody>
          <a:bodyPr/>
          <a:lstStyle/>
          <a:p>
            <a:endParaRPr lang="en-US"/>
          </a:p>
        </p:txBody>
      </p:sp>
      <p:sp>
        <p:nvSpPr>
          <p:cNvPr id="16" name="Freeform 16"/>
          <p:cNvSpPr/>
          <p:nvPr/>
        </p:nvSpPr>
        <p:spPr>
          <a:xfrm>
            <a:off x="14186947" y="5760720"/>
            <a:ext cx="3973560" cy="3688080"/>
          </a:xfrm>
          <a:custGeom>
            <a:avLst/>
            <a:gdLst/>
            <a:ahLst/>
            <a:cxnLst/>
            <a:rect l="l" t="t" r="r" b="b"/>
            <a:pathLst>
              <a:path w="3973560" h="3688080">
                <a:moveTo>
                  <a:pt x="0" y="0"/>
                </a:moveTo>
                <a:lnTo>
                  <a:pt x="3973560" y="0"/>
                </a:lnTo>
                <a:lnTo>
                  <a:pt x="3973560" y="3688080"/>
                </a:lnTo>
                <a:lnTo>
                  <a:pt x="0" y="3688080"/>
                </a:lnTo>
                <a:lnTo>
                  <a:pt x="0" y="0"/>
                </a:lnTo>
                <a:close/>
              </a:path>
            </a:pathLst>
          </a:custGeom>
          <a:blipFill>
            <a:blip r:embed="rId6"/>
            <a:stretch>
              <a:fillRect l="-5821" r="-9889" b="-11187"/>
            </a:stretch>
          </a:blipFill>
        </p:spPr>
        <p:txBody>
          <a:bodyPr/>
          <a:lstStyle/>
          <a:p>
            <a:endParaRPr lang="en-US"/>
          </a:p>
        </p:txBody>
      </p:sp>
      <p:sp>
        <p:nvSpPr>
          <p:cNvPr id="17" name="TextBox 17"/>
          <p:cNvSpPr txBox="1"/>
          <p:nvPr/>
        </p:nvSpPr>
        <p:spPr>
          <a:xfrm>
            <a:off x="8503920" y="2686812"/>
            <a:ext cx="3840480" cy="3286125"/>
          </a:xfrm>
          <a:prstGeom prst="rect">
            <a:avLst/>
          </a:prstGeom>
        </p:spPr>
        <p:txBody>
          <a:bodyPr lIns="0" tIns="0" rIns="0" bIns="0" rtlCol="0" anchor="t">
            <a:spAutoFit/>
          </a:bodyPr>
          <a:lstStyle/>
          <a:p>
            <a:pPr algn="l">
              <a:lnSpc>
                <a:spcPts val="3359"/>
              </a:lnSpc>
            </a:pPr>
            <a:r>
              <a:rPr lang="en-US" sz="2799" b="1">
                <a:solidFill>
                  <a:srgbClr val="355688"/>
                </a:solidFill>
                <a:latin typeface="Telegraf Bold"/>
                <a:ea typeface="Telegraf Bold"/>
                <a:cs typeface="Telegraf Bold"/>
                <a:sym typeface="Telegraf Bold"/>
              </a:rPr>
              <a:t>Platt calibration</a:t>
            </a:r>
          </a:p>
          <a:p>
            <a:pPr algn="l">
              <a:lnSpc>
                <a:spcPts val="2520"/>
              </a:lnSpc>
            </a:pPr>
            <a:r>
              <a:rPr lang="en-US" sz="2100">
                <a:solidFill>
                  <a:srgbClr val="2F2A24"/>
                </a:solidFill>
                <a:latin typeface="Telegraf"/>
                <a:ea typeface="Telegraf"/>
                <a:cs typeface="Telegraf"/>
                <a:sym typeface="Telegraf"/>
              </a:rPr>
              <a:t>Rolling Platt refits daily using the previous 28 days of known outcomes; the 0.508 decision threshold was selected on September–October data and frozen before November.</a:t>
            </a:r>
          </a:p>
          <a:p>
            <a:pPr algn="l">
              <a:lnSpc>
                <a:spcPts val="2520"/>
              </a:lnSpc>
            </a:pPr>
            <a:r>
              <a:rPr lang="en-US" sz="2100" b="1">
                <a:solidFill>
                  <a:srgbClr val="2F2A24"/>
                </a:solidFill>
                <a:latin typeface="Telegraf Bold"/>
                <a:ea typeface="Telegraf Bold"/>
                <a:cs typeface="Telegraf Bold"/>
                <a:sym typeface="Telegraf Bold"/>
              </a:rPr>
              <a:t>Test ECE: 0.027 (rolling) vs 0.019 (raw)</a:t>
            </a:r>
          </a:p>
        </p:txBody>
      </p:sp>
      <p:sp>
        <p:nvSpPr>
          <p:cNvPr id="18" name="TextBox 18"/>
          <p:cNvSpPr txBox="1"/>
          <p:nvPr/>
        </p:nvSpPr>
        <p:spPr>
          <a:xfrm>
            <a:off x="13524745" y="2728782"/>
            <a:ext cx="3623296" cy="2095436"/>
          </a:xfrm>
          <a:prstGeom prst="rect">
            <a:avLst/>
          </a:prstGeom>
        </p:spPr>
        <p:txBody>
          <a:bodyPr lIns="0" tIns="0" rIns="0" bIns="0" rtlCol="0" anchor="t">
            <a:spAutoFit/>
          </a:bodyPr>
          <a:lstStyle/>
          <a:p>
            <a:pPr algn="l">
              <a:lnSpc>
                <a:spcPts val="3169"/>
              </a:lnSpc>
            </a:pPr>
            <a:r>
              <a:rPr lang="en-US" sz="2641" b="1">
                <a:solidFill>
                  <a:srgbClr val="FFFFFF"/>
                </a:solidFill>
                <a:latin typeface="Telegraf Bold"/>
                <a:ea typeface="Telegraf Bold"/>
                <a:cs typeface="Telegraf Bold"/>
                <a:sym typeface="Telegraf Bold"/>
              </a:rPr>
              <a:t>Frozen threshold</a:t>
            </a:r>
          </a:p>
          <a:p>
            <a:pPr algn="l">
              <a:lnSpc>
                <a:spcPts val="6226"/>
              </a:lnSpc>
            </a:pPr>
            <a:r>
              <a:rPr lang="en-US" sz="5188" b="1">
                <a:solidFill>
                  <a:srgbClr val="FFFFFF"/>
                </a:solidFill>
                <a:latin typeface="Telegraf Bold"/>
                <a:ea typeface="Telegraf Bold"/>
                <a:cs typeface="Telegraf Bold"/>
                <a:sym typeface="Telegraf Bold"/>
              </a:rPr>
              <a:t>0.507908</a:t>
            </a:r>
          </a:p>
          <a:p>
            <a:pPr algn="l">
              <a:lnSpc>
                <a:spcPts val="2377"/>
              </a:lnSpc>
            </a:pPr>
            <a:r>
              <a:rPr lang="en-US" sz="1981">
                <a:solidFill>
                  <a:srgbClr val="FFFFFF"/>
                </a:solidFill>
                <a:latin typeface="Telegraf"/>
                <a:ea typeface="Telegraf"/>
                <a:cs typeface="Telegraf"/>
                <a:sym typeface="Telegraf"/>
              </a:rPr>
              <a:t>Chosen on Sep–Oct labels to target precision ≥ 0.40, then locked before 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288"/>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sp>
        <p:nvSpPr>
          <p:cNvPr id="4" name="Freeform 4"/>
          <p:cNvSpPr/>
          <p:nvPr/>
        </p:nvSpPr>
        <p:spPr>
          <a:xfrm>
            <a:off x="1076982" y="5798068"/>
            <a:ext cx="5042954" cy="4072366"/>
          </a:xfrm>
          <a:custGeom>
            <a:avLst/>
            <a:gdLst/>
            <a:ahLst/>
            <a:cxnLst/>
            <a:rect l="l" t="t" r="r" b="b"/>
            <a:pathLst>
              <a:path w="5042954" h="4072366">
                <a:moveTo>
                  <a:pt x="0" y="0"/>
                </a:moveTo>
                <a:lnTo>
                  <a:pt x="5042954" y="0"/>
                </a:lnTo>
                <a:lnTo>
                  <a:pt x="5042954" y="4072366"/>
                </a:lnTo>
                <a:lnTo>
                  <a:pt x="0" y="40723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086507" y="6400867"/>
            <a:ext cx="5031191" cy="708660"/>
          </a:xfrm>
          <a:prstGeom prst="rect">
            <a:avLst/>
          </a:prstGeom>
        </p:spPr>
        <p:txBody>
          <a:bodyPr lIns="0" tIns="0" rIns="0" bIns="0" rtlCol="0" anchor="t">
            <a:spAutoFit/>
          </a:bodyPr>
          <a:lstStyle/>
          <a:p>
            <a:pPr algn="ctr">
              <a:lnSpc>
                <a:spcPts val="2789"/>
              </a:lnSpc>
            </a:pPr>
            <a:r>
              <a:rPr lang="en-US" sz="3099" b="1">
                <a:solidFill>
                  <a:srgbClr val="F3F4F7"/>
                </a:solidFill>
                <a:latin typeface="Telegraf Bold"/>
                <a:ea typeface="Telegraf Bold"/>
                <a:cs typeface="Telegraf Bold"/>
                <a:sym typeface="Telegraf Bold"/>
              </a:rPr>
              <a:t>Both models beat the baselines</a:t>
            </a:r>
          </a:p>
        </p:txBody>
      </p:sp>
      <p:sp>
        <p:nvSpPr>
          <p:cNvPr id="6" name="TextBox 6"/>
          <p:cNvSpPr txBox="1"/>
          <p:nvPr/>
        </p:nvSpPr>
        <p:spPr>
          <a:xfrm>
            <a:off x="1336053" y="7340775"/>
            <a:ext cx="4532109" cy="1929765"/>
          </a:xfrm>
          <a:prstGeom prst="rect">
            <a:avLst/>
          </a:prstGeom>
        </p:spPr>
        <p:txBody>
          <a:bodyPr lIns="0" tIns="0" rIns="0" bIns="0" rtlCol="0" anchor="t">
            <a:spAutoFit/>
          </a:bodyPr>
          <a:lstStyle/>
          <a:p>
            <a:pPr algn="ctr">
              <a:lnSpc>
                <a:spcPts val="2969"/>
              </a:lnSpc>
            </a:pPr>
            <a:r>
              <a:rPr lang="en-US" sz="2199">
                <a:solidFill>
                  <a:srgbClr val="F3F4F7"/>
                </a:solidFill>
                <a:latin typeface="Telegraf"/>
                <a:ea typeface="Telegraf"/>
                <a:cs typeface="Telegraf"/>
                <a:sym typeface="Telegraf"/>
              </a:rPr>
              <a:t>LogReg </a:t>
            </a:r>
            <a:r>
              <a:rPr lang="en-US" sz="2199" b="1">
                <a:solidFill>
                  <a:srgbClr val="F3F4F7"/>
                </a:solidFill>
                <a:latin typeface="Telegraf Bold"/>
                <a:ea typeface="Telegraf Bold"/>
                <a:cs typeface="Telegraf Bold"/>
                <a:sym typeface="Telegraf Bold"/>
              </a:rPr>
              <a:t>0.393</a:t>
            </a:r>
            <a:r>
              <a:rPr lang="en-US" sz="2199">
                <a:solidFill>
                  <a:srgbClr val="F3F4F7"/>
                </a:solidFill>
                <a:latin typeface="Telegraf"/>
                <a:ea typeface="Telegraf"/>
                <a:cs typeface="Telegraf"/>
                <a:sym typeface="Telegraf"/>
              </a:rPr>
              <a:t> and XGBoost </a:t>
            </a:r>
            <a:r>
              <a:rPr lang="en-US" sz="2199" b="1">
                <a:solidFill>
                  <a:srgbClr val="F3F4F7"/>
                </a:solidFill>
                <a:latin typeface="Telegraf Bold"/>
                <a:ea typeface="Telegraf Bold"/>
                <a:cs typeface="Telegraf Bold"/>
                <a:sym typeface="Telegraf Bold"/>
              </a:rPr>
              <a:t>0.407</a:t>
            </a:r>
            <a:r>
              <a:rPr lang="en-US" sz="2199">
                <a:solidFill>
                  <a:srgbClr val="F3F4F7"/>
                </a:solidFill>
                <a:latin typeface="Telegraf"/>
                <a:ea typeface="Telegraf"/>
                <a:cs typeface="Telegraf"/>
                <a:sym typeface="Telegraf"/>
              </a:rPr>
              <a:t> PR-AUC, both well above route history (0.353) and the base rate (0.258).</a:t>
            </a:r>
          </a:p>
        </p:txBody>
      </p:sp>
      <p:sp>
        <p:nvSpPr>
          <p:cNvPr id="7" name="Freeform 7"/>
          <p:cNvSpPr/>
          <p:nvPr/>
        </p:nvSpPr>
        <p:spPr>
          <a:xfrm>
            <a:off x="12168064" y="5798068"/>
            <a:ext cx="5042954" cy="4017216"/>
          </a:xfrm>
          <a:custGeom>
            <a:avLst/>
            <a:gdLst/>
            <a:ahLst/>
            <a:cxnLst/>
            <a:rect l="l" t="t" r="r" b="b"/>
            <a:pathLst>
              <a:path w="5042954" h="4017216">
                <a:moveTo>
                  <a:pt x="0" y="0"/>
                </a:moveTo>
                <a:lnTo>
                  <a:pt x="5042954" y="0"/>
                </a:lnTo>
                <a:lnTo>
                  <a:pt x="5042954" y="4017216"/>
                </a:lnTo>
                <a:lnTo>
                  <a:pt x="0" y="40172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6622523" y="5798068"/>
            <a:ext cx="5042954" cy="4072366"/>
          </a:xfrm>
          <a:custGeom>
            <a:avLst/>
            <a:gdLst/>
            <a:ahLst/>
            <a:cxnLst/>
            <a:rect l="l" t="t" r="r" b="b"/>
            <a:pathLst>
              <a:path w="5042954" h="4072366">
                <a:moveTo>
                  <a:pt x="0" y="0"/>
                </a:moveTo>
                <a:lnTo>
                  <a:pt x="5042954" y="0"/>
                </a:lnTo>
                <a:lnTo>
                  <a:pt x="5042954" y="4072366"/>
                </a:lnTo>
                <a:lnTo>
                  <a:pt x="0" y="40723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6877945" y="6400867"/>
            <a:ext cx="4532109" cy="708660"/>
          </a:xfrm>
          <a:prstGeom prst="rect">
            <a:avLst/>
          </a:prstGeom>
        </p:spPr>
        <p:txBody>
          <a:bodyPr lIns="0" tIns="0" rIns="0" bIns="0" rtlCol="0" anchor="t">
            <a:spAutoFit/>
          </a:bodyPr>
          <a:lstStyle/>
          <a:p>
            <a:pPr algn="ctr">
              <a:lnSpc>
                <a:spcPts val="2789"/>
              </a:lnSpc>
            </a:pPr>
            <a:r>
              <a:rPr lang="en-US" sz="3099" b="1">
                <a:solidFill>
                  <a:srgbClr val="071125"/>
                </a:solidFill>
                <a:latin typeface="Telegraf Bold"/>
                <a:ea typeface="Telegraf Bold"/>
                <a:cs typeface="Telegraf Bold"/>
                <a:sym typeface="Telegraf Bold"/>
              </a:rPr>
              <a:t>The gap is too small to trust</a:t>
            </a:r>
          </a:p>
        </p:txBody>
      </p:sp>
      <p:sp>
        <p:nvSpPr>
          <p:cNvPr id="10" name="TextBox 10"/>
          <p:cNvSpPr txBox="1"/>
          <p:nvPr/>
        </p:nvSpPr>
        <p:spPr>
          <a:xfrm>
            <a:off x="12339628" y="6400867"/>
            <a:ext cx="4687510" cy="708660"/>
          </a:xfrm>
          <a:prstGeom prst="rect">
            <a:avLst/>
          </a:prstGeom>
        </p:spPr>
        <p:txBody>
          <a:bodyPr lIns="0" tIns="0" rIns="0" bIns="0" rtlCol="0" anchor="t">
            <a:spAutoFit/>
          </a:bodyPr>
          <a:lstStyle/>
          <a:p>
            <a:pPr algn="ctr">
              <a:lnSpc>
                <a:spcPts val="2789"/>
              </a:lnSpc>
            </a:pPr>
            <a:r>
              <a:rPr lang="en-US" sz="3099" b="1">
                <a:solidFill>
                  <a:srgbClr val="F3F4F7"/>
                </a:solidFill>
                <a:latin typeface="Telegraf Bold"/>
                <a:ea typeface="Telegraf Bold"/>
                <a:cs typeface="Telegraf Bold"/>
                <a:sym typeface="Telegraf Bold"/>
              </a:rPr>
              <a:t>No conclusive test winner</a:t>
            </a:r>
          </a:p>
        </p:txBody>
      </p:sp>
      <p:sp>
        <p:nvSpPr>
          <p:cNvPr id="11" name="TextBox 11"/>
          <p:cNvSpPr txBox="1"/>
          <p:nvPr/>
        </p:nvSpPr>
        <p:spPr>
          <a:xfrm>
            <a:off x="6877945" y="7340775"/>
            <a:ext cx="4532109" cy="386715"/>
          </a:xfrm>
          <a:prstGeom prst="rect">
            <a:avLst/>
          </a:prstGeom>
        </p:spPr>
        <p:txBody>
          <a:bodyPr lIns="0" tIns="0" rIns="0" bIns="0" rtlCol="0" anchor="t">
            <a:spAutoFit/>
          </a:bodyPr>
          <a:lstStyle/>
          <a:p>
            <a:pPr algn="ctr">
              <a:lnSpc>
                <a:spcPts val="2969"/>
              </a:lnSpc>
            </a:pPr>
            <a:r>
              <a:rPr lang="en-US" sz="2199">
                <a:solidFill>
                  <a:srgbClr val="071125"/>
                </a:solidFill>
                <a:latin typeface="Telegraf"/>
                <a:ea typeface="Telegraf"/>
                <a:cs typeface="Telegraf"/>
                <a:sym typeface="Telegraf"/>
              </a:rPr>
              <a:t>XGBoost is ahead by only </a:t>
            </a:r>
            <a:r>
              <a:rPr lang="en-US" sz="2199" b="1">
                <a:solidFill>
                  <a:srgbClr val="071125"/>
                </a:solidFill>
                <a:latin typeface="Telegraf Bold"/>
                <a:ea typeface="Telegraf Bold"/>
                <a:cs typeface="Telegraf Bold"/>
                <a:sym typeface="Telegraf Bold"/>
              </a:rPr>
              <a:t>0.014</a:t>
            </a:r>
            <a:r>
              <a:rPr lang="en-US" sz="2199">
                <a:solidFill>
                  <a:srgbClr val="071125"/>
                </a:solidFill>
                <a:latin typeface="Telegraf"/>
                <a:ea typeface="Telegraf"/>
                <a:cs typeface="Telegraf"/>
                <a:sym typeface="Telegraf"/>
              </a:rPr>
              <a:t>. </a:t>
            </a:r>
          </a:p>
        </p:txBody>
      </p:sp>
      <p:sp>
        <p:nvSpPr>
          <p:cNvPr id="12" name="TextBox 12"/>
          <p:cNvSpPr txBox="1"/>
          <p:nvPr/>
        </p:nvSpPr>
        <p:spPr>
          <a:xfrm>
            <a:off x="12427477" y="7340775"/>
            <a:ext cx="4532109" cy="1929765"/>
          </a:xfrm>
          <a:prstGeom prst="rect">
            <a:avLst/>
          </a:prstGeom>
        </p:spPr>
        <p:txBody>
          <a:bodyPr lIns="0" tIns="0" rIns="0" bIns="0" rtlCol="0" anchor="t">
            <a:spAutoFit/>
          </a:bodyPr>
          <a:lstStyle/>
          <a:p>
            <a:pPr algn="ctr">
              <a:lnSpc>
                <a:spcPts val="2969"/>
              </a:lnSpc>
            </a:pPr>
            <a:r>
              <a:rPr lang="en-US" sz="2199">
                <a:solidFill>
                  <a:srgbClr val="F3F4F7"/>
                </a:solidFill>
                <a:latin typeface="Telegraf"/>
                <a:ea typeface="Telegraf"/>
                <a:cs typeface="Telegraf"/>
                <a:sym typeface="Telegraf"/>
              </a:rPr>
              <a:t>The test set cannot tell the two models apart. </a:t>
            </a:r>
            <a:r>
              <a:rPr lang="en-US" sz="2199" b="1">
                <a:solidFill>
                  <a:srgbClr val="F3F4F7"/>
                </a:solidFill>
                <a:latin typeface="Telegraf Bold"/>
                <a:ea typeface="Telegraf Bold"/>
                <a:cs typeface="Telegraf Bold"/>
                <a:sym typeface="Telegraf Bold"/>
              </a:rPr>
              <a:t>We keep Logistic Regression (next slide).</a:t>
            </a:r>
          </a:p>
        </p:txBody>
      </p:sp>
      <p:grpSp>
        <p:nvGrpSpPr>
          <p:cNvPr id="13" name="Group 13"/>
          <p:cNvGrpSpPr/>
          <p:nvPr/>
        </p:nvGrpSpPr>
        <p:grpSpPr>
          <a:xfrm>
            <a:off x="1024128" y="566928"/>
            <a:ext cx="16230600" cy="1005840"/>
            <a:chOff x="0" y="0"/>
            <a:chExt cx="21640800" cy="1341120"/>
          </a:xfrm>
        </p:grpSpPr>
        <p:sp>
          <p:nvSpPr>
            <p:cNvPr id="14" name="Freeform 14"/>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6">
                <a:alphaModFix amt="0"/>
              </a:blip>
              <a:stretch>
                <a:fillRect t="-264417" b="-264417"/>
              </a:stretch>
            </a:blipFill>
          </p:spPr>
          <p:txBody>
            <a:bodyPr/>
            <a:lstStyle/>
            <a:p>
              <a:endParaRPr lang="en-US"/>
            </a:p>
          </p:txBody>
        </p:sp>
        <p:sp>
          <p:nvSpPr>
            <p:cNvPr id="15" name="TextBox 15"/>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Test Results &amp; Model Comparison</a:t>
              </a:r>
            </a:p>
          </p:txBody>
        </p:sp>
      </p:grpSp>
      <p:sp>
        <p:nvSpPr>
          <p:cNvPr id="16" name="TextBox 16"/>
          <p:cNvSpPr txBox="1"/>
          <p:nvPr/>
        </p:nvSpPr>
        <p:spPr>
          <a:xfrm>
            <a:off x="1024128" y="2321052"/>
            <a:ext cx="16230600" cy="403860"/>
          </a:xfrm>
          <a:prstGeom prst="rect">
            <a:avLst/>
          </a:prstGeom>
        </p:spPr>
        <p:txBody>
          <a:bodyPr lIns="0" tIns="0" rIns="0" bIns="0" rtlCol="0" anchor="t">
            <a:spAutoFit/>
          </a:bodyPr>
          <a:lstStyle/>
          <a:p>
            <a:pPr algn="ctr">
              <a:lnSpc>
                <a:spcPts val="2400"/>
              </a:lnSpc>
            </a:pPr>
            <a:r>
              <a:rPr lang="en-US" sz="2000" b="1">
                <a:solidFill>
                  <a:srgbClr val="545454"/>
                </a:solidFill>
                <a:latin typeface="Telegraf Bold"/>
                <a:ea typeface="Telegraf Bold"/>
                <a:cs typeface="Telegraf Bold"/>
                <a:sym typeface="Telegraf Bold"/>
              </a:rPr>
              <a:t>Test set: Nov–Dec 2013 · 53,991 flights · base rate 25.8%</a:t>
            </a:r>
          </a:p>
        </p:txBody>
      </p:sp>
      <p:pic>
        <p:nvPicPr>
          <p:cNvPr id="17" name="Picture 17"/>
          <p:cNvPicPr>
            <a:picLocks noChangeAspect="1"/>
          </p:cNvPicPr>
          <p:nvPr/>
        </p:nvPicPr>
        <p:blipFill>
          <a:blip r:embed="rId7"/>
          <a:stretch>
            <a:fillRect/>
          </a:stretch>
        </p:blipFill>
        <p:spPr>
          <a:xfrm>
            <a:off x="365760" y="2240280"/>
            <a:ext cx="6583680" cy="3886200"/>
          </a:xfrm>
          <a:prstGeom prst="rect">
            <a:avLst/>
          </a:prstGeom>
        </p:spPr>
      </p:pic>
      <p:pic>
        <p:nvPicPr>
          <p:cNvPr id="18" name="Picture 18"/>
          <p:cNvPicPr>
            <a:picLocks noChangeAspect="1"/>
          </p:cNvPicPr>
          <p:nvPr/>
        </p:nvPicPr>
        <p:blipFill>
          <a:blip r:embed="rId8"/>
          <a:stretch>
            <a:fillRect/>
          </a:stretch>
        </p:blipFill>
        <p:spPr>
          <a:xfrm>
            <a:off x="5852160" y="2240280"/>
            <a:ext cx="6583680" cy="3886200"/>
          </a:xfrm>
          <a:prstGeom prst="rect">
            <a:avLst/>
          </a:prstGeom>
        </p:spPr>
      </p:pic>
      <p:pic>
        <p:nvPicPr>
          <p:cNvPr id="19" name="Picture 19"/>
          <p:cNvPicPr>
            <a:picLocks noChangeAspect="1"/>
          </p:cNvPicPr>
          <p:nvPr/>
        </p:nvPicPr>
        <p:blipFill>
          <a:blip r:embed="rId9"/>
          <a:stretch>
            <a:fillRect/>
          </a:stretch>
        </p:blipFill>
        <p:spPr>
          <a:xfrm>
            <a:off x="11338560" y="2240280"/>
            <a:ext cx="6583680" cy="3886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288"/>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4" name="Group 4"/>
          <p:cNvGrpSpPr/>
          <p:nvPr/>
        </p:nvGrpSpPr>
        <p:grpSpPr>
          <a:xfrm>
            <a:off x="1024128" y="566928"/>
            <a:ext cx="16230600" cy="1005840"/>
            <a:chOff x="0" y="0"/>
            <a:chExt cx="21640800" cy="1341120"/>
          </a:xfrm>
        </p:grpSpPr>
        <p:sp>
          <p:nvSpPr>
            <p:cNvPr id="5" name="Freeform 5"/>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3">
                <a:alphaModFix amt="0"/>
              </a:blip>
              <a:stretch>
                <a:fillRect t="-264417" b="-264417"/>
              </a:stretch>
            </a:blipFill>
          </p:spPr>
          <p:txBody>
            <a:bodyPr/>
            <a:lstStyle/>
            <a:p>
              <a:endParaRPr lang="en-US"/>
            </a:p>
          </p:txBody>
        </p:sp>
        <p:sp>
          <p:nvSpPr>
            <p:cNvPr id="6" name="TextBox 6"/>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What We Found</a:t>
              </a:r>
            </a:p>
          </p:txBody>
        </p:sp>
      </p:grpSp>
      <p:grpSp>
        <p:nvGrpSpPr>
          <p:cNvPr id="7" name="Group 7"/>
          <p:cNvGrpSpPr/>
          <p:nvPr/>
        </p:nvGrpSpPr>
        <p:grpSpPr>
          <a:xfrm>
            <a:off x="914400" y="2423160"/>
            <a:ext cx="10241280" cy="4526280"/>
            <a:chOff x="0" y="0"/>
            <a:chExt cx="13655040" cy="6035040"/>
          </a:xfrm>
        </p:grpSpPr>
        <p:sp>
          <p:nvSpPr>
            <p:cNvPr id="8" name="Freeform 8"/>
            <p:cNvSpPr/>
            <p:nvPr/>
          </p:nvSpPr>
          <p:spPr>
            <a:xfrm>
              <a:off x="0" y="0"/>
              <a:ext cx="13655039" cy="6035040"/>
            </a:xfrm>
            <a:custGeom>
              <a:avLst/>
              <a:gdLst/>
              <a:ahLst/>
              <a:cxnLst/>
              <a:rect l="l" t="t" r="r" b="b"/>
              <a:pathLst>
                <a:path w="13655039" h="6035040">
                  <a:moveTo>
                    <a:pt x="0" y="181102"/>
                  </a:moveTo>
                  <a:cubicBezTo>
                    <a:pt x="0" y="81026"/>
                    <a:pt x="81026" y="0"/>
                    <a:pt x="181102" y="0"/>
                  </a:cubicBezTo>
                  <a:lnTo>
                    <a:pt x="13473937" y="0"/>
                  </a:lnTo>
                  <a:cubicBezTo>
                    <a:pt x="13573886" y="0"/>
                    <a:pt x="13655039" y="81026"/>
                    <a:pt x="13655039" y="181102"/>
                  </a:cubicBezTo>
                  <a:lnTo>
                    <a:pt x="13655039" y="5853938"/>
                  </a:lnTo>
                  <a:cubicBezTo>
                    <a:pt x="13655039" y="5953887"/>
                    <a:pt x="13574013" y="6035040"/>
                    <a:pt x="13473937" y="6035040"/>
                  </a:cubicBezTo>
                  <a:lnTo>
                    <a:pt x="181102" y="6035040"/>
                  </a:lnTo>
                  <a:cubicBezTo>
                    <a:pt x="81026" y="6035040"/>
                    <a:pt x="0" y="5954014"/>
                    <a:pt x="0" y="5853938"/>
                  </a:cubicBezTo>
                  <a:close/>
                </a:path>
              </a:pathLst>
            </a:custGeom>
            <a:solidFill>
              <a:srgbClr val="FCFCFC"/>
            </a:solidFill>
          </p:spPr>
          <p:txBody>
            <a:bodyPr/>
            <a:lstStyle/>
            <a:p>
              <a:endParaRPr lang="en-US"/>
            </a:p>
          </p:txBody>
        </p:sp>
      </p:grpSp>
      <p:grpSp>
        <p:nvGrpSpPr>
          <p:cNvPr id="9" name="Group 9"/>
          <p:cNvGrpSpPr/>
          <p:nvPr/>
        </p:nvGrpSpPr>
        <p:grpSpPr>
          <a:xfrm>
            <a:off x="1051560" y="2806941"/>
            <a:ext cx="9966960" cy="4142499"/>
            <a:chOff x="0" y="0"/>
            <a:chExt cx="13289280" cy="5523332"/>
          </a:xfrm>
        </p:grpSpPr>
        <p:sp>
          <p:nvSpPr>
            <p:cNvPr id="10" name="Freeform 10" descr="pr_roc_test.png"/>
            <p:cNvSpPr/>
            <p:nvPr/>
          </p:nvSpPr>
          <p:spPr>
            <a:xfrm>
              <a:off x="0" y="0"/>
              <a:ext cx="13289280" cy="5523357"/>
            </a:xfrm>
            <a:custGeom>
              <a:avLst/>
              <a:gdLst/>
              <a:ahLst/>
              <a:cxnLst/>
              <a:rect l="l" t="t" r="r" b="b"/>
              <a:pathLst>
                <a:path w="13289280" h="5523357">
                  <a:moveTo>
                    <a:pt x="0" y="0"/>
                  </a:moveTo>
                  <a:lnTo>
                    <a:pt x="13289280" y="0"/>
                  </a:lnTo>
                  <a:lnTo>
                    <a:pt x="13289280" y="5523357"/>
                  </a:lnTo>
                  <a:lnTo>
                    <a:pt x="0" y="5523357"/>
                  </a:lnTo>
                  <a:lnTo>
                    <a:pt x="0" y="0"/>
                  </a:lnTo>
                  <a:close/>
                </a:path>
              </a:pathLst>
            </a:custGeom>
            <a:blipFill>
              <a:blip r:embed="rId4"/>
              <a:stretch>
                <a:fillRect/>
              </a:stretch>
            </a:blipFill>
          </p:spPr>
          <p:txBody>
            <a:bodyPr/>
            <a:lstStyle/>
            <a:p>
              <a:endParaRPr lang="en-US"/>
            </a:p>
          </p:txBody>
        </p:sp>
      </p:grpSp>
      <p:grpSp>
        <p:nvGrpSpPr>
          <p:cNvPr id="11" name="Group 11"/>
          <p:cNvGrpSpPr/>
          <p:nvPr/>
        </p:nvGrpSpPr>
        <p:grpSpPr>
          <a:xfrm>
            <a:off x="11430000" y="2423160"/>
            <a:ext cx="5852160" cy="2514600"/>
            <a:chOff x="0" y="0"/>
            <a:chExt cx="7802880" cy="3352800"/>
          </a:xfrm>
        </p:grpSpPr>
        <p:sp>
          <p:nvSpPr>
            <p:cNvPr id="12" name="Freeform 12"/>
            <p:cNvSpPr/>
            <p:nvPr/>
          </p:nvSpPr>
          <p:spPr>
            <a:xfrm>
              <a:off x="0" y="0"/>
              <a:ext cx="7802880" cy="3352800"/>
            </a:xfrm>
            <a:custGeom>
              <a:avLst/>
              <a:gdLst/>
              <a:ahLst/>
              <a:cxnLst/>
              <a:rect l="l" t="t" r="r" b="b"/>
              <a:pathLst>
                <a:path w="7802880" h="3352800">
                  <a:moveTo>
                    <a:pt x="0" y="134112"/>
                  </a:moveTo>
                  <a:cubicBezTo>
                    <a:pt x="0" y="60071"/>
                    <a:pt x="60071" y="0"/>
                    <a:pt x="134112" y="0"/>
                  </a:cubicBezTo>
                  <a:lnTo>
                    <a:pt x="7668768" y="0"/>
                  </a:lnTo>
                  <a:cubicBezTo>
                    <a:pt x="7742810" y="0"/>
                    <a:pt x="7802880" y="60071"/>
                    <a:pt x="7802880" y="134112"/>
                  </a:cubicBezTo>
                  <a:lnTo>
                    <a:pt x="7802880" y="3218688"/>
                  </a:lnTo>
                  <a:cubicBezTo>
                    <a:pt x="7802880" y="3292729"/>
                    <a:pt x="7742810" y="3352800"/>
                    <a:pt x="7668768" y="3352800"/>
                  </a:cubicBezTo>
                  <a:lnTo>
                    <a:pt x="134112" y="3352800"/>
                  </a:lnTo>
                  <a:cubicBezTo>
                    <a:pt x="60071" y="3352800"/>
                    <a:pt x="0" y="3292729"/>
                    <a:pt x="0" y="3218688"/>
                  </a:cubicBezTo>
                  <a:close/>
                </a:path>
              </a:pathLst>
            </a:custGeom>
            <a:solidFill>
              <a:srgbClr val="FCFCFC"/>
            </a:solidFill>
          </p:spPr>
          <p:txBody>
            <a:bodyPr/>
            <a:lstStyle/>
            <a:p>
              <a:endParaRPr lang="en-US"/>
            </a:p>
          </p:txBody>
        </p:sp>
      </p:grpSp>
      <p:grpSp>
        <p:nvGrpSpPr>
          <p:cNvPr id="13" name="Group 13"/>
          <p:cNvGrpSpPr/>
          <p:nvPr/>
        </p:nvGrpSpPr>
        <p:grpSpPr>
          <a:xfrm>
            <a:off x="12250147" y="2423160"/>
            <a:ext cx="4983480" cy="2606040"/>
            <a:chOff x="0" y="0"/>
            <a:chExt cx="6644640" cy="3474720"/>
          </a:xfrm>
        </p:grpSpPr>
        <p:sp>
          <p:nvSpPr>
            <p:cNvPr id="14" name="Freeform 14"/>
            <p:cNvSpPr/>
            <p:nvPr/>
          </p:nvSpPr>
          <p:spPr>
            <a:xfrm>
              <a:off x="0" y="0"/>
              <a:ext cx="6644640" cy="3474720"/>
            </a:xfrm>
            <a:custGeom>
              <a:avLst/>
              <a:gdLst/>
              <a:ahLst/>
              <a:cxnLst/>
              <a:rect l="l" t="t" r="r" b="b"/>
              <a:pathLst>
                <a:path w="6644640" h="3474720">
                  <a:moveTo>
                    <a:pt x="0" y="243205"/>
                  </a:moveTo>
                  <a:cubicBezTo>
                    <a:pt x="0" y="108839"/>
                    <a:pt x="108839" y="0"/>
                    <a:pt x="243205" y="0"/>
                  </a:cubicBezTo>
                  <a:lnTo>
                    <a:pt x="6401435" y="0"/>
                  </a:lnTo>
                  <a:cubicBezTo>
                    <a:pt x="6535801" y="0"/>
                    <a:pt x="6644640" y="108839"/>
                    <a:pt x="6644640" y="243205"/>
                  </a:cubicBezTo>
                  <a:lnTo>
                    <a:pt x="6644640" y="3231515"/>
                  </a:lnTo>
                  <a:cubicBezTo>
                    <a:pt x="6644640" y="3365881"/>
                    <a:pt x="6535801" y="3474720"/>
                    <a:pt x="6401435" y="3474720"/>
                  </a:cubicBezTo>
                  <a:lnTo>
                    <a:pt x="243205" y="3474720"/>
                  </a:lnTo>
                  <a:cubicBezTo>
                    <a:pt x="108839" y="3474720"/>
                    <a:pt x="0" y="3365881"/>
                    <a:pt x="0" y="3231515"/>
                  </a:cubicBezTo>
                  <a:close/>
                </a:path>
              </a:pathLst>
            </a:custGeom>
            <a:solidFill>
              <a:srgbClr val="355688"/>
            </a:solidFill>
          </p:spPr>
          <p:txBody>
            <a:bodyPr/>
            <a:lstStyle/>
            <a:p>
              <a:endParaRPr lang="en-US"/>
            </a:p>
          </p:txBody>
        </p:sp>
      </p:grpSp>
      <p:grpSp>
        <p:nvGrpSpPr>
          <p:cNvPr id="15" name="Group 15"/>
          <p:cNvGrpSpPr/>
          <p:nvPr/>
        </p:nvGrpSpPr>
        <p:grpSpPr>
          <a:xfrm>
            <a:off x="12250147" y="7636708"/>
            <a:ext cx="4983480" cy="2043653"/>
            <a:chOff x="0" y="0"/>
            <a:chExt cx="6644640" cy="2724871"/>
          </a:xfrm>
        </p:grpSpPr>
        <p:sp>
          <p:nvSpPr>
            <p:cNvPr id="16" name="Freeform 16"/>
            <p:cNvSpPr/>
            <p:nvPr/>
          </p:nvSpPr>
          <p:spPr>
            <a:xfrm>
              <a:off x="0" y="0"/>
              <a:ext cx="6644639" cy="2724871"/>
            </a:xfrm>
            <a:custGeom>
              <a:avLst/>
              <a:gdLst/>
              <a:ahLst/>
              <a:cxnLst/>
              <a:rect l="l" t="t" r="r" b="b"/>
              <a:pathLst>
                <a:path w="6644639" h="2724871">
                  <a:moveTo>
                    <a:pt x="0" y="190721"/>
                  </a:moveTo>
                  <a:cubicBezTo>
                    <a:pt x="0" y="85351"/>
                    <a:pt x="92683" y="0"/>
                    <a:pt x="207104" y="0"/>
                  </a:cubicBezTo>
                  <a:lnTo>
                    <a:pt x="6437536" y="0"/>
                  </a:lnTo>
                  <a:cubicBezTo>
                    <a:pt x="6551957" y="0"/>
                    <a:pt x="6644639" y="85351"/>
                    <a:pt x="6644639" y="190721"/>
                  </a:cubicBezTo>
                  <a:lnTo>
                    <a:pt x="6644639" y="2534150"/>
                  </a:lnTo>
                  <a:cubicBezTo>
                    <a:pt x="6644639" y="2639520"/>
                    <a:pt x="6551957" y="2724871"/>
                    <a:pt x="6437536" y="2724871"/>
                  </a:cubicBezTo>
                  <a:lnTo>
                    <a:pt x="207104" y="2724871"/>
                  </a:lnTo>
                  <a:cubicBezTo>
                    <a:pt x="92683" y="2724871"/>
                    <a:pt x="0" y="2639520"/>
                    <a:pt x="0" y="2534150"/>
                  </a:cubicBezTo>
                  <a:close/>
                </a:path>
              </a:pathLst>
            </a:custGeom>
            <a:solidFill>
              <a:srgbClr val="071125"/>
            </a:solidFill>
          </p:spPr>
          <p:txBody>
            <a:bodyPr/>
            <a:lstStyle/>
            <a:p>
              <a:endParaRPr lang="en-US"/>
            </a:p>
          </p:txBody>
        </p:sp>
      </p:grpSp>
      <p:grpSp>
        <p:nvGrpSpPr>
          <p:cNvPr id="17" name="Group 17"/>
          <p:cNvGrpSpPr/>
          <p:nvPr/>
        </p:nvGrpSpPr>
        <p:grpSpPr>
          <a:xfrm>
            <a:off x="12250147" y="5143500"/>
            <a:ext cx="4983480" cy="2378908"/>
            <a:chOff x="0" y="0"/>
            <a:chExt cx="7279053" cy="3474720"/>
          </a:xfrm>
        </p:grpSpPr>
        <p:sp>
          <p:nvSpPr>
            <p:cNvPr id="18" name="Freeform 18"/>
            <p:cNvSpPr/>
            <p:nvPr/>
          </p:nvSpPr>
          <p:spPr>
            <a:xfrm>
              <a:off x="0" y="0"/>
              <a:ext cx="7279053" cy="3474720"/>
            </a:xfrm>
            <a:custGeom>
              <a:avLst/>
              <a:gdLst/>
              <a:ahLst/>
              <a:cxnLst/>
              <a:rect l="l" t="t" r="r" b="b"/>
              <a:pathLst>
                <a:path w="7279053" h="3474720">
                  <a:moveTo>
                    <a:pt x="0" y="243205"/>
                  </a:moveTo>
                  <a:cubicBezTo>
                    <a:pt x="0" y="108839"/>
                    <a:pt x="119231" y="0"/>
                    <a:pt x="266426" y="0"/>
                  </a:cubicBezTo>
                  <a:lnTo>
                    <a:pt x="7012627" y="0"/>
                  </a:lnTo>
                  <a:cubicBezTo>
                    <a:pt x="7159822" y="0"/>
                    <a:pt x="7279053" y="108839"/>
                    <a:pt x="7279053" y="243205"/>
                  </a:cubicBezTo>
                  <a:lnTo>
                    <a:pt x="7279053" y="3231515"/>
                  </a:lnTo>
                  <a:cubicBezTo>
                    <a:pt x="7279053" y="3365881"/>
                    <a:pt x="7159822" y="3474720"/>
                    <a:pt x="7012627" y="3474720"/>
                  </a:cubicBezTo>
                  <a:lnTo>
                    <a:pt x="266426" y="3474720"/>
                  </a:lnTo>
                  <a:cubicBezTo>
                    <a:pt x="119231" y="3474720"/>
                    <a:pt x="0" y="3365881"/>
                    <a:pt x="0" y="3231515"/>
                  </a:cubicBezTo>
                  <a:close/>
                </a:path>
              </a:pathLst>
            </a:custGeom>
            <a:solidFill>
              <a:srgbClr val="4D4D4D"/>
            </a:solidFill>
          </p:spPr>
          <p:txBody>
            <a:bodyPr/>
            <a:lstStyle/>
            <a:p>
              <a:endParaRPr lang="en-US"/>
            </a:p>
          </p:txBody>
        </p:sp>
      </p:grpSp>
      <p:sp>
        <p:nvSpPr>
          <p:cNvPr id="19" name="Freeform 19"/>
          <p:cNvSpPr/>
          <p:nvPr/>
        </p:nvSpPr>
        <p:spPr>
          <a:xfrm>
            <a:off x="137832" y="7636708"/>
            <a:ext cx="11813465" cy="2085173"/>
          </a:xfrm>
          <a:custGeom>
            <a:avLst/>
            <a:gdLst/>
            <a:ahLst/>
            <a:cxnLst/>
            <a:rect l="l" t="t" r="r" b="b"/>
            <a:pathLst>
              <a:path w="11813465" h="2085173">
                <a:moveTo>
                  <a:pt x="0" y="0"/>
                </a:moveTo>
                <a:lnTo>
                  <a:pt x="11813466" y="0"/>
                </a:lnTo>
                <a:lnTo>
                  <a:pt x="11813466" y="2085173"/>
                </a:lnTo>
                <a:lnTo>
                  <a:pt x="0" y="2085173"/>
                </a:lnTo>
                <a:lnTo>
                  <a:pt x="0" y="0"/>
                </a:lnTo>
                <a:close/>
              </a:path>
            </a:pathLst>
          </a:custGeom>
          <a:blipFill>
            <a:blip r:embed="rId5"/>
            <a:stretch>
              <a:fillRect l="-1785" r="-4285"/>
            </a:stretch>
          </a:blipFill>
        </p:spPr>
        <p:txBody>
          <a:bodyPr/>
          <a:lstStyle/>
          <a:p>
            <a:endParaRPr lang="en-US"/>
          </a:p>
        </p:txBody>
      </p:sp>
      <p:sp>
        <p:nvSpPr>
          <p:cNvPr id="20" name="TextBox 20"/>
          <p:cNvSpPr txBox="1"/>
          <p:nvPr/>
        </p:nvSpPr>
        <p:spPr>
          <a:xfrm>
            <a:off x="12475934" y="8055808"/>
            <a:ext cx="4483373" cy="1038225"/>
          </a:xfrm>
          <a:prstGeom prst="rect">
            <a:avLst/>
          </a:prstGeom>
        </p:spPr>
        <p:txBody>
          <a:bodyPr lIns="0" tIns="0" rIns="0" bIns="0" rtlCol="0" anchor="t">
            <a:spAutoFit/>
          </a:bodyPr>
          <a:lstStyle/>
          <a:p>
            <a:pPr algn="l">
              <a:lnSpc>
                <a:spcPts val="2999"/>
              </a:lnSpc>
            </a:pPr>
            <a:r>
              <a:rPr lang="en-US" sz="2499" b="1">
                <a:solidFill>
                  <a:srgbClr val="FFFFFF"/>
                </a:solidFill>
                <a:latin typeface="Telegraf Bold"/>
                <a:ea typeface="Telegraf Bold"/>
                <a:cs typeface="Telegraf Bold"/>
                <a:sym typeface="Telegraf Bold"/>
              </a:rPr>
              <a:t>Useful for daily planning</a:t>
            </a:r>
          </a:p>
          <a:p>
            <a:pPr algn="l">
              <a:lnSpc>
                <a:spcPts val="2520"/>
              </a:lnSpc>
            </a:pPr>
            <a:r>
              <a:rPr lang="en-US" sz="2100">
                <a:solidFill>
                  <a:srgbClr val="FFFFFF"/>
                </a:solidFill>
                <a:latin typeface="Telegraf"/>
                <a:ea typeface="Telegraf"/>
                <a:cs typeface="Telegraf"/>
                <a:sym typeface="Telegraf"/>
              </a:rPr>
              <a:t>Reviewing the top 10% riskiest flights each day: 44.8% are truly late </a:t>
            </a:r>
          </a:p>
        </p:txBody>
      </p:sp>
      <p:sp>
        <p:nvSpPr>
          <p:cNvPr id="21" name="TextBox 21"/>
          <p:cNvSpPr txBox="1"/>
          <p:nvPr/>
        </p:nvSpPr>
        <p:spPr>
          <a:xfrm>
            <a:off x="12524467" y="2845117"/>
            <a:ext cx="4434840" cy="1724025"/>
          </a:xfrm>
          <a:prstGeom prst="rect">
            <a:avLst/>
          </a:prstGeom>
        </p:spPr>
        <p:txBody>
          <a:bodyPr lIns="0" tIns="0" rIns="0" bIns="0" rtlCol="0" anchor="t">
            <a:spAutoFit/>
          </a:bodyPr>
          <a:lstStyle/>
          <a:p>
            <a:pPr algn="l">
              <a:lnSpc>
                <a:spcPts val="2999"/>
              </a:lnSpc>
            </a:pPr>
            <a:r>
              <a:rPr lang="en-US" sz="2499" b="1">
                <a:solidFill>
                  <a:srgbClr val="FFFFFF"/>
                </a:solidFill>
                <a:latin typeface="Telegraf Bold"/>
                <a:ea typeface="Telegraf Bold"/>
                <a:cs typeface="Telegraf Bold"/>
                <a:sym typeface="Telegraf Bold"/>
              </a:rPr>
              <a:t>Both models beat the baselines</a:t>
            </a:r>
          </a:p>
          <a:p>
            <a:pPr algn="l">
              <a:lnSpc>
                <a:spcPts val="2520"/>
              </a:lnSpc>
            </a:pPr>
            <a:r>
              <a:rPr lang="en-US" sz="2100">
                <a:solidFill>
                  <a:srgbClr val="FFFFFF"/>
                </a:solidFill>
                <a:latin typeface="Telegraf"/>
                <a:ea typeface="Telegraf"/>
                <a:cs typeface="Telegraf"/>
                <a:sym typeface="Telegraf"/>
              </a:rPr>
              <a:t>Their curves sit above route history and the base rate across the PR and ROC plots.</a:t>
            </a:r>
          </a:p>
        </p:txBody>
      </p:sp>
      <p:sp>
        <p:nvSpPr>
          <p:cNvPr id="22" name="TextBox 22"/>
          <p:cNvSpPr txBox="1"/>
          <p:nvPr/>
        </p:nvSpPr>
        <p:spPr>
          <a:xfrm>
            <a:off x="12524467" y="5229225"/>
            <a:ext cx="4434840" cy="1724025"/>
          </a:xfrm>
          <a:prstGeom prst="rect">
            <a:avLst/>
          </a:prstGeom>
        </p:spPr>
        <p:txBody>
          <a:bodyPr lIns="0" tIns="0" rIns="0" bIns="0" rtlCol="0" anchor="t">
            <a:spAutoFit/>
          </a:bodyPr>
          <a:lstStyle/>
          <a:p>
            <a:pPr algn="l">
              <a:lnSpc>
                <a:spcPts val="2999"/>
              </a:lnSpc>
            </a:pPr>
            <a:r>
              <a:rPr lang="en-US" sz="2499" b="1">
                <a:solidFill>
                  <a:srgbClr val="FFFFFF"/>
                </a:solidFill>
                <a:latin typeface="Telegraf Bold"/>
                <a:ea typeface="Telegraf Bold"/>
                <a:cs typeface="Telegraf Bold"/>
                <a:sym typeface="Telegraf Bold"/>
              </a:rPr>
              <a:t>LogReg and XGBoost almost overlap</a:t>
            </a:r>
          </a:p>
          <a:p>
            <a:pPr algn="l">
              <a:lnSpc>
                <a:spcPts val="2520"/>
              </a:lnSpc>
            </a:pPr>
            <a:r>
              <a:rPr lang="en-US" sz="2100">
                <a:solidFill>
                  <a:srgbClr val="FFFFFF"/>
                </a:solidFill>
                <a:latin typeface="Telegraf"/>
                <a:ea typeface="Telegraf"/>
                <a:cs typeface="Telegraf"/>
                <a:sym typeface="Telegraf"/>
              </a:rPr>
              <a:t>Their curves are nearly the same, which is why the test set gives no clear winner.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288"/>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4" name="Group 4"/>
          <p:cNvGrpSpPr/>
          <p:nvPr/>
        </p:nvGrpSpPr>
        <p:grpSpPr>
          <a:xfrm>
            <a:off x="1024128" y="566928"/>
            <a:ext cx="16230600" cy="1252728"/>
            <a:chOff x="0" y="0"/>
            <a:chExt cx="21640800" cy="1670304"/>
          </a:xfrm>
        </p:grpSpPr>
        <p:sp>
          <p:nvSpPr>
            <p:cNvPr id="5" name="Freeform 5"/>
            <p:cNvSpPr/>
            <p:nvPr/>
          </p:nvSpPr>
          <p:spPr>
            <a:xfrm>
              <a:off x="0" y="0"/>
              <a:ext cx="21640800" cy="1670304"/>
            </a:xfrm>
            <a:custGeom>
              <a:avLst/>
              <a:gdLst/>
              <a:ahLst/>
              <a:cxnLst/>
              <a:rect l="l" t="t" r="r" b="b"/>
              <a:pathLst>
                <a:path w="21640800" h="1670304">
                  <a:moveTo>
                    <a:pt x="0" y="0"/>
                  </a:moveTo>
                  <a:lnTo>
                    <a:pt x="21640800" y="0"/>
                  </a:lnTo>
                  <a:lnTo>
                    <a:pt x="21640800" y="1670304"/>
                  </a:lnTo>
                  <a:lnTo>
                    <a:pt x="0" y="1670304"/>
                  </a:lnTo>
                  <a:close/>
                </a:path>
              </a:pathLst>
            </a:custGeom>
            <a:blipFill>
              <a:blip r:embed="rId3">
                <a:alphaModFix amt="0"/>
              </a:blip>
              <a:stretch>
                <a:fillRect t="-212306" b="-192598"/>
              </a:stretch>
            </a:blipFill>
          </p:spPr>
          <p:txBody>
            <a:bodyPr/>
            <a:lstStyle/>
            <a:p>
              <a:endParaRPr lang="en-US"/>
            </a:p>
          </p:txBody>
        </p:sp>
        <p:sp>
          <p:nvSpPr>
            <p:cNvPr id="6" name="TextBox 6"/>
            <p:cNvSpPr txBox="1"/>
            <p:nvPr/>
          </p:nvSpPr>
          <p:spPr>
            <a:xfrm>
              <a:off x="0" y="-76200"/>
              <a:ext cx="21640800" cy="1746504"/>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Limitations </a:t>
              </a:r>
            </a:p>
          </p:txBody>
        </p:sp>
      </p:grpSp>
      <p:pic>
        <p:nvPicPr>
          <p:cNvPr id="7" name="Picture 7"/>
          <p:cNvPicPr>
            <a:picLocks noChangeAspect="1"/>
          </p:cNvPicPr>
          <p:nvPr/>
        </p:nvPicPr>
        <p:blipFill>
          <a:blip r:embed="rId4"/>
          <a:stretch>
            <a:fillRect/>
          </a:stretch>
        </p:blipFill>
        <p:spPr>
          <a:xfrm>
            <a:off x="228600" y="1764792"/>
            <a:ext cx="8449056" cy="8083296"/>
          </a:xfrm>
          <a:prstGeom prst="rect">
            <a:avLst/>
          </a:prstGeom>
        </p:spPr>
      </p:pic>
      <p:grpSp>
        <p:nvGrpSpPr>
          <p:cNvPr id="8" name="Group 8"/>
          <p:cNvGrpSpPr/>
          <p:nvPr/>
        </p:nvGrpSpPr>
        <p:grpSpPr>
          <a:xfrm>
            <a:off x="8906217" y="2887248"/>
            <a:ext cx="8119950" cy="2322356"/>
            <a:chOff x="0" y="0"/>
            <a:chExt cx="10617472" cy="3036662"/>
          </a:xfrm>
        </p:grpSpPr>
        <p:sp>
          <p:nvSpPr>
            <p:cNvPr id="9" name="Freeform 9"/>
            <p:cNvSpPr/>
            <p:nvPr/>
          </p:nvSpPr>
          <p:spPr>
            <a:xfrm>
              <a:off x="0" y="0"/>
              <a:ext cx="10617471" cy="3036663"/>
            </a:xfrm>
            <a:custGeom>
              <a:avLst/>
              <a:gdLst/>
              <a:ahLst/>
              <a:cxnLst/>
              <a:rect l="l" t="t" r="r" b="b"/>
              <a:pathLst>
                <a:path w="10617471" h="3036663">
                  <a:moveTo>
                    <a:pt x="0" y="182216"/>
                  </a:moveTo>
                  <a:cubicBezTo>
                    <a:pt x="0" y="81577"/>
                    <a:pt x="231596" y="0"/>
                    <a:pt x="517309" y="0"/>
                  </a:cubicBezTo>
                  <a:lnTo>
                    <a:pt x="10100163" y="0"/>
                  </a:lnTo>
                  <a:cubicBezTo>
                    <a:pt x="10385876" y="0"/>
                    <a:pt x="10617471" y="81577"/>
                    <a:pt x="10617471" y="182216"/>
                  </a:cubicBezTo>
                  <a:lnTo>
                    <a:pt x="10617471" y="2854446"/>
                  </a:lnTo>
                  <a:cubicBezTo>
                    <a:pt x="10617471" y="2955086"/>
                    <a:pt x="10385876" y="3036663"/>
                    <a:pt x="10100163" y="3036663"/>
                  </a:cubicBezTo>
                  <a:lnTo>
                    <a:pt x="517309" y="3036663"/>
                  </a:lnTo>
                  <a:cubicBezTo>
                    <a:pt x="231596" y="3036662"/>
                    <a:pt x="0" y="2955086"/>
                    <a:pt x="0" y="2854446"/>
                  </a:cubicBezTo>
                  <a:close/>
                </a:path>
              </a:pathLst>
            </a:custGeom>
            <a:solidFill>
              <a:srgbClr val="4D4D4D"/>
            </a:solidFill>
          </p:spPr>
          <p:txBody>
            <a:bodyPr/>
            <a:lstStyle/>
            <a:p>
              <a:endParaRPr lang="en-US"/>
            </a:p>
          </p:txBody>
        </p:sp>
      </p:grpSp>
      <p:sp>
        <p:nvSpPr>
          <p:cNvPr id="10" name="TextBox 10"/>
          <p:cNvSpPr txBox="1"/>
          <p:nvPr/>
        </p:nvSpPr>
        <p:spPr>
          <a:xfrm>
            <a:off x="9484635" y="3150900"/>
            <a:ext cx="7212309" cy="1590675"/>
          </a:xfrm>
          <a:prstGeom prst="rect">
            <a:avLst/>
          </a:prstGeom>
        </p:spPr>
        <p:txBody>
          <a:bodyPr lIns="0" tIns="0" rIns="0" bIns="0" rtlCol="0" anchor="t">
            <a:spAutoFit/>
          </a:bodyPr>
          <a:lstStyle/>
          <a:p>
            <a:pPr algn="l">
              <a:lnSpc>
                <a:spcPts val="3719"/>
              </a:lnSpc>
            </a:pPr>
            <a:r>
              <a:rPr lang="en-US" sz="3099" b="1">
                <a:solidFill>
                  <a:srgbClr val="FFFFFF"/>
                </a:solidFill>
                <a:latin typeface="Telegraf Bold"/>
                <a:ea typeface="Telegraf Bold"/>
                <a:cs typeface="Telegraf Bold"/>
                <a:sym typeface="Telegraf Bold"/>
              </a:rPr>
              <a:t>Narrow scope</a:t>
            </a:r>
          </a:p>
          <a:p>
            <a:pPr algn="l">
              <a:lnSpc>
                <a:spcPts val="2879"/>
              </a:lnSpc>
            </a:pPr>
            <a:r>
              <a:rPr lang="en-US" sz="2400">
                <a:solidFill>
                  <a:srgbClr val="FFFFFF"/>
                </a:solidFill>
                <a:latin typeface="Telegraf"/>
                <a:ea typeface="Telegraf"/>
                <a:cs typeface="Telegraf"/>
                <a:sym typeface="Telegraf"/>
              </a:rPr>
              <a:t>One year (2013) and three NYC airports (EWR, JFK, LGA): cross-year and cross-airport generalisation is not shown.</a:t>
            </a:r>
          </a:p>
        </p:txBody>
      </p:sp>
      <p:grpSp>
        <p:nvGrpSpPr>
          <p:cNvPr id="11" name="Group 11"/>
          <p:cNvGrpSpPr/>
          <p:nvPr/>
        </p:nvGrpSpPr>
        <p:grpSpPr>
          <a:xfrm>
            <a:off x="8686800" y="5641848"/>
            <a:ext cx="4279392" cy="3474720"/>
            <a:chOff x="0" y="0"/>
            <a:chExt cx="5705856" cy="4632960"/>
          </a:xfrm>
        </p:grpSpPr>
        <p:sp>
          <p:nvSpPr>
            <p:cNvPr id="12" name="Freeform 12"/>
            <p:cNvSpPr/>
            <p:nvPr/>
          </p:nvSpPr>
          <p:spPr>
            <a:xfrm>
              <a:off x="0" y="0"/>
              <a:ext cx="5705856" cy="4632960"/>
            </a:xfrm>
            <a:custGeom>
              <a:avLst/>
              <a:gdLst/>
              <a:ahLst/>
              <a:cxnLst/>
              <a:rect l="l" t="t" r="r" b="b"/>
              <a:pathLst>
                <a:path w="5705856" h="4632960">
                  <a:moveTo>
                    <a:pt x="0" y="278003"/>
                  </a:moveTo>
                  <a:cubicBezTo>
                    <a:pt x="0" y="124460"/>
                    <a:pt x="124460" y="0"/>
                    <a:pt x="278003" y="0"/>
                  </a:cubicBezTo>
                  <a:lnTo>
                    <a:pt x="5427853" y="0"/>
                  </a:lnTo>
                  <a:cubicBezTo>
                    <a:pt x="5581396" y="0"/>
                    <a:pt x="5705856" y="124460"/>
                    <a:pt x="5705856" y="278003"/>
                  </a:cubicBezTo>
                  <a:lnTo>
                    <a:pt x="5705856" y="4354957"/>
                  </a:lnTo>
                  <a:cubicBezTo>
                    <a:pt x="5705856" y="4508500"/>
                    <a:pt x="5581396" y="4632960"/>
                    <a:pt x="5427853" y="4632960"/>
                  </a:cubicBezTo>
                  <a:lnTo>
                    <a:pt x="278003" y="4632960"/>
                  </a:lnTo>
                  <a:cubicBezTo>
                    <a:pt x="124460" y="4632960"/>
                    <a:pt x="0" y="4508500"/>
                    <a:pt x="0" y="4354957"/>
                  </a:cubicBezTo>
                  <a:close/>
                </a:path>
              </a:pathLst>
            </a:custGeom>
            <a:solidFill>
              <a:srgbClr val="355688"/>
            </a:solidFill>
          </p:spPr>
          <p:txBody>
            <a:bodyPr/>
            <a:lstStyle/>
            <a:p>
              <a:endParaRPr lang="en-US"/>
            </a:p>
          </p:txBody>
        </p:sp>
      </p:grpSp>
      <p:sp>
        <p:nvSpPr>
          <p:cNvPr id="13" name="TextBox 13"/>
          <p:cNvSpPr txBox="1"/>
          <p:nvPr/>
        </p:nvSpPr>
        <p:spPr>
          <a:xfrm>
            <a:off x="8961120" y="6150483"/>
            <a:ext cx="3730752" cy="2419350"/>
          </a:xfrm>
          <a:prstGeom prst="rect">
            <a:avLst/>
          </a:prstGeom>
        </p:spPr>
        <p:txBody>
          <a:bodyPr lIns="0" tIns="0" rIns="0" bIns="0" rtlCol="0" anchor="t">
            <a:spAutoFit/>
          </a:bodyPr>
          <a:lstStyle/>
          <a:p>
            <a:pPr algn="ctr">
              <a:lnSpc>
                <a:spcPts val="3719"/>
              </a:lnSpc>
            </a:pPr>
            <a:r>
              <a:rPr lang="en-US" sz="3099" b="1">
                <a:solidFill>
                  <a:srgbClr val="FFFFFF"/>
                </a:solidFill>
                <a:latin typeface="Telegraf Bold"/>
                <a:ea typeface="Telegraf Bold"/>
                <a:cs typeface="Telegraf Bold"/>
                <a:sym typeface="Telegraf Bold"/>
              </a:rPr>
              <a:t>Changing delay rates</a:t>
            </a:r>
          </a:p>
          <a:p>
            <a:pPr algn="ctr">
              <a:lnSpc>
                <a:spcPts val="2879"/>
              </a:lnSpc>
            </a:pPr>
            <a:r>
              <a:rPr lang="en-US" sz="2400">
                <a:solidFill>
                  <a:srgbClr val="FFFFFF"/>
                </a:solidFill>
                <a:latin typeface="Telegraf"/>
                <a:ea typeface="Telegraf"/>
                <a:cs typeface="Telegraf"/>
                <a:sym typeface="Telegraf"/>
              </a:rPr>
              <a:t>13.7% in September vs 33.5% in December. The static calibrator fails in December (ECE 0.143).</a:t>
            </a:r>
          </a:p>
        </p:txBody>
      </p:sp>
      <p:grpSp>
        <p:nvGrpSpPr>
          <p:cNvPr id="14" name="Group 14"/>
          <p:cNvGrpSpPr/>
          <p:nvPr/>
        </p:nvGrpSpPr>
        <p:grpSpPr>
          <a:xfrm>
            <a:off x="13488333" y="5669280"/>
            <a:ext cx="4279392" cy="3474720"/>
            <a:chOff x="0" y="0"/>
            <a:chExt cx="5705856" cy="4632960"/>
          </a:xfrm>
        </p:grpSpPr>
        <p:sp>
          <p:nvSpPr>
            <p:cNvPr id="15" name="Freeform 15"/>
            <p:cNvSpPr/>
            <p:nvPr/>
          </p:nvSpPr>
          <p:spPr>
            <a:xfrm>
              <a:off x="0" y="0"/>
              <a:ext cx="5705856" cy="4632960"/>
            </a:xfrm>
            <a:custGeom>
              <a:avLst/>
              <a:gdLst/>
              <a:ahLst/>
              <a:cxnLst/>
              <a:rect l="l" t="t" r="r" b="b"/>
              <a:pathLst>
                <a:path w="5705856" h="4632960">
                  <a:moveTo>
                    <a:pt x="0" y="278003"/>
                  </a:moveTo>
                  <a:cubicBezTo>
                    <a:pt x="0" y="124460"/>
                    <a:pt x="124460" y="0"/>
                    <a:pt x="278003" y="0"/>
                  </a:cubicBezTo>
                  <a:lnTo>
                    <a:pt x="5427853" y="0"/>
                  </a:lnTo>
                  <a:cubicBezTo>
                    <a:pt x="5581396" y="0"/>
                    <a:pt x="5705856" y="124460"/>
                    <a:pt x="5705856" y="278003"/>
                  </a:cubicBezTo>
                  <a:lnTo>
                    <a:pt x="5705856" y="4354957"/>
                  </a:lnTo>
                  <a:cubicBezTo>
                    <a:pt x="5705856" y="4508500"/>
                    <a:pt x="5581396" y="4632960"/>
                    <a:pt x="5427853" y="4632960"/>
                  </a:cubicBezTo>
                  <a:lnTo>
                    <a:pt x="278003" y="4632960"/>
                  </a:lnTo>
                  <a:cubicBezTo>
                    <a:pt x="124460" y="4632960"/>
                    <a:pt x="0" y="4508500"/>
                    <a:pt x="0" y="4354957"/>
                  </a:cubicBezTo>
                  <a:close/>
                </a:path>
              </a:pathLst>
            </a:custGeom>
            <a:solidFill>
              <a:srgbClr val="F3F4F7"/>
            </a:solidFill>
          </p:spPr>
          <p:txBody>
            <a:bodyPr/>
            <a:lstStyle/>
            <a:p>
              <a:endParaRPr lang="en-US"/>
            </a:p>
          </p:txBody>
        </p:sp>
      </p:grpSp>
      <p:sp>
        <p:nvSpPr>
          <p:cNvPr id="16" name="TextBox 16"/>
          <p:cNvSpPr txBox="1"/>
          <p:nvPr/>
        </p:nvSpPr>
        <p:spPr>
          <a:xfrm>
            <a:off x="13762653" y="6255258"/>
            <a:ext cx="3730752" cy="1952625"/>
          </a:xfrm>
          <a:prstGeom prst="rect">
            <a:avLst/>
          </a:prstGeom>
        </p:spPr>
        <p:txBody>
          <a:bodyPr lIns="0" tIns="0" rIns="0" bIns="0" rtlCol="0" anchor="t">
            <a:spAutoFit/>
          </a:bodyPr>
          <a:lstStyle/>
          <a:p>
            <a:pPr algn="ctr">
              <a:lnSpc>
                <a:spcPts val="3719"/>
              </a:lnSpc>
            </a:pPr>
            <a:r>
              <a:rPr lang="en-US" sz="3099" b="1">
                <a:solidFill>
                  <a:srgbClr val="355688"/>
                </a:solidFill>
                <a:latin typeface="Telegraf Bold"/>
                <a:ea typeface="Telegraf Bold"/>
                <a:cs typeface="Telegraf Bold"/>
                <a:sym typeface="Telegraf Bold"/>
              </a:rPr>
              <a:t>Evaluation limits</a:t>
            </a:r>
          </a:p>
          <a:p>
            <a:pPr algn="ctr">
              <a:lnSpc>
                <a:spcPts val="2879"/>
              </a:lnSpc>
            </a:pPr>
            <a:r>
              <a:rPr lang="en-US" sz="2400">
                <a:solidFill>
                  <a:srgbClr val="2F2A24"/>
                </a:solidFill>
                <a:latin typeface="Telegraf"/>
                <a:ea typeface="Telegraf"/>
                <a:cs typeface="Telegraf"/>
                <a:sym typeface="Telegraf"/>
              </a:rPr>
              <a:t>Only 4 CV folds and one 2-month test window. No weather and no aircraft-rotation features.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69713"/>
            <a:ext cx="18288000" cy="2203704"/>
            <a:chOff x="0" y="0"/>
            <a:chExt cx="24384000" cy="2938272"/>
          </a:xfrm>
        </p:grpSpPr>
        <p:sp>
          <p:nvSpPr>
            <p:cNvPr id="3" name="Freeform 3"/>
            <p:cNvSpPr/>
            <p:nvPr/>
          </p:nvSpPr>
          <p:spPr>
            <a:xfrm>
              <a:off x="0" y="0"/>
              <a:ext cx="24384000" cy="2938272"/>
            </a:xfrm>
            <a:custGeom>
              <a:avLst/>
              <a:gdLst/>
              <a:ahLst/>
              <a:cxnLst/>
              <a:rect l="l" t="t" r="r" b="b"/>
              <a:pathLst>
                <a:path w="24384000" h="2938272">
                  <a:moveTo>
                    <a:pt x="0" y="0"/>
                  </a:moveTo>
                  <a:lnTo>
                    <a:pt x="24384000" y="0"/>
                  </a:lnTo>
                  <a:lnTo>
                    <a:pt x="24384000" y="2938272"/>
                  </a:lnTo>
                  <a:lnTo>
                    <a:pt x="0" y="2938272"/>
                  </a:lnTo>
                  <a:close/>
                </a:path>
              </a:pathLst>
            </a:custGeom>
            <a:solidFill>
              <a:srgbClr val="355688"/>
            </a:solidFill>
          </p:spPr>
          <p:txBody>
            <a:bodyPr/>
            <a:lstStyle/>
            <a:p>
              <a:endParaRPr lang="en-US"/>
            </a:p>
          </p:txBody>
        </p:sp>
      </p:grpSp>
      <p:grpSp>
        <p:nvGrpSpPr>
          <p:cNvPr id="4" name="Group 4"/>
          <p:cNvGrpSpPr/>
          <p:nvPr/>
        </p:nvGrpSpPr>
        <p:grpSpPr>
          <a:xfrm>
            <a:off x="1024128" y="566928"/>
            <a:ext cx="16230600" cy="1005840"/>
            <a:chOff x="0" y="0"/>
            <a:chExt cx="21640800" cy="1341120"/>
          </a:xfrm>
        </p:grpSpPr>
        <p:sp>
          <p:nvSpPr>
            <p:cNvPr id="5" name="Freeform 5"/>
            <p:cNvSpPr/>
            <p:nvPr/>
          </p:nvSpPr>
          <p:spPr>
            <a:xfrm>
              <a:off x="0" y="0"/>
              <a:ext cx="21640800" cy="1341120"/>
            </a:xfrm>
            <a:custGeom>
              <a:avLst/>
              <a:gdLst/>
              <a:ahLst/>
              <a:cxnLst/>
              <a:rect l="l" t="t" r="r" b="b"/>
              <a:pathLst>
                <a:path w="21640800" h="1341120">
                  <a:moveTo>
                    <a:pt x="0" y="0"/>
                  </a:moveTo>
                  <a:lnTo>
                    <a:pt x="21640800" y="0"/>
                  </a:lnTo>
                  <a:lnTo>
                    <a:pt x="21640800" y="1341120"/>
                  </a:lnTo>
                  <a:lnTo>
                    <a:pt x="0" y="1341120"/>
                  </a:lnTo>
                  <a:close/>
                </a:path>
              </a:pathLst>
            </a:custGeom>
            <a:blipFill>
              <a:blip r:embed="rId3">
                <a:alphaModFix amt="0"/>
              </a:blip>
              <a:stretch>
                <a:fillRect t="-264417" b="-264417"/>
              </a:stretch>
            </a:blipFill>
          </p:spPr>
          <p:txBody>
            <a:bodyPr/>
            <a:lstStyle/>
            <a:p>
              <a:endParaRPr lang="en-US"/>
            </a:p>
          </p:txBody>
        </p:sp>
        <p:sp>
          <p:nvSpPr>
            <p:cNvPr id="6" name="TextBox 6"/>
            <p:cNvSpPr txBox="1"/>
            <p:nvPr/>
          </p:nvSpPr>
          <p:spPr>
            <a:xfrm>
              <a:off x="0" y="-76200"/>
              <a:ext cx="21640800" cy="1417320"/>
            </a:xfrm>
            <a:prstGeom prst="rect">
              <a:avLst/>
            </a:prstGeom>
          </p:spPr>
          <p:txBody>
            <a:bodyPr lIns="0" tIns="0" rIns="0" bIns="0" rtlCol="0" anchor="ctr"/>
            <a:lstStyle/>
            <a:p>
              <a:pPr algn="ctr">
                <a:lnSpc>
                  <a:spcPts val="7200"/>
                </a:lnSpc>
              </a:pPr>
              <a:r>
                <a:rPr lang="en-US" sz="6000" b="1">
                  <a:solidFill>
                    <a:srgbClr val="F3F4F7"/>
                  </a:solidFill>
                  <a:latin typeface="Telegraf Bold"/>
                  <a:ea typeface="Telegraf Bold"/>
                  <a:cs typeface="Telegraf Bold"/>
                  <a:sym typeface="Telegraf Bold"/>
                </a:rPr>
                <a:t>Conclusion &amp; Future Work</a:t>
              </a:r>
            </a:p>
          </p:txBody>
        </p:sp>
      </p:grpSp>
      <p:grpSp>
        <p:nvGrpSpPr>
          <p:cNvPr id="7" name="Group 7"/>
          <p:cNvGrpSpPr/>
          <p:nvPr/>
        </p:nvGrpSpPr>
        <p:grpSpPr>
          <a:xfrm>
            <a:off x="1024128" y="2514600"/>
            <a:ext cx="7863840" cy="2377440"/>
            <a:chOff x="0" y="0"/>
            <a:chExt cx="10485120" cy="3169920"/>
          </a:xfrm>
        </p:grpSpPr>
        <p:sp>
          <p:nvSpPr>
            <p:cNvPr id="8" name="Freeform 8"/>
            <p:cNvSpPr/>
            <p:nvPr/>
          </p:nvSpPr>
          <p:spPr>
            <a:xfrm>
              <a:off x="0" y="0"/>
              <a:ext cx="10485120" cy="3169920"/>
            </a:xfrm>
            <a:custGeom>
              <a:avLst/>
              <a:gdLst/>
              <a:ahLst/>
              <a:cxnLst/>
              <a:rect l="l" t="t" r="r" b="b"/>
              <a:pathLst>
                <a:path w="10485120" h="3169920">
                  <a:moveTo>
                    <a:pt x="0" y="190246"/>
                  </a:moveTo>
                  <a:cubicBezTo>
                    <a:pt x="0" y="85090"/>
                    <a:pt x="85090" y="0"/>
                    <a:pt x="190246" y="0"/>
                  </a:cubicBezTo>
                  <a:lnTo>
                    <a:pt x="10294874" y="0"/>
                  </a:lnTo>
                  <a:cubicBezTo>
                    <a:pt x="10399903" y="0"/>
                    <a:pt x="10485120" y="85090"/>
                    <a:pt x="10485120" y="190246"/>
                  </a:cubicBezTo>
                  <a:lnTo>
                    <a:pt x="10485120" y="2979674"/>
                  </a:lnTo>
                  <a:cubicBezTo>
                    <a:pt x="10485120" y="3084703"/>
                    <a:pt x="10400030" y="3169920"/>
                    <a:pt x="10294874" y="3169920"/>
                  </a:cubicBezTo>
                  <a:lnTo>
                    <a:pt x="190246" y="3169920"/>
                  </a:lnTo>
                  <a:cubicBezTo>
                    <a:pt x="85090" y="3169920"/>
                    <a:pt x="0" y="3084830"/>
                    <a:pt x="0" y="2979674"/>
                  </a:cubicBezTo>
                  <a:close/>
                </a:path>
              </a:pathLst>
            </a:custGeom>
            <a:solidFill>
              <a:srgbClr val="F3F4F7"/>
            </a:solidFill>
          </p:spPr>
          <p:txBody>
            <a:bodyPr/>
            <a:lstStyle/>
            <a:p>
              <a:endParaRPr lang="en-US"/>
            </a:p>
          </p:txBody>
        </p:sp>
      </p:grpSp>
      <p:sp>
        <p:nvSpPr>
          <p:cNvPr id="9" name="TextBox 9"/>
          <p:cNvSpPr txBox="1"/>
          <p:nvPr/>
        </p:nvSpPr>
        <p:spPr>
          <a:xfrm>
            <a:off x="1344168" y="2659380"/>
            <a:ext cx="7223760" cy="2141220"/>
          </a:xfrm>
          <a:prstGeom prst="rect">
            <a:avLst/>
          </a:prstGeom>
        </p:spPr>
        <p:txBody>
          <a:bodyPr lIns="0" tIns="0" rIns="0" bIns="0" rtlCol="0" anchor="t">
            <a:spAutoFit/>
          </a:bodyPr>
          <a:lstStyle/>
          <a:p>
            <a:pPr algn="l">
              <a:lnSpc>
                <a:spcPts val="3359"/>
              </a:lnSpc>
            </a:pPr>
            <a:r>
              <a:rPr lang="en-US" sz="2799" b="1">
                <a:solidFill>
                  <a:srgbClr val="355688"/>
                </a:solidFill>
                <a:latin typeface="Telegraf Bold"/>
                <a:ea typeface="Telegraf Bold"/>
                <a:cs typeface="Telegraf Bold"/>
                <a:sym typeface="Telegraf Bold"/>
              </a:rPr>
              <a:t>Conclusion</a:t>
            </a:r>
          </a:p>
          <a:p>
            <a:pPr algn="l">
              <a:lnSpc>
                <a:spcPts val="2520"/>
              </a:lnSpc>
            </a:pPr>
            <a:r>
              <a:rPr lang="en-US" sz="2100">
                <a:solidFill>
                  <a:srgbClr val="2F2A24"/>
                </a:solidFill>
                <a:latin typeface="Telegraf"/>
                <a:ea typeface="Telegraf"/>
                <a:cs typeface="Telegraf"/>
                <a:sym typeface="Telegraf"/>
              </a:rPr>
              <a:t>We can flag risky flights a day ahead using only schedules and past outcomes, with no leakage. Logistic Regression is our final model: as good as XGBoost here, and simpler to explain.</a:t>
            </a:r>
          </a:p>
        </p:txBody>
      </p:sp>
      <p:sp>
        <p:nvSpPr>
          <p:cNvPr id="10" name="TextBox 10"/>
          <p:cNvSpPr txBox="1"/>
          <p:nvPr/>
        </p:nvSpPr>
        <p:spPr>
          <a:xfrm>
            <a:off x="1024128" y="5082540"/>
            <a:ext cx="7863840" cy="495300"/>
          </a:xfrm>
          <a:prstGeom prst="rect">
            <a:avLst/>
          </a:prstGeom>
        </p:spPr>
        <p:txBody>
          <a:bodyPr lIns="0" tIns="0" rIns="0" bIns="0" rtlCol="0" anchor="t">
            <a:spAutoFit/>
          </a:bodyPr>
          <a:lstStyle/>
          <a:p>
            <a:pPr algn="l">
              <a:lnSpc>
                <a:spcPts val="3120"/>
              </a:lnSpc>
            </a:pPr>
            <a:r>
              <a:rPr lang="en-US" sz="2600" b="1">
                <a:solidFill>
                  <a:srgbClr val="355688"/>
                </a:solidFill>
                <a:latin typeface="Telegraf Bold"/>
                <a:ea typeface="Telegraf Bold"/>
                <a:cs typeface="Telegraf Bold"/>
                <a:sym typeface="Telegraf Bold"/>
              </a:rPr>
              <a:t>Future work</a:t>
            </a:r>
          </a:p>
        </p:txBody>
      </p:sp>
      <p:grpSp>
        <p:nvGrpSpPr>
          <p:cNvPr id="11" name="Group 11"/>
          <p:cNvGrpSpPr/>
          <p:nvPr/>
        </p:nvGrpSpPr>
        <p:grpSpPr>
          <a:xfrm>
            <a:off x="1024128" y="5760720"/>
            <a:ext cx="7863840" cy="1920240"/>
            <a:chOff x="0" y="0"/>
            <a:chExt cx="10485120" cy="2560320"/>
          </a:xfrm>
        </p:grpSpPr>
        <p:sp>
          <p:nvSpPr>
            <p:cNvPr id="12" name="Freeform 12"/>
            <p:cNvSpPr/>
            <p:nvPr/>
          </p:nvSpPr>
          <p:spPr>
            <a:xfrm>
              <a:off x="0" y="0"/>
              <a:ext cx="10485120" cy="2560320"/>
            </a:xfrm>
            <a:custGeom>
              <a:avLst/>
              <a:gdLst/>
              <a:ahLst/>
              <a:cxnLst/>
              <a:rect l="l" t="t" r="r" b="b"/>
              <a:pathLst>
                <a:path w="10485120" h="2560320">
                  <a:moveTo>
                    <a:pt x="0" y="204851"/>
                  </a:moveTo>
                  <a:cubicBezTo>
                    <a:pt x="0" y="91694"/>
                    <a:pt x="91694" y="0"/>
                    <a:pt x="204851" y="0"/>
                  </a:cubicBezTo>
                  <a:lnTo>
                    <a:pt x="10280269" y="0"/>
                  </a:lnTo>
                  <a:cubicBezTo>
                    <a:pt x="10393425" y="0"/>
                    <a:pt x="10485120" y="91694"/>
                    <a:pt x="10485120" y="204851"/>
                  </a:cubicBezTo>
                  <a:lnTo>
                    <a:pt x="10485120" y="2355469"/>
                  </a:lnTo>
                  <a:cubicBezTo>
                    <a:pt x="10485120" y="2468626"/>
                    <a:pt x="10393425" y="2560320"/>
                    <a:pt x="10280269" y="2560320"/>
                  </a:cubicBezTo>
                  <a:lnTo>
                    <a:pt x="204851" y="2560320"/>
                  </a:lnTo>
                  <a:cubicBezTo>
                    <a:pt x="91694" y="2560320"/>
                    <a:pt x="0" y="2468626"/>
                    <a:pt x="0" y="2355469"/>
                  </a:cubicBezTo>
                  <a:close/>
                </a:path>
              </a:pathLst>
            </a:custGeom>
            <a:solidFill>
              <a:srgbClr val="355688"/>
            </a:solidFill>
          </p:spPr>
          <p:txBody>
            <a:bodyPr/>
            <a:lstStyle/>
            <a:p>
              <a:endParaRPr lang="en-US"/>
            </a:p>
          </p:txBody>
        </p:sp>
      </p:grpSp>
      <p:grpSp>
        <p:nvGrpSpPr>
          <p:cNvPr id="13" name="Group 13"/>
          <p:cNvGrpSpPr/>
          <p:nvPr/>
        </p:nvGrpSpPr>
        <p:grpSpPr>
          <a:xfrm>
            <a:off x="1280160" y="6281928"/>
            <a:ext cx="868680" cy="868680"/>
            <a:chOff x="0" y="0"/>
            <a:chExt cx="1158240" cy="1158240"/>
          </a:xfrm>
        </p:grpSpPr>
        <p:sp>
          <p:nvSpPr>
            <p:cNvPr id="14" name="Freeform 14"/>
            <p:cNvSpPr/>
            <p:nvPr/>
          </p:nvSpPr>
          <p:spPr>
            <a:xfrm>
              <a:off x="0" y="0"/>
              <a:ext cx="1158240" cy="1158240"/>
            </a:xfrm>
            <a:custGeom>
              <a:avLst/>
              <a:gdLst/>
              <a:ahLst/>
              <a:cxnLst/>
              <a:rect l="l" t="t" r="r" b="b"/>
              <a:pathLst>
                <a:path w="1158240" h="1158240">
                  <a:moveTo>
                    <a:pt x="0" y="579120"/>
                  </a:moveTo>
                  <a:cubicBezTo>
                    <a:pt x="0" y="259334"/>
                    <a:pt x="259334" y="0"/>
                    <a:pt x="579120" y="0"/>
                  </a:cubicBezTo>
                  <a:cubicBezTo>
                    <a:pt x="898906" y="0"/>
                    <a:pt x="1158240" y="259334"/>
                    <a:pt x="1158240" y="579120"/>
                  </a:cubicBezTo>
                  <a:cubicBezTo>
                    <a:pt x="1158240" y="898906"/>
                    <a:pt x="898906" y="1158240"/>
                    <a:pt x="579120" y="1158240"/>
                  </a:cubicBezTo>
                  <a:cubicBezTo>
                    <a:pt x="259334" y="1158240"/>
                    <a:pt x="0" y="898906"/>
                    <a:pt x="0" y="579120"/>
                  </a:cubicBezTo>
                  <a:close/>
                </a:path>
              </a:pathLst>
            </a:custGeom>
            <a:solidFill>
              <a:srgbClr val="FFFFFF"/>
            </a:solidFill>
          </p:spPr>
          <p:txBody>
            <a:bodyPr/>
            <a:lstStyle/>
            <a:p>
              <a:endParaRPr lang="en-US"/>
            </a:p>
          </p:txBody>
        </p:sp>
        <p:sp>
          <p:nvSpPr>
            <p:cNvPr id="15" name="TextBox 15"/>
            <p:cNvSpPr txBox="1"/>
            <p:nvPr/>
          </p:nvSpPr>
          <p:spPr>
            <a:xfrm>
              <a:off x="0" y="-38100"/>
              <a:ext cx="1158240" cy="1196340"/>
            </a:xfrm>
            <a:prstGeom prst="rect">
              <a:avLst/>
            </a:prstGeom>
          </p:spPr>
          <p:txBody>
            <a:bodyPr lIns="50800" tIns="50800" rIns="50800" bIns="50800" rtlCol="0" anchor="ctr"/>
            <a:lstStyle/>
            <a:p>
              <a:pPr algn="ctr">
                <a:lnSpc>
                  <a:spcPts val="3120"/>
                </a:lnSpc>
              </a:pPr>
              <a:r>
                <a:rPr lang="en-US" sz="2600" b="1">
                  <a:solidFill>
                    <a:srgbClr val="355688"/>
                  </a:solidFill>
                  <a:latin typeface="Telegraf Bold"/>
                  <a:ea typeface="Telegraf Bold"/>
                  <a:cs typeface="Telegraf Bold"/>
                  <a:sym typeface="Telegraf Bold"/>
                </a:rPr>
                <a:t>1</a:t>
              </a:r>
            </a:p>
          </p:txBody>
        </p:sp>
      </p:grpSp>
      <p:grpSp>
        <p:nvGrpSpPr>
          <p:cNvPr id="16" name="Group 16"/>
          <p:cNvGrpSpPr/>
          <p:nvPr/>
        </p:nvGrpSpPr>
        <p:grpSpPr>
          <a:xfrm>
            <a:off x="2377440" y="5897880"/>
            <a:ext cx="6263640" cy="1645920"/>
            <a:chOff x="0" y="0"/>
            <a:chExt cx="8351520" cy="2194560"/>
          </a:xfrm>
        </p:grpSpPr>
        <p:sp>
          <p:nvSpPr>
            <p:cNvPr id="17" name="Freeform 17"/>
            <p:cNvSpPr/>
            <p:nvPr/>
          </p:nvSpPr>
          <p:spPr>
            <a:xfrm>
              <a:off x="0" y="0"/>
              <a:ext cx="8351520" cy="2194560"/>
            </a:xfrm>
            <a:custGeom>
              <a:avLst/>
              <a:gdLst/>
              <a:ahLst/>
              <a:cxnLst/>
              <a:rect l="l" t="t" r="r" b="b"/>
              <a:pathLst>
                <a:path w="8351520" h="2194560">
                  <a:moveTo>
                    <a:pt x="0" y="0"/>
                  </a:moveTo>
                  <a:lnTo>
                    <a:pt x="8351520" y="0"/>
                  </a:lnTo>
                  <a:lnTo>
                    <a:pt x="8351520" y="2194560"/>
                  </a:lnTo>
                  <a:lnTo>
                    <a:pt x="0" y="2194560"/>
                  </a:lnTo>
                  <a:close/>
                </a:path>
              </a:pathLst>
            </a:custGeom>
            <a:blipFill>
              <a:blip r:embed="rId3">
                <a:alphaModFix amt="0"/>
              </a:blip>
              <a:stretch>
                <a:fillRect t="-24151" b="-24151"/>
              </a:stretch>
            </a:blipFill>
          </p:spPr>
          <p:txBody>
            <a:bodyPr/>
            <a:lstStyle/>
            <a:p>
              <a:endParaRPr lang="en-US"/>
            </a:p>
          </p:txBody>
        </p:sp>
        <p:sp>
          <p:nvSpPr>
            <p:cNvPr id="18" name="TextBox 18"/>
            <p:cNvSpPr txBox="1"/>
            <p:nvPr/>
          </p:nvSpPr>
          <p:spPr>
            <a:xfrm>
              <a:off x="0" y="-38100"/>
              <a:ext cx="8351520" cy="2232660"/>
            </a:xfrm>
            <a:prstGeom prst="rect">
              <a:avLst/>
            </a:prstGeom>
          </p:spPr>
          <p:txBody>
            <a:bodyPr lIns="0" tIns="0" rIns="0" bIns="0" rtlCol="0" anchor="ctr"/>
            <a:lstStyle/>
            <a:p>
              <a:pPr algn="l">
                <a:lnSpc>
                  <a:spcPts val="2520"/>
                </a:lnSpc>
              </a:pPr>
              <a:r>
                <a:rPr lang="en-US" sz="2100" b="1">
                  <a:solidFill>
                    <a:srgbClr val="FFFFFF"/>
                  </a:solidFill>
                  <a:latin typeface="Telegraf Bold"/>
                  <a:ea typeface="Telegraf Bold"/>
                  <a:cs typeface="Telegraf Bold"/>
                  <a:sym typeface="Telegraf Bold"/>
                </a:rPr>
                <a:t>Deep learning: an MLP with embeddings</a:t>
              </a:r>
            </a:p>
            <a:p>
              <a:pPr algn="l">
                <a:lnSpc>
                  <a:spcPts val="2040"/>
                </a:lnSpc>
              </a:pPr>
              <a:r>
                <a:rPr lang="en-US" sz="1700">
                  <a:solidFill>
                    <a:srgbClr val="FFFFFF"/>
                  </a:solidFill>
                  <a:latin typeface="Telegraf"/>
                  <a:ea typeface="Telegraf"/>
                  <a:cs typeface="Telegraf"/>
                  <a:sym typeface="Telegraf"/>
                </a:rPr>
                <a:t>Phase 2 DL model: learn airline, origin and destination embeddings to capture interactions our hand-made features miss.</a:t>
              </a:r>
            </a:p>
          </p:txBody>
        </p:sp>
      </p:grpSp>
      <p:grpSp>
        <p:nvGrpSpPr>
          <p:cNvPr id="19" name="Group 19"/>
          <p:cNvGrpSpPr/>
          <p:nvPr/>
        </p:nvGrpSpPr>
        <p:grpSpPr>
          <a:xfrm>
            <a:off x="1024128" y="7863840"/>
            <a:ext cx="7863840" cy="1920240"/>
            <a:chOff x="0" y="0"/>
            <a:chExt cx="10485120" cy="2560320"/>
          </a:xfrm>
        </p:grpSpPr>
        <p:sp>
          <p:nvSpPr>
            <p:cNvPr id="20" name="Freeform 20"/>
            <p:cNvSpPr/>
            <p:nvPr/>
          </p:nvSpPr>
          <p:spPr>
            <a:xfrm>
              <a:off x="0" y="0"/>
              <a:ext cx="10485120" cy="2560320"/>
            </a:xfrm>
            <a:custGeom>
              <a:avLst/>
              <a:gdLst/>
              <a:ahLst/>
              <a:cxnLst/>
              <a:rect l="l" t="t" r="r" b="b"/>
              <a:pathLst>
                <a:path w="10485120" h="2560320">
                  <a:moveTo>
                    <a:pt x="0" y="204851"/>
                  </a:moveTo>
                  <a:cubicBezTo>
                    <a:pt x="0" y="91694"/>
                    <a:pt x="91694" y="0"/>
                    <a:pt x="204851" y="0"/>
                  </a:cubicBezTo>
                  <a:lnTo>
                    <a:pt x="10280269" y="0"/>
                  </a:lnTo>
                  <a:cubicBezTo>
                    <a:pt x="10393425" y="0"/>
                    <a:pt x="10485120" y="91694"/>
                    <a:pt x="10485120" y="204851"/>
                  </a:cubicBezTo>
                  <a:lnTo>
                    <a:pt x="10485120" y="2355469"/>
                  </a:lnTo>
                  <a:cubicBezTo>
                    <a:pt x="10485120" y="2468626"/>
                    <a:pt x="10393425" y="2560320"/>
                    <a:pt x="10280269" y="2560320"/>
                  </a:cubicBezTo>
                  <a:lnTo>
                    <a:pt x="204851" y="2560320"/>
                  </a:lnTo>
                  <a:cubicBezTo>
                    <a:pt x="91694" y="2560320"/>
                    <a:pt x="0" y="2468626"/>
                    <a:pt x="0" y="2355469"/>
                  </a:cubicBezTo>
                  <a:close/>
                </a:path>
              </a:pathLst>
            </a:custGeom>
            <a:solidFill>
              <a:srgbClr val="071125"/>
            </a:solidFill>
          </p:spPr>
          <p:txBody>
            <a:bodyPr/>
            <a:lstStyle/>
            <a:p>
              <a:endParaRPr lang="en-US"/>
            </a:p>
          </p:txBody>
        </p:sp>
      </p:grpSp>
      <p:grpSp>
        <p:nvGrpSpPr>
          <p:cNvPr id="21" name="Group 21"/>
          <p:cNvGrpSpPr/>
          <p:nvPr/>
        </p:nvGrpSpPr>
        <p:grpSpPr>
          <a:xfrm>
            <a:off x="1280160" y="8385048"/>
            <a:ext cx="868680" cy="868680"/>
            <a:chOff x="0" y="0"/>
            <a:chExt cx="1158240" cy="1158240"/>
          </a:xfrm>
        </p:grpSpPr>
        <p:sp>
          <p:nvSpPr>
            <p:cNvPr id="22" name="Freeform 22"/>
            <p:cNvSpPr/>
            <p:nvPr/>
          </p:nvSpPr>
          <p:spPr>
            <a:xfrm>
              <a:off x="0" y="0"/>
              <a:ext cx="1158240" cy="1158240"/>
            </a:xfrm>
            <a:custGeom>
              <a:avLst/>
              <a:gdLst/>
              <a:ahLst/>
              <a:cxnLst/>
              <a:rect l="l" t="t" r="r" b="b"/>
              <a:pathLst>
                <a:path w="1158240" h="1158240">
                  <a:moveTo>
                    <a:pt x="0" y="579120"/>
                  </a:moveTo>
                  <a:cubicBezTo>
                    <a:pt x="0" y="259334"/>
                    <a:pt x="259334" y="0"/>
                    <a:pt x="579120" y="0"/>
                  </a:cubicBezTo>
                  <a:cubicBezTo>
                    <a:pt x="898906" y="0"/>
                    <a:pt x="1158240" y="259334"/>
                    <a:pt x="1158240" y="579120"/>
                  </a:cubicBezTo>
                  <a:cubicBezTo>
                    <a:pt x="1158240" y="898906"/>
                    <a:pt x="898906" y="1158240"/>
                    <a:pt x="579120" y="1158240"/>
                  </a:cubicBezTo>
                  <a:cubicBezTo>
                    <a:pt x="259334" y="1158240"/>
                    <a:pt x="0" y="898906"/>
                    <a:pt x="0" y="579120"/>
                  </a:cubicBezTo>
                  <a:close/>
                </a:path>
              </a:pathLst>
            </a:custGeom>
            <a:solidFill>
              <a:srgbClr val="FFFFFF"/>
            </a:solidFill>
          </p:spPr>
          <p:txBody>
            <a:bodyPr/>
            <a:lstStyle/>
            <a:p>
              <a:endParaRPr lang="en-US"/>
            </a:p>
          </p:txBody>
        </p:sp>
        <p:sp>
          <p:nvSpPr>
            <p:cNvPr id="23" name="TextBox 23"/>
            <p:cNvSpPr txBox="1"/>
            <p:nvPr/>
          </p:nvSpPr>
          <p:spPr>
            <a:xfrm>
              <a:off x="0" y="-38100"/>
              <a:ext cx="1158240" cy="1196340"/>
            </a:xfrm>
            <a:prstGeom prst="rect">
              <a:avLst/>
            </a:prstGeom>
          </p:spPr>
          <p:txBody>
            <a:bodyPr lIns="50800" tIns="50800" rIns="50800" bIns="50800" rtlCol="0" anchor="ctr"/>
            <a:lstStyle/>
            <a:p>
              <a:pPr algn="ctr">
                <a:lnSpc>
                  <a:spcPts val="3120"/>
                </a:lnSpc>
              </a:pPr>
              <a:r>
                <a:rPr lang="en-US" sz="2600" b="1">
                  <a:solidFill>
                    <a:srgbClr val="071125"/>
                  </a:solidFill>
                  <a:latin typeface="Telegraf Bold"/>
                  <a:ea typeface="Telegraf Bold"/>
                  <a:cs typeface="Telegraf Bold"/>
                  <a:sym typeface="Telegraf Bold"/>
                </a:rPr>
                <a:t>2</a:t>
              </a:r>
            </a:p>
          </p:txBody>
        </p:sp>
      </p:grpSp>
      <p:grpSp>
        <p:nvGrpSpPr>
          <p:cNvPr id="24" name="Group 24"/>
          <p:cNvGrpSpPr/>
          <p:nvPr/>
        </p:nvGrpSpPr>
        <p:grpSpPr>
          <a:xfrm>
            <a:off x="2377440" y="8001000"/>
            <a:ext cx="6263640" cy="1645920"/>
            <a:chOff x="0" y="0"/>
            <a:chExt cx="8351520" cy="2194560"/>
          </a:xfrm>
        </p:grpSpPr>
        <p:sp>
          <p:nvSpPr>
            <p:cNvPr id="25" name="Freeform 25"/>
            <p:cNvSpPr/>
            <p:nvPr/>
          </p:nvSpPr>
          <p:spPr>
            <a:xfrm>
              <a:off x="0" y="0"/>
              <a:ext cx="8351520" cy="2194560"/>
            </a:xfrm>
            <a:custGeom>
              <a:avLst/>
              <a:gdLst/>
              <a:ahLst/>
              <a:cxnLst/>
              <a:rect l="l" t="t" r="r" b="b"/>
              <a:pathLst>
                <a:path w="8351520" h="2194560">
                  <a:moveTo>
                    <a:pt x="0" y="0"/>
                  </a:moveTo>
                  <a:lnTo>
                    <a:pt x="8351520" y="0"/>
                  </a:lnTo>
                  <a:lnTo>
                    <a:pt x="8351520" y="2194560"/>
                  </a:lnTo>
                  <a:lnTo>
                    <a:pt x="0" y="2194560"/>
                  </a:lnTo>
                  <a:close/>
                </a:path>
              </a:pathLst>
            </a:custGeom>
            <a:blipFill>
              <a:blip r:embed="rId3">
                <a:alphaModFix amt="0"/>
              </a:blip>
              <a:stretch>
                <a:fillRect t="-24151" b="-24151"/>
              </a:stretch>
            </a:blipFill>
          </p:spPr>
          <p:txBody>
            <a:bodyPr/>
            <a:lstStyle/>
            <a:p>
              <a:endParaRPr lang="en-US"/>
            </a:p>
          </p:txBody>
        </p:sp>
        <p:sp>
          <p:nvSpPr>
            <p:cNvPr id="26" name="TextBox 26"/>
            <p:cNvSpPr txBox="1"/>
            <p:nvPr/>
          </p:nvSpPr>
          <p:spPr>
            <a:xfrm>
              <a:off x="0" y="-38100"/>
              <a:ext cx="8351520" cy="2232660"/>
            </a:xfrm>
            <a:prstGeom prst="rect">
              <a:avLst/>
            </a:prstGeom>
          </p:spPr>
          <p:txBody>
            <a:bodyPr lIns="0" tIns="0" rIns="0" bIns="0" rtlCol="0" anchor="ctr"/>
            <a:lstStyle/>
            <a:p>
              <a:pPr algn="l">
                <a:lnSpc>
                  <a:spcPts val="2520"/>
                </a:lnSpc>
              </a:pPr>
              <a:r>
                <a:rPr lang="en-US" sz="2100" b="1">
                  <a:solidFill>
                    <a:srgbClr val="FFFFFF"/>
                  </a:solidFill>
                  <a:latin typeface="Telegraf Bold"/>
                  <a:ea typeface="Telegraf Bold"/>
                  <a:cs typeface="Telegraf Bold"/>
                  <a:sym typeface="Telegraf Bold"/>
                </a:rPr>
                <a:t>What-if rescheduling simulation</a:t>
              </a:r>
            </a:p>
            <a:p>
              <a:pPr algn="l">
                <a:lnSpc>
                  <a:spcPts val="2040"/>
                </a:lnSpc>
              </a:pPr>
              <a:r>
                <a:rPr lang="en-US" sz="1700">
                  <a:solidFill>
                    <a:srgbClr val="FFFFFF"/>
                  </a:solidFill>
                  <a:latin typeface="Telegraf"/>
                  <a:ea typeface="Telegraf"/>
                  <a:cs typeface="Telegraf"/>
                  <a:sym typeface="Telegraf"/>
                </a:rPr>
                <a:t>Try feasible alternative schedules for high-risk flights and estimate how much delay they would save.</a:t>
              </a:r>
            </a:p>
          </p:txBody>
        </p:sp>
      </p:grpSp>
      <p:grpSp>
        <p:nvGrpSpPr>
          <p:cNvPr id="27" name="Group 27"/>
          <p:cNvGrpSpPr/>
          <p:nvPr/>
        </p:nvGrpSpPr>
        <p:grpSpPr>
          <a:xfrm>
            <a:off x="9390888" y="2514600"/>
            <a:ext cx="7863840" cy="7452360"/>
            <a:chOff x="0" y="0"/>
            <a:chExt cx="10485120" cy="9936480"/>
          </a:xfrm>
        </p:grpSpPr>
        <p:sp>
          <p:nvSpPr>
            <p:cNvPr id="28" name="Freeform 28"/>
            <p:cNvSpPr/>
            <p:nvPr/>
          </p:nvSpPr>
          <p:spPr>
            <a:xfrm>
              <a:off x="0" y="0"/>
              <a:ext cx="10485120" cy="9936480"/>
            </a:xfrm>
            <a:custGeom>
              <a:avLst/>
              <a:gdLst/>
              <a:ahLst/>
              <a:cxnLst/>
              <a:rect l="l" t="t" r="r" b="b"/>
              <a:pathLst>
                <a:path w="10485120" h="9936480">
                  <a:moveTo>
                    <a:pt x="0" y="397510"/>
                  </a:moveTo>
                  <a:cubicBezTo>
                    <a:pt x="0" y="177927"/>
                    <a:pt x="177927" y="0"/>
                    <a:pt x="397510" y="0"/>
                  </a:cubicBezTo>
                  <a:lnTo>
                    <a:pt x="10087610" y="0"/>
                  </a:lnTo>
                  <a:cubicBezTo>
                    <a:pt x="10307066" y="0"/>
                    <a:pt x="10485120" y="177927"/>
                    <a:pt x="10485120" y="397510"/>
                  </a:cubicBezTo>
                  <a:lnTo>
                    <a:pt x="10485120" y="9538970"/>
                  </a:lnTo>
                  <a:cubicBezTo>
                    <a:pt x="10485120" y="9758426"/>
                    <a:pt x="10307193" y="9936480"/>
                    <a:pt x="10087610" y="9936480"/>
                  </a:cubicBezTo>
                  <a:lnTo>
                    <a:pt x="397510" y="9936480"/>
                  </a:lnTo>
                  <a:cubicBezTo>
                    <a:pt x="177927" y="9936480"/>
                    <a:pt x="0" y="9758553"/>
                    <a:pt x="0" y="9538970"/>
                  </a:cubicBezTo>
                  <a:close/>
                </a:path>
              </a:pathLst>
            </a:custGeom>
            <a:solidFill>
              <a:srgbClr val="F3F4F7"/>
            </a:solidFill>
          </p:spPr>
          <p:txBody>
            <a:bodyPr/>
            <a:lstStyle/>
            <a:p>
              <a:endParaRPr lang="en-US"/>
            </a:p>
          </p:txBody>
        </p:sp>
      </p:grpSp>
      <p:sp>
        <p:nvSpPr>
          <p:cNvPr id="29" name="TextBox 29"/>
          <p:cNvSpPr txBox="1"/>
          <p:nvPr/>
        </p:nvSpPr>
        <p:spPr>
          <a:xfrm>
            <a:off x="9692640" y="2668143"/>
            <a:ext cx="7269480" cy="4314825"/>
          </a:xfrm>
          <a:prstGeom prst="rect">
            <a:avLst/>
          </a:prstGeom>
        </p:spPr>
        <p:txBody>
          <a:bodyPr lIns="0" tIns="0" rIns="0" bIns="0" rtlCol="0" anchor="t">
            <a:spAutoFit/>
          </a:bodyPr>
          <a:lstStyle/>
          <a:p>
            <a:pPr algn="l">
              <a:lnSpc>
                <a:spcPts val="3600"/>
              </a:lnSpc>
            </a:pPr>
            <a:r>
              <a:rPr lang="en-US" sz="3000" b="1">
                <a:solidFill>
                  <a:srgbClr val="355688"/>
                </a:solidFill>
                <a:latin typeface="Telegraf Bold"/>
                <a:ea typeface="Telegraf Bold"/>
                <a:cs typeface="Telegraf Bold"/>
                <a:sym typeface="Telegraf Bold"/>
              </a:rPr>
              <a:t>References</a:t>
            </a:r>
          </a:p>
          <a:p>
            <a:pPr algn="l">
              <a:lnSpc>
                <a:spcPts val="2400"/>
              </a:lnSpc>
            </a:pPr>
            <a:r>
              <a:rPr lang="en-US" sz="2000" b="1">
                <a:solidFill>
                  <a:srgbClr val="355688"/>
                </a:solidFill>
                <a:latin typeface="Telegraf Bold"/>
                <a:ea typeface="Telegraf Bold"/>
                <a:cs typeface="Telegraf Bold"/>
                <a:sym typeface="Telegraf Bold"/>
              </a:rPr>
              <a:t>[1] </a:t>
            </a:r>
            <a:r>
              <a:rPr lang="en-US" sz="2000">
                <a:solidFill>
                  <a:srgbClr val="2F2A24"/>
                </a:solidFill>
                <a:latin typeface="Telegraf"/>
                <a:ea typeface="Telegraf"/>
                <a:cs typeface="Telegraf"/>
                <a:sym typeface="Telegraf"/>
              </a:rPr>
              <a:t>S. Kaufman, S. Rosset, C. Perlich, O. Stitelman, “Leakage in Data Mining: Formulation, Detection, and Avoidance,” ACM Trans. Knowledge Discovery from Data, vol. 6, no. 4, 2012.</a:t>
            </a:r>
          </a:p>
          <a:p>
            <a:pPr algn="l">
              <a:lnSpc>
                <a:spcPts val="2160"/>
              </a:lnSpc>
            </a:pPr>
            <a:r>
              <a:rPr lang="en-US" sz="1800" u="sng">
                <a:solidFill>
                  <a:srgbClr val="0000FF"/>
                </a:solidFill>
                <a:latin typeface="Telegraf"/>
                <a:ea typeface="Telegraf"/>
                <a:cs typeface="Telegraf"/>
                <a:sym typeface="Telegraf"/>
                <a:hlinkClick r:id="rId4" tooltip="https://doi.org/10.1145/2382577.2382579"/>
              </a:rPr>
              <a:t>https://doi.org/10.1145/2382577.2382579</a:t>
            </a:r>
          </a:p>
          <a:p>
            <a:pPr algn="l">
              <a:lnSpc>
                <a:spcPts val="2400"/>
              </a:lnSpc>
            </a:pPr>
            <a:r>
              <a:rPr lang="en-US" sz="2000" b="1">
                <a:solidFill>
                  <a:srgbClr val="355688"/>
                </a:solidFill>
                <a:latin typeface="Telegraf Bold"/>
                <a:ea typeface="Telegraf Bold"/>
                <a:cs typeface="Telegraf Bold"/>
                <a:sym typeface="Telegraf Bold"/>
              </a:rPr>
              <a:t>[2] </a:t>
            </a:r>
            <a:r>
              <a:rPr lang="en-US" sz="2000">
                <a:solidFill>
                  <a:srgbClr val="2F2A24"/>
                </a:solidFill>
                <a:latin typeface="Telegraf"/>
                <a:ea typeface="Telegraf"/>
                <a:cs typeface="Telegraf"/>
                <a:sym typeface="Telegraf"/>
              </a:rPr>
              <a:t>C. Guo, G. Pleiss, Y. Sun, K. Q. Weinberger, “On Calibration of Modern Neural Networks,” Proc. 34th ICML, pp. 1321–1330, 2017.</a:t>
            </a:r>
          </a:p>
          <a:p>
            <a:pPr algn="l">
              <a:lnSpc>
                <a:spcPts val="2160"/>
              </a:lnSpc>
            </a:pPr>
            <a:r>
              <a:rPr lang="en-US" sz="1800" u="sng">
                <a:solidFill>
                  <a:srgbClr val="0000FF"/>
                </a:solidFill>
                <a:latin typeface="Telegraf"/>
                <a:ea typeface="Telegraf"/>
                <a:cs typeface="Telegraf"/>
                <a:sym typeface="Telegraf"/>
                <a:hlinkClick r:id="rId5" tooltip="https://proceedings.mlr.press/v70/guo17a.html"/>
              </a:rPr>
              <a:t>https://proceedings.mlr.press/v70/guo17a.html</a:t>
            </a:r>
          </a:p>
          <a:p>
            <a:pPr algn="l">
              <a:lnSpc>
                <a:spcPts val="2400"/>
              </a:lnSpc>
            </a:pPr>
            <a:r>
              <a:rPr lang="en-US" sz="2000" b="1">
                <a:solidFill>
                  <a:srgbClr val="355688"/>
                </a:solidFill>
                <a:latin typeface="Telegraf Bold"/>
                <a:ea typeface="Telegraf Bold"/>
                <a:cs typeface="Telegraf Bold"/>
                <a:sym typeface="Telegraf Bold"/>
              </a:rPr>
              <a:t>[3] </a:t>
            </a:r>
            <a:r>
              <a:rPr lang="en-US" sz="2000">
                <a:solidFill>
                  <a:srgbClr val="2F2A24"/>
                </a:solidFill>
                <a:latin typeface="Telegraf"/>
                <a:ea typeface="Telegraf"/>
                <a:cs typeface="Telegraf"/>
                <a:sym typeface="Telegraf"/>
              </a:rPr>
              <a:t>Kaggle Flights dataset (derived from the nycflights13 R package).</a:t>
            </a:r>
          </a:p>
          <a:p>
            <a:pPr algn="l">
              <a:lnSpc>
                <a:spcPts val="2160"/>
              </a:lnSpc>
            </a:pPr>
            <a:r>
              <a:rPr lang="en-US" sz="1800" u="sng">
                <a:solidFill>
                  <a:srgbClr val="0000FF"/>
                </a:solidFill>
                <a:latin typeface="Telegraf"/>
                <a:ea typeface="Telegraf"/>
                <a:cs typeface="Telegraf"/>
                <a:sym typeface="Telegraf"/>
                <a:hlinkClick r:id="rId6" tooltip="https://www.kaggle.com/datasets/mahoora00135/flights"/>
              </a:rPr>
              <a:t>https://www.kaggle.com/datasets/mahoora00135/flights</a:t>
            </a:r>
          </a:p>
          <a:p>
            <a:pPr algn="l">
              <a:lnSpc>
                <a:spcPts val="2400"/>
              </a:lnSpc>
            </a:pPr>
            <a:r>
              <a:rPr lang="en-US" sz="2000" b="1">
                <a:solidFill>
                  <a:srgbClr val="355688"/>
                </a:solidFill>
                <a:latin typeface="Telegraf Bold"/>
                <a:ea typeface="Telegraf Bold"/>
                <a:cs typeface="Telegraf Bold"/>
                <a:sym typeface="Telegraf Bold"/>
              </a:rPr>
              <a:t>[4] </a:t>
            </a:r>
            <a:r>
              <a:rPr lang="en-US" sz="2000">
                <a:solidFill>
                  <a:srgbClr val="2F2A24"/>
                </a:solidFill>
                <a:latin typeface="Telegraf"/>
                <a:ea typeface="Telegraf"/>
                <a:cs typeface="Telegraf"/>
                <a:sym typeface="Telegraf"/>
              </a:rPr>
              <a:t>Team T49, AeroCast-AI code, notebooks and results.</a:t>
            </a:r>
          </a:p>
          <a:p>
            <a:pPr algn="l">
              <a:lnSpc>
                <a:spcPts val="2160"/>
              </a:lnSpc>
            </a:pPr>
            <a:r>
              <a:rPr lang="en-US" sz="1800" u="sng">
                <a:solidFill>
                  <a:srgbClr val="0000FF"/>
                </a:solidFill>
                <a:latin typeface="Telegraf"/>
                <a:ea typeface="Telegraf"/>
                <a:cs typeface="Telegraf"/>
                <a:sym typeface="Telegraf"/>
                <a:hlinkClick r:id="rId7" tooltip="https://github.com/nipun1803/AeroCast-AI"/>
              </a:rPr>
              <a:t>https://github.com/nipun1803/AeroCast-AI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1306</Words>
  <Application>Microsoft Macintosh PowerPoint</Application>
  <PresentationFormat>Custom</PresentationFormat>
  <Paragraphs>180</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Telegraf</vt:lpstr>
      <vt:lpstr>Telegraf Bold</vt:lpstr>
      <vt:lpstr>Poppins Italics</vt:lpstr>
      <vt:lpstr>Poppins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AML_Presentation</dc:title>
  <cp:lastModifiedBy>Patlori Nipun</cp:lastModifiedBy>
  <cp:revision>4</cp:revision>
  <dcterms:created xsi:type="dcterms:W3CDTF">2006-08-16T00:00:00Z</dcterms:created>
  <dcterms:modified xsi:type="dcterms:W3CDTF">2026-10-27T10:04:15Z</dcterms:modified>
  <dc:identifier>DAHZMSGLNZU</dc:identifier>
</cp:coreProperties>
</file>